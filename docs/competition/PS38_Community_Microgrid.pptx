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9" r:id="rId22"/>
    <p:sldId id="268" r:id="rId21"/>
    <p:sldId id="267" r:id="rId20"/>
    <p:sldId id="266" r:id="rId19"/>
    <p:sldId id="265" r:id="rId18"/>
    <p:sldId id="264" r:id="rId17"/>
    <p:sldId id="263" r:id="rId16"/>
    <p:sldId id="261" r:id="rId7"/>
    <p:sldId id="262" r:id="rId8"/>
  </p:sldIdLst>
  <p:sldSz cx="18288000" cy="10287000"/>
  <p:notesSz cx="6858000" cy="9144000"/>
  <p:embeddedFontLst>
    <p:embeddedFont>
      <p:font typeface="Canva Sans Bold" panose="020B0803030501040103" pitchFamily="34" charset="0"/>
      <p:regular r:id="rId9"/>
    </p:embeddedFont>
    <p:embeddedFont>
      <p:font typeface="The Seasons Bold" pitchFamily="2" charset="0"/>
      <p:regular r:id="rId10"/>
    </p:embeddedFont>
    <p:embeddedFont>
      <p:font typeface="Times New Roman" panose="02020603050405020304" pitchFamily="18" charset="0"/>
      <p:regular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13.xml"/><Relationship Id="rId8" Type="http://schemas.openxmlformats.org/officeDocument/2006/relationships/slide" Target="slides/slide14.xml"/><Relationship Id="rId9" Type="http://schemas.openxmlformats.org/officeDocument/2006/relationships/font" Target="fonts/font1.fntdata"/><Relationship Id="rId10" Type="http://schemas.openxmlformats.org/officeDocument/2006/relationships/font" Target="fonts/font2.fntdata"/><Relationship Id="rId11" Type="http://schemas.openxmlformats.org/officeDocument/2006/relationships/font" Target="fonts/font3.fntdata"/><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slide" Target="slides/slide12.xml"/><Relationship Id="rId17" Type="http://schemas.openxmlformats.org/officeDocument/2006/relationships/slide" Target="slides/slide11.xml"/><Relationship Id="rId18" Type="http://schemas.openxmlformats.org/officeDocument/2006/relationships/slide" Target="slides/slide10.xml"/><Relationship Id="rId19" Type="http://schemas.openxmlformats.org/officeDocument/2006/relationships/slide" Target="slides/slide9.xml"/><Relationship Id="rId20" Type="http://schemas.openxmlformats.org/officeDocument/2006/relationships/slide" Target="slides/slide8.xml"/><Relationship Id="rId21" Type="http://schemas.openxmlformats.org/officeDocument/2006/relationships/slide" Target="slides/slide7.xml"/><Relationship Id="rId22" Type="http://schemas.openxmlformats.org/officeDocument/2006/relationships/slide" Target="slides/slide6.xml"/><Relationship Id="rId2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team and the problem statement number. One sentence: we built a small community power network where neighbours share solar power, pay with prepaid cards, and keep their essential lights on when the main grid fails.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one-line summary slowly; it is the whole pitch. 'Critical loads' means the essentials in each home (a light, a phone charger, a medical device) that must never be cut. '12 V DC' means low-voltage direct current, which is safe to handle on a bench.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Microgrid: a small local power network (a few homes, solar panels, a shared battery) that can run connected to the main grid or on its own. 'Islanded' means running on its own. Back-feed means pushing power into a grid line that workers believe is dead; it is dangerous, so the microgrid must physically disconnect first.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picture top to bottom. The grid emulator is a power supply that plays the role of the main grid; unplugging it is our 'grid failure'. The bus is the shared pair of wires every house connects to. Two houses have solar and can sell; House 3 has none and buys. Each house has an RFID meter. The ESP32 microcontroller makes the fast safety decisions; the Raspberry Pi keeps the ledger, runs the dashboard and, later, the AI manager. House 2 is simulated in the prototype to save parts.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12 V DC instead of 230 V AC: it is safe to touch, parts are cheap, and direction of power flow (buying vs selling) is easy to measure with a DC sensor. 'High-side switch' means we switch the positive wire of a source, because all grounds are shared. SLA = sealed lead-acid battery. MQTT is a lightweight messaging system: devices 'publish' readings to a broker and others 'subscribe'.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state machine: the controller is always in exactly one mode and moves between them on clear conditions. SOC = state of charge, the battery's fuel gauge from 0 to 100 %. 'Shedding' a load means switching it off to save the battery. Each house has a slightly different threshold so loads drop one at a time, not all at once. Waiting 10 s of stable grid before reconnecting stops the system from flapping on and off if the grid is unsteady. All these numbers live in one parameter file that both the simulation and the ESP32 firmware use.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digital twin is a software copy of the hardware. We wrote it in MATLAB first so we could test dangerous situations (outages, faults, empty battery) safely. Monte Carlo means running many random variations to see if the design is robust, not just lucky. SIL (software-in-the-loop) means we ran the actual C++ firmware against the model and compared every decision tick by tick: zero differences. On the plot: top panel bus voltage and battery charge, second panel the mode, third panel each house's power (flexible loads drop one by one, critical 1.5 W stays), bottom panel prepaid balances.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row is one automated test with pass/fail rules written in advance. The bus voltage always stays inside the safe 11–14.6 V window for 12 V loads. In S6 we deliberately put a near-short inside House 3: the controller trips it twice and then locks it out, and the rest of the community keeps running. 'Chatter' means a switch flicking on and off rapidly; we found and fixed one such bug in simulation.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RFID: a contactless card, like a metro card, with a unique ID. Wh (watt-hour) is a unit of energy; our loads are only a few watts, so values are small, but the logic is the same at household scale. Reading the table: in the simulated day House 1 sold 8.6 Wh and House 2 sold 7.2 Wh to House 3. The zero-credit rule is our ethical choice: nobody loses essential power for running out of money.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a design, not a screenshot: the dashboard is planned and the numbers are illustrative (they mirror our outage simulation). Data path: each ESP32 publishes readings over Wi-Fi using MQTT; the Raspberry Pi's broker receives them, stores them in a database and serves a web page anyone on the local network can open on a phone.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ESP32 rules keep the system safe on their own; the AI manager only makes it smarter (cheaper, fairer) and can never override the critical-load rule. MPC (model predictive control) means: predict the next few hours, choose the best plan, apply only the first step, repeat. Forecasting predicts tomorrow's solar and demand. Reinforcement learning learns a policy by trial and error in simulation; it is our stretch goal. Owned by our AI/ML lead.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honest about what is proven. Everything on the green card is verified in simulation; the amber card lists what still needs real hardware. The build plan swaps one simulated block for real hardware at a time, so if something breaks we know exactly which block caused it. Hardware-in-the-loop: the real ESP32 controls a simulated plant running in MATLAB.</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outcomes, not features. If asked about scale: the same rules work at 48 V or with real inverters; our parameter file and tests are written so adding houses needs no code change (we tested a 4th house).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for the problem, the Indian tariff context, the safety standard for islanding, and the main parts.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388200">
            <a:off x="-5445757" y="-2620004"/>
            <a:ext cx="11540195" cy="8229600"/>
            <a:chOff x="0" y="0"/>
            <a:chExt cx="15386926" cy="10972800"/>
          </a:xfrm>
        </p:grpSpPr>
        <p:sp>
          <p:nvSpPr>
            <p:cNvPr id="3" name="Freeform 3"/>
            <p:cNvSpPr/>
            <p:nvPr/>
          </p:nvSpPr>
          <p:spPr>
            <a:xfrm>
              <a:off x="0" y="0"/>
              <a:ext cx="15386938" cy="10972800"/>
            </a:xfrm>
            <a:custGeom>
              <a:avLst/>
              <a:gdLst/>
              <a:ahLst/>
              <a:cxnLst/>
              <a:rect l="l" t="t" r="r" b="b"/>
              <a:pathLst>
                <a:path w="15386938" h="10972800">
                  <a:moveTo>
                    <a:pt x="0" y="0"/>
                  </a:moveTo>
                  <a:lnTo>
                    <a:pt x="15386938" y="0"/>
                  </a:lnTo>
                  <a:lnTo>
                    <a:pt x="15386938" y="10972800"/>
                  </a:lnTo>
                  <a:lnTo>
                    <a:pt x="0" y="10972800"/>
                  </a:lnTo>
                  <a:lnTo>
                    <a:pt x="0" y="0"/>
                  </a:lnTo>
                  <a:close/>
                </a:path>
              </a:pathLst>
            </a:custGeom>
            <a:blipFill>
              <a:blip r:embed="rId2"/>
              <a:stretch>
                <a:fillRect l="-21" r="-21"/>
              </a:stretch>
            </a:blipFill>
          </p:spPr>
        </p:sp>
      </p:grpSp>
      <p:grpSp>
        <p:nvGrpSpPr>
          <p:cNvPr id="4" name="Group 4"/>
          <p:cNvGrpSpPr/>
          <p:nvPr/>
        </p:nvGrpSpPr>
        <p:grpSpPr>
          <a:xfrm rot="-388200">
            <a:off x="9570901" y="4178284"/>
            <a:ext cx="11540195" cy="8229600"/>
            <a:chOff x="0" y="0"/>
            <a:chExt cx="15386926" cy="10972800"/>
          </a:xfrm>
        </p:grpSpPr>
        <p:sp>
          <p:nvSpPr>
            <p:cNvPr id="5" name="Freeform 5"/>
            <p:cNvSpPr/>
            <p:nvPr/>
          </p:nvSpPr>
          <p:spPr>
            <a:xfrm>
              <a:off x="0" y="0"/>
              <a:ext cx="15386938" cy="10972800"/>
            </a:xfrm>
            <a:custGeom>
              <a:avLst/>
              <a:gdLst/>
              <a:ahLst/>
              <a:cxnLst/>
              <a:rect l="l" t="t" r="r" b="b"/>
              <a:pathLst>
                <a:path w="15386938" h="10972800">
                  <a:moveTo>
                    <a:pt x="0" y="0"/>
                  </a:moveTo>
                  <a:lnTo>
                    <a:pt x="15386938" y="0"/>
                  </a:lnTo>
                  <a:lnTo>
                    <a:pt x="15386938" y="10972800"/>
                  </a:lnTo>
                  <a:lnTo>
                    <a:pt x="0" y="10972800"/>
                  </a:lnTo>
                  <a:lnTo>
                    <a:pt x="0" y="0"/>
                  </a:lnTo>
                  <a:close/>
                </a:path>
              </a:pathLst>
            </a:custGeom>
            <a:blipFill>
              <a:blip r:embed="rId2"/>
              <a:stretch>
                <a:fillRect l="-21" r="-21"/>
              </a:stretch>
            </a:blipFill>
          </p:spPr>
        </p:sp>
      </p:grpSp>
      <p:sp>
        <p:nvSpPr>
          <p:cNvPr id="6" name="TextBox 6"/>
          <p:cNvSpPr txBox="1"/>
          <p:nvPr/>
        </p:nvSpPr>
        <p:spPr>
          <a:xfrm>
            <a:off x="3604317" y="3154250"/>
            <a:ext cx="11124171" cy="3406940"/>
          </a:xfrm>
          <a:prstGeom prst="rect">
            <a:avLst/>
          </a:prstGeom>
        </p:spPr>
        <p:txBody>
          <a:bodyPr lIns="0" tIns="0" rIns="0" bIns="0" rtlCol="0" anchor="t">
            <a:spAutoFit/>
          </a:bodyPr>
          <a:lstStyle/>
          <a:p>
            <a:pPr algn="ctr">
              <a:lnSpc>
                <a:spcPts val="23989"/>
              </a:lnSpc>
            </a:pPr>
            <a:r>
              <a:rPr lang="en-US" sz="17135">
                <a:solidFill>
                  <a:srgbClr val="000000"/>
                </a:solidFill>
                <a:latin typeface="Times New Roman"/>
                <a:ea typeface="Times New Roman"/>
                <a:cs typeface="Times New Roman"/>
                <a:sym typeface="Times New Roman"/>
              </a:rPr>
              <a:t>AARAMBH</a:t>
            </a:r>
          </a:p>
        </p:txBody>
      </p:sp>
      <p:sp>
        <p:nvSpPr>
          <p:cNvPr id="7" name="TextBox 7"/>
          <p:cNvSpPr txBox="1"/>
          <p:nvPr/>
        </p:nvSpPr>
        <p:spPr>
          <a:xfrm>
            <a:off x="2958810" y="6341524"/>
            <a:ext cx="11769678" cy="953743"/>
          </a:xfrm>
          <a:prstGeom prst="rect">
            <a:avLst/>
          </a:prstGeom>
        </p:spPr>
        <p:txBody>
          <a:bodyPr lIns="0" tIns="0" rIns="0" bIns="0" rtlCol="0" anchor="t">
            <a:spAutoFit/>
          </a:bodyPr>
          <a:lstStyle/>
          <a:p>
            <a:pPr algn="ctr">
              <a:lnSpc>
                <a:spcPts val="7279"/>
              </a:lnSpc>
            </a:pPr>
            <a:r>
              <a:rPr lang="en-US" sz="5198" b="1">
                <a:solidFill>
                  <a:srgbClr val="000000"/>
                </a:solidFill>
                <a:latin typeface="The Seasons Bold"/>
                <a:ea typeface="The Seasons Bold"/>
                <a:cs typeface="The Seasons Bold"/>
                <a:sym typeface="The Seasons Bold"/>
              </a:rPr>
              <a:t>WCE-HACKATHON 2026 </a:t>
            </a:r>
          </a:p>
        </p:txBody>
      </p:sp>
      <p:sp>
        <p:nvSpPr>
          <p:cNvPr id="8" name="TextBox 8"/>
          <p:cNvSpPr txBox="1"/>
          <p:nvPr/>
        </p:nvSpPr>
        <p:spPr>
          <a:xfrm>
            <a:off x="2328100" y="2600557"/>
            <a:ext cx="14088764" cy="953743"/>
          </a:xfrm>
          <a:prstGeom prst="rect">
            <a:avLst/>
          </a:prstGeom>
        </p:spPr>
        <p:txBody>
          <a:bodyPr lIns="0" tIns="0" rIns="0" bIns="0" rtlCol="0" anchor="t">
            <a:spAutoFit/>
          </a:bodyPr>
          <a:lstStyle/>
          <a:p>
            <a:pPr algn="ctr">
              <a:lnSpc>
                <a:spcPts val="7279"/>
              </a:lnSpc>
            </a:pPr>
            <a:r>
              <a:rPr lang="en-US" sz="5198" b="1">
                <a:solidFill>
                  <a:srgbClr val="000000"/>
                </a:solidFill>
                <a:latin typeface="The Seasons Bold"/>
                <a:ea typeface="The Seasons Bold"/>
                <a:cs typeface="The Seasons Bold"/>
                <a:sym typeface="The Seasons Bold"/>
              </a:rPr>
              <a:t>Department of Electrical Engineering</a:t>
            </a:r>
          </a:p>
        </p:txBody>
      </p:sp>
      <p:grpSp>
        <p:nvGrpSpPr>
          <p:cNvPr id="9" name="Group 9"/>
          <p:cNvGrpSpPr/>
          <p:nvPr/>
        </p:nvGrpSpPr>
        <p:grpSpPr>
          <a:xfrm>
            <a:off x="535200" y="-81549"/>
            <a:ext cx="17503283" cy="1576346"/>
            <a:chOff x="0" y="0"/>
            <a:chExt cx="23337711" cy="2101794"/>
          </a:xfrm>
        </p:grpSpPr>
        <p:grpSp>
          <p:nvGrpSpPr>
            <p:cNvPr id="10" name="Group 10"/>
            <p:cNvGrpSpPr/>
            <p:nvPr/>
          </p:nvGrpSpPr>
          <p:grpSpPr>
            <a:xfrm>
              <a:off x="0" y="0"/>
              <a:ext cx="2390534" cy="2101794"/>
              <a:chOff x="0" y="0"/>
              <a:chExt cx="2451880" cy="2155730"/>
            </a:xfrm>
          </p:grpSpPr>
          <p:sp>
            <p:nvSpPr>
              <p:cNvPr id="11" name="Freeform 11"/>
              <p:cNvSpPr/>
              <p:nvPr/>
            </p:nvSpPr>
            <p:spPr>
              <a:xfrm>
                <a:off x="0" y="0"/>
                <a:ext cx="2451818" cy="2155743"/>
              </a:xfrm>
              <a:custGeom>
                <a:avLst/>
                <a:gdLst/>
                <a:ahLst/>
                <a:cxnLst/>
                <a:rect l="l" t="t" r="r" b="b"/>
                <a:pathLst>
                  <a:path w="2451818" h="2155743">
                    <a:moveTo>
                      <a:pt x="0" y="0"/>
                    </a:moveTo>
                    <a:lnTo>
                      <a:pt x="2451818" y="0"/>
                    </a:lnTo>
                    <a:lnTo>
                      <a:pt x="2451818" y="2155743"/>
                    </a:lnTo>
                    <a:lnTo>
                      <a:pt x="0" y="2155743"/>
                    </a:lnTo>
                    <a:lnTo>
                      <a:pt x="0" y="0"/>
                    </a:lnTo>
                    <a:close/>
                  </a:path>
                </a:pathLst>
              </a:custGeom>
              <a:blipFill>
                <a:blip r:embed="rId3"/>
                <a:stretch>
                  <a:fillRect l="-43229" r="-67848" b="-8030"/>
                </a:stretch>
              </a:blipFill>
            </p:spPr>
          </p:sp>
        </p:grpSp>
        <p:grpSp>
          <p:nvGrpSpPr>
            <p:cNvPr id="12" name="Group 12"/>
            <p:cNvGrpSpPr/>
            <p:nvPr/>
          </p:nvGrpSpPr>
          <p:grpSpPr>
            <a:xfrm>
              <a:off x="18545475" y="247188"/>
              <a:ext cx="1586845" cy="1627422"/>
              <a:chOff x="0" y="0"/>
              <a:chExt cx="1808366" cy="1854606"/>
            </a:xfrm>
          </p:grpSpPr>
          <p:sp>
            <p:nvSpPr>
              <p:cNvPr id="13" name="Freeform 13"/>
              <p:cNvSpPr/>
              <p:nvPr/>
            </p:nvSpPr>
            <p:spPr>
              <a:xfrm>
                <a:off x="0" y="0"/>
                <a:ext cx="1808353" cy="1854581"/>
              </a:xfrm>
              <a:custGeom>
                <a:avLst/>
                <a:gdLst/>
                <a:ahLst/>
                <a:cxnLst/>
                <a:rect l="l" t="t" r="r" b="b"/>
                <a:pathLst>
                  <a:path w="1808353" h="1854581">
                    <a:moveTo>
                      <a:pt x="0" y="0"/>
                    </a:moveTo>
                    <a:lnTo>
                      <a:pt x="1808353" y="0"/>
                    </a:lnTo>
                    <a:lnTo>
                      <a:pt x="1808353" y="1854581"/>
                    </a:lnTo>
                    <a:lnTo>
                      <a:pt x="0" y="1854581"/>
                    </a:lnTo>
                    <a:lnTo>
                      <a:pt x="0" y="0"/>
                    </a:lnTo>
                    <a:close/>
                  </a:path>
                </a:pathLst>
              </a:custGeom>
              <a:blipFill>
                <a:blip r:embed="rId4"/>
                <a:stretch>
                  <a:fillRect l="-63953" r="-63953" b="-1"/>
                </a:stretch>
              </a:blipFill>
            </p:spPr>
          </p:sp>
        </p:grpSp>
        <p:grpSp>
          <p:nvGrpSpPr>
            <p:cNvPr id="14" name="Group 14"/>
            <p:cNvGrpSpPr/>
            <p:nvPr/>
          </p:nvGrpSpPr>
          <p:grpSpPr>
            <a:xfrm>
              <a:off x="20344893" y="291523"/>
              <a:ext cx="2992818" cy="1380820"/>
              <a:chOff x="0" y="0"/>
              <a:chExt cx="2992818" cy="1380820"/>
            </a:xfrm>
          </p:grpSpPr>
          <p:sp>
            <p:nvSpPr>
              <p:cNvPr id="15" name="Freeform 15"/>
              <p:cNvSpPr/>
              <p:nvPr/>
            </p:nvSpPr>
            <p:spPr>
              <a:xfrm>
                <a:off x="0" y="0"/>
                <a:ext cx="2992882" cy="1380871"/>
              </a:xfrm>
              <a:custGeom>
                <a:avLst/>
                <a:gdLst/>
                <a:ahLst/>
                <a:cxnLst/>
                <a:rect l="l" t="t" r="r" b="b"/>
                <a:pathLst>
                  <a:path w="2992882" h="1380871">
                    <a:moveTo>
                      <a:pt x="0" y="0"/>
                    </a:moveTo>
                    <a:lnTo>
                      <a:pt x="2992882" y="0"/>
                    </a:lnTo>
                    <a:lnTo>
                      <a:pt x="2992882" y="1380871"/>
                    </a:lnTo>
                    <a:lnTo>
                      <a:pt x="0" y="1380871"/>
                    </a:lnTo>
                    <a:lnTo>
                      <a:pt x="0" y="0"/>
                    </a:lnTo>
                    <a:close/>
                  </a:path>
                </a:pathLst>
              </a:custGeom>
              <a:blipFill>
                <a:blip r:embed="rId5"/>
                <a:stretch>
                  <a:fillRect l="-1264" r="-1261" b="3"/>
                </a:stretch>
              </a:blipFill>
            </p:spPr>
          </p:sp>
        </p:grpSp>
        <p:sp>
          <p:nvSpPr>
            <p:cNvPr id="16" name="TextBox 16"/>
            <p:cNvSpPr txBox="1"/>
            <p:nvPr/>
          </p:nvSpPr>
          <p:spPr>
            <a:xfrm>
              <a:off x="3986137" y="60414"/>
              <a:ext cx="14984527" cy="1814195"/>
            </a:xfrm>
            <a:prstGeom prst="rect">
              <a:avLst/>
            </a:prstGeom>
          </p:spPr>
          <p:txBody>
            <a:bodyPr lIns="0" tIns="0" rIns="0" bIns="0" rtlCol="0" anchor="t">
              <a:spAutoFit/>
            </a:bodyPr>
            <a:lstStyle/>
            <a:p>
              <a:pPr algn="ctr">
                <a:lnSpc>
                  <a:spcPts val="6160"/>
                </a:lnSpc>
              </a:pPr>
              <a:r>
                <a:rPr lang="en-US" sz="4400">
                  <a:solidFill>
                    <a:srgbClr val="692B39"/>
                  </a:solidFill>
                  <a:latin typeface="Times New Roman"/>
                  <a:ea typeface="Times New Roman"/>
                  <a:cs typeface="Times New Roman"/>
                  <a:sym typeface="Times New Roman"/>
                </a:rPr>
                <a:t>Walchand College of Engineering, Sangli</a:t>
              </a:r>
            </a:p>
            <a:p>
              <a:pPr algn="ctr">
                <a:lnSpc>
                  <a:spcPts val="4759"/>
                </a:lnSpc>
              </a:pPr>
              <a:r>
                <a:rPr lang="en-US" sz="3399">
                  <a:solidFill>
                    <a:srgbClr val="692B39"/>
                  </a:solidFill>
                  <a:latin typeface="Times New Roman"/>
                  <a:ea typeface="Times New Roman"/>
                  <a:cs typeface="Times New Roman"/>
                  <a:sym typeface="Times New Roman"/>
                </a:rPr>
                <a:t>A Goverment-Aided Autonomous Institute</a:t>
              </a:r>
            </a:p>
          </p:txBody>
        </p:sp>
      </p:grpSp>
      <p:sp>
        <p:nvSpPr>
          <p:cNvPr id="17" name="TextBox 16"/>
          <p:cNvSpPr txBox="1"/>
          <p:nvPr/>
        </p:nvSpPr>
        <p:spPr>
          <a:xfrm>
            <a:off x="914400" y="7635240"/>
            <a:ext cx="16459200" cy="640080"/>
          </a:xfrm>
          <a:prstGeom prst="rect">
            <a:avLst/>
          </a:prstGeom>
          <a:noFill/>
        </p:spPr>
        <p:txBody>
          <a:bodyPr wrap="square" lIns="0" rIns="0" tIns="0" bIns="0" anchor="t">
            <a:noAutofit/>
          </a:bodyPr>
          <a:lstStyle/>
          <a:p>
            <a:pPr algn="ctr">
              <a:spcAft>
                <a:spcPts val="600"/>
              </a:spcAft>
            </a:pPr>
            <a:r>
              <a:rPr sz="3700" b="1" i="0">
                <a:solidFill>
                  <a:srgbClr val="7A1F2B"/>
                </a:solidFill>
                <a:latin typeface="Calibri"/>
              </a:rPr>
              <a:t>PS #38  ·  Community Microgrid &amp; Energy Sharing</a:t>
            </a:r>
          </a:p>
        </p:txBody>
      </p:sp>
      <p:sp>
        <p:nvSpPr>
          <p:cNvPr id="18" name="TextBox 17"/>
          <p:cNvSpPr txBox="1"/>
          <p:nvPr/>
        </p:nvSpPr>
        <p:spPr>
          <a:xfrm>
            <a:off x="914400" y="8458200"/>
            <a:ext cx="16459200" cy="548640"/>
          </a:xfrm>
          <a:prstGeom prst="rect">
            <a:avLst/>
          </a:prstGeom>
          <a:noFill/>
        </p:spPr>
        <p:txBody>
          <a:bodyPr wrap="square" lIns="0" rIns="0" tIns="0" bIns="0" anchor="t">
            <a:noAutofit/>
          </a:bodyPr>
          <a:lstStyle/>
          <a:p>
            <a:pPr algn="ctr">
              <a:spcAft>
                <a:spcPts val="600"/>
              </a:spcAft>
            </a:pPr>
            <a:r>
              <a:rPr sz="2800" b="0" i="0">
                <a:solidFill>
                  <a:srgbClr val="1F2933"/>
                </a:solidFill>
                <a:latin typeface="Calibri"/>
              </a:rPr>
              <a:t>Team: [Team name]   ·   Hardware category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8640" y="1325880"/>
            <a:ext cx="17190720" cy="868680"/>
          </a:xfrm>
          <a:prstGeom prst="rect">
            <a:avLst/>
          </a:prstGeom>
        </p:spPr>
        <p:txBody>
          <a:bodyPr lIns="0" tIns="0" rIns="0" bIns="0" rtlCol="0" anchor="t" wrap="square">
            <a:spAutoFit/>
          </a:bodyPr>
          <a:lstStyle/>
          <a:p>
            <a:pPr algn="l">
              <a:lnSpc>
                <a:spcPts val="7279"/>
              </a:lnSpc>
            </a:pPr>
            <a:r>
              <a:rPr lang="en-US" sz="4400" b="1">
                <a:solidFill>
                  <a:srgbClr val="000000"/>
                </a:solidFill>
                <a:latin typeface="Canva Sans Bold"/>
                <a:ea typeface="Canva Sans Bold"/>
                <a:cs typeface="Canva Sans Bold"/>
                <a:sym typeface="Canva Sans Bold"/>
              </a:rPr>
              <a:t>Project overview</a:t>
            </a:r>
          </a:p>
        </p:txBody>
      </p:sp>
      <p:sp>
        <p:nvSpPr>
          <p:cNvPr id="3" name="TextBox 3"/>
          <p:cNvSpPr txBox="1"/>
          <p:nvPr/>
        </p:nvSpPr>
        <p:spPr>
          <a:xfrm>
            <a:off x="548640" y="2514600"/>
            <a:ext cx="17190720" cy="4206240"/>
          </a:xfrm>
          <a:prstGeom prst="rect">
            <a:avLst/>
          </a:prstGeom>
        </p:spPr>
        <p:txBody>
          <a:bodyPr lIns="0" tIns="0" rIns="0" bIns="0" rtlCol="0" anchor="t" wrap="square">
            <a:spAutoFit/>
          </a:bodyPr>
          <a:lstStyle/>
          <a:p>
            <a:pPr algn="l">
              <a:lnSpc>
                <a:spcPts val="7279"/>
              </a:lnSpc>
              <a:spcAft>
                <a:spcPts val="1600"/>
              </a:spcAft>
            </a:pPr>
            <a:r>
              <a:rPr sz="3200" b="1" i="0">
                <a:solidFill>
                  <a:srgbClr val="1F2933"/>
                </a:solidFill>
                <a:latin typeface="Canva Sans Bold"/>
              </a:rPr>
              <a:t>Title: </a:t>
            </a:r>
            <a:r>
              <a:rPr sz="2800" b="0" i="0">
                <a:solidFill>
                  <a:srgbClr val="1F2933"/>
                </a:solidFill>
                <a:latin typeface="Calibri"/>
              </a:rPr>
              <a:t>Community Microgrid &amp; Energy Sharing with Prepaid RFID Peer-to-Peer Solar Trading</a:t>
            </a:r>
          </a:p>
          <a:p>
            <a:pPr algn="l">
              <a:spcAft>
                <a:spcPts val="1600"/>
              </a:spcAft>
            </a:pPr>
            <a:r>
              <a:rPr sz="3200" b="1" i="0">
                <a:solidFill>
                  <a:srgbClr val="1F2933"/>
                </a:solidFill>
                <a:latin typeface="Canva Sans Bold"/>
              </a:rPr>
              <a:t>Team: </a:t>
            </a:r>
            <a:r>
              <a:rPr sz="2800" b="0" i="0">
                <a:solidFill>
                  <a:srgbClr val="1F2933"/>
                </a:solidFill>
                <a:latin typeface="Calibri"/>
              </a:rPr>
              <a:t>[Team name]  (5 members: [names])</a:t>
            </a:r>
          </a:p>
          <a:p>
            <a:pPr algn="l">
              <a:spcAft>
                <a:spcPts val="1600"/>
              </a:spcAft>
            </a:pPr>
            <a:r>
              <a:rPr sz="3200" b="1" i="0">
                <a:solidFill>
                  <a:srgbClr val="1F2933"/>
                </a:solidFill>
                <a:latin typeface="Canva Sans Bold"/>
              </a:rPr>
              <a:t>Category: </a:t>
            </a:r>
            <a:r>
              <a:rPr sz="2800" b="0" i="0">
                <a:solidFill>
                  <a:srgbClr val="1F2933"/>
                </a:solidFill>
                <a:latin typeface="Calibri"/>
              </a:rPr>
              <a:t>Hardware</a:t>
            </a:r>
          </a:p>
          <a:p>
            <a:pPr algn="l">
              <a:spcAft>
                <a:spcPts val="1600"/>
              </a:spcAft>
            </a:pPr>
            <a:r>
              <a:rPr sz="3200" b="1" i="0">
                <a:solidFill>
                  <a:srgbClr val="1F2933"/>
                </a:solidFill>
                <a:latin typeface="Canva Sans Bold"/>
              </a:rPr>
              <a:t>Track: </a:t>
            </a:r>
            <a:r>
              <a:rPr sz="2800" b="0" i="0">
                <a:solidFill>
                  <a:srgbClr val="1F2933"/>
                </a:solidFill>
                <a:latin typeface="Calibri"/>
              </a:rPr>
              <a:t>PS #38 – Community Microgrid &amp; Energy Sharing</a:t>
            </a:r>
          </a:p>
        </p:txBody>
      </p:sp>
      <p:grpSp>
        <p:nvGrpSpPr>
          <p:cNvPr id="4" name="Group 4"/>
          <p:cNvGrpSpPr/>
          <p:nvPr/>
        </p:nvGrpSpPr>
        <p:grpSpPr>
          <a:xfrm>
            <a:off x="535200" y="-81549"/>
            <a:ext cx="17503283" cy="1576346"/>
            <a:chOff x="0" y="0"/>
            <a:chExt cx="23337711" cy="2101794"/>
          </a:xfrm>
        </p:grpSpPr>
        <p:grpSp>
          <p:nvGrpSpPr>
            <p:cNvPr id="5" name="Group 5"/>
            <p:cNvGrpSpPr/>
            <p:nvPr/>
          </p:nvGrpSpPr>
          <p:grpSpPr>
            <a:xfrm>
              <a:off x="0" y="0"/>
              <a:ext cx="2390534" cy="2101794"/>
              <a:chOff x="0" y="0"/>
              <a:chExt cx="2451880" cy="2155730"/>
            </a:xfrm>
          </p:grpSpPr>
          <p:sp>
            <p:nvSpPr>
              <p:cNvPr id="6" name="Freeform 6"/>
              <p:cNvSpPr/>
              <p:nvPr/>
            </p:nvSpPr>
            <p:spPr>
              <a:xfrm>
                <a:off x="0" y="0"/>
                <a:ext cx="2451818" cy="2155743"/>
              </a:xfrm>
              <a:custGeom>
                <a:avLst/>
                <a:gdLst/>
                <a:ahLst/>
                <a:cxnLst/>
                <a:rect l="l" t="t" r="r" b="b"/>
                <a:pathLst>
                  <a:path w="2451818" h="2155743">
                    <a:moveTo>
                      <a:pt x="0" y="0"/>
                    </a:moveTo>
                    <a:lnTo>
                      <a:pt x="2451818" y="0"/>
                    </a:lnTo>
                    <a:lnTo>
                      <a:pt x="2451818" y="2155743"/>
                    </a:lnTo>
                    <a:lnTo>
                      <a:pt x="0" y="2155743"/>
                    </a:lnTo>
                    <a:lnTo>
                      <a:pt x="0" y="0"/>
                    </a:lnTo>
                    <a:close/>
                  </a:path>
                </a:pathLst>
              </a:custGeom>
              <a:blipFill>
                <a:blip r:embed="rId2"/>
                <a:stretch>
                  <a:fillRect l="-43229" r="-67848" b="-8030"/>
                </a:stretch>
              </a:blipFill>
            </p:spPr>
          </p:sp>
        </p:grpSp>
        <p:grpSp>
          <p:nvGrpSpPr>
            <p:cNvPr id="7" name="Group 7"/>
            <p:cNvGrpSpPr/>
            <p:nvPr/>
          </p:nvGrpSpPr>
          <p:grpSpPr>
            <a:xfrm>
              <a:off x="18545475" y="247188"/>
              <a:ext cx="1586845" cy="1627422"/>
              <a:chOff x="0" y="0"/>
              <a:chExt cx="1808366" cy="1854606"/>
            </a:xfrm>
          </p:grpSpPr>
          <p:sp>
            <p:nvSpPr>
              <p:cNvPr id="8" name="Freeform 8"/>
              <p:cNvSpPr/>
              <p:nvPr/>
            </p:nvSpPr>
            <p:spPr>
              <a:xfrm>
                <a:off x="0" y="0"/>
                <a:ext cx="1808353" cy="1854581"/>
              </a:xfrm>
              <a:custGeom>
                <a:avLst/>
                <a:gdLst/>
                <a:ahLst/>
                <a:cxnLst/>
                <a:rect l="l" t="t" r="r" b="b"/>
                <a:pathLst>
                  <a:path w="1808353" h="1854581">
                    <a:moveTo>
                      <a:pt x="0" y="0"/>
                    </a:moveTo>
                    <a:lnTo>
                      <a:pt x="1808353" y="0"/>
                    </a:lnTo>
                    <a:lnTo>
                      <a:pt x="1808353" y="1854581"/>
                    </a:lnTo>
                    <a:lnTo>
                      <a:pt x="0" y="1854581"/>
                    </a:lnTo>
                    <a:lnTo>
                      <a:pt x="0" y="0"/>
                    </a:lnTo>
                    <a:close/>
                  </a:path>
                </a:pathLst>
              </a:custGeom>
              <a:blipFill>
                <a:blip r:embed="rId3"/>
                <a:stretch>
                  <a:fillRect l="-63953" r="-63953" b="-1"/>
                </a:stretch>
              </a:blipFill>
            </p:spPr>
          </p:sp>
        </p:grpSp>
        <p:grpSp>
          <p:nvGrpSpPr>
            <p:cNvPr id="9" name="Group 9"/>
            <p:cNvGrpSpPr/>
            <p:nvPr/>
          </p:nvGrpSpPr>
          <p:grpSpPr>
            <a:xfrm>
              <a:off x="20344893" y="291523"/>
              <a:ext cx="2992818" cy="1380820"/>
              <a:chOff x="0" y="0"/>
              <a:chExt cx="2992818" cy="1380820"/>
            </a:xfrm>
          </p:grpSpPr>
          <p:sp>
            <p:nvSpPr>
              <p:cNvPr id="10" name="Freeform 10"/>
              <p:cNvSpPr/>
              <p:nvPr/>
            </p:nvSpPr>
            <p:spPr>
              <a:xfrm>
                <a:off x="0" y="0"/>
                <a:ext cx="2992882" cy="1380871"/>
              </a:xfrm>
              <a:custGeom>
                <a:avLst/>
                <a:gdLst/>
                <a:ahLst/>
                <a:cxnLst/>
                <a:rect l="l" t="t" r="r" b="b"/>
                <a:pathLst>
                  <a:path w="2992882" h="1380871">
                    <a:moveTo>
                      <a:pt x="0" y="0"/>
                    </a:moveTo>
                    <a:lnTo>
                      <a:pt x="2992882" y="0"/>
                    </a:lnTo>
                    <a:lnTo>
                      <a:pt x="2992882" y="1380871"/>
                    </a:lnTo>
                    <a:lnTo>
                      <a:pt x="0" y="1380871"/>
                    </a:lnTo>
                    <a:lnTo>
                      <a:pt x="0" y="0"/>
                    </a:lnTo>
                    <a:close/>
                  </a:path>
                </a:pathLst>
              </a:custGeom>
              <a:blipFill>
                <a:blip r:embed="rId4"/>
                <a:stretch>
                  <a:fillRect l="-1264" r="-1261" b="3"/>
                </a:stretch>
              </a:blipFill>
            </p:spPr>
          </p:sp>
        </p:grpSp>
        <p:sp>
          <p:nvSpPr>
            <p:cNvPr id="11" name="TextBox 11"/>
            <p:cNvSpPr txBox="1"/>
            <p:nvPr/>
          </p:nvSpPr>
          <p:spPr>
            <a:xfrm>
              <a:off x="3986137" y="60414"/>
              <a:ext cx="14984527" cy="1814195"/>
            </a:xfrm>
            <a:prstGeom prst="rect">
              <a:avLst/>
            </a:prstGeom>
          </p:spPr>
          <p:txBody>
            <a:bodyPr lIns="0" tIns="0" rIns="0" bIns="0" rtlCol="0" anchor="t">
              <a:spAutoFit/>
            </a:bodyPr>
            <a:lstStyle/>
            <a:p>
              <a:pPr algn="ctr">
                <a:lnSpc>
                  <a:spcPts val="6160"/>
                </a:lnSpc>
              </a:pPr>
              <a:r>
                <a:rPr lang="en-US" sz="4400">
                  <a:solidFill>
                    <a:srgbClr val="692B39"/>
                  </a:solidFill>
                  <a:latin typeface="Times New Roman"/>
                  <a:ea typeface="Times New Roman"/>
                  <a:cs typeface="Times New Roman"/>
                  <a:sym typeface="Times New Roman"/>
                </a:rPr>
                <a:t>Walchand College of Engineering, Sangli</a:t>
              </a:r>
            </a:p>
            <a:p>
              <a:pPr algn="ctr">
                <a:lnSpc>
                  <a:spcPts val="4759"/>
                </a:lnSpc>
              </a:pPr>
              <a:r>
                <a:rPr lang="en-US" sz="3399">
                  <a:solidFill>
                    <a:srgbClr val="692B39"/>
                  </a:solidFill>
                  <a:latin typeface="Times New Roman"/>
                  <a:ea typeface="Times New Roman"/>
                  <a:cs typeface="Times New Roman"/>
                  <a:sym typeface="Times New Roman"/>
                </a:rPr>
                <a:t>A Goverment-Aided Autonomous Institute</a:t>
              </a:r>
            </a:p>
          </p:txBody>
        </p:sp>
      </p:grpSp>
      <p:sp>
        <p:nvSpPr>
          <p:cNvPr id="12" name="Rounded Rectangle 11"/>
          <p:cNvSpPr/>
          <p:nvPr/>
        </p:nvSpPr>
        <p:spPr>
          <a:xfrm>
            <a:off x="548640" y="6309360"/>
            <a:ext cx="17190720" cy="2651760"/>
          </a:xfrm>
          <a:prstGeom prst="roundRect">
            <a:avLst>
              <a:gd name="adj" fmla="val 8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0" rIns="365760" tIns="54864" bIns="54864" wrap="square">
            <a:noAutofit/>
          </a:bodyPr>
          <a:lstStyle/>
          <a:p>
            <a:pPr algn="l">
              <a:spcAft>
                <a:spcPts val="800"/>
              </a:spcAft>
            </a:pPr>
            <a:r>
              <a:rPr sz="2600" b="1" i="0">
                <a:solidFill>
                  <a:srgbClr val="B45309"/>
                </a:solidFill>
                <a:latin typeface="Calibri"/>
              </a:rPr>
              <a:t>1-line core innovation summary</a:t>
            </a:r>
          </a:p>
          <a:p>
            <a:pPr algn="l">
              <a:spcAft>
                <a:spcPts val="400"/>
              </a:spcAft>
            </a:pPr>
            <a:r>
              <a:rPr sz="3300" b="1" i="0">
                <a:solidFill>
                  <a:srgbClr val="1F2933"/>
                </a:solidFill>
                <a:latin typeface="Calibri"/>
              </a:rPr>
              <a:t>A 12 V DC community microgrid where neighbours trade rooftop solar through prepaid RFID meters, and critical loads stay powered through grid outages, even at zero credit.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8640" y="1325880"/>
            <a:ext cx="17190720" cy="868680"/>
          </a:xfrm>
          <a:prstGeom prst="rect">
            <a:avLst/>
          </a:prstGeom>
        </p:spPr>
        <p:txBody>
          <a:bodyPr lIns="0" tIns="0" rIns="0" bIns="0" rtlCol="0" anchor="t" wrap="square">
            <a:spAutoFit/>
          </a:bodyPr>
          <a:lstStyle/>
          <a:p>
            <a:pPr algn="l">
              <a:lnSpc>
                <a:spcPts val="7279"/>
              </a:lnSpc>
            </a:pPr>
            <a:r>
              <a:rPr lang="en-US" sz="4400" b="1">
                <a:solidFill>
                  <a:srgbClr val="000000"/>
                </a:solidFill>
                <a:latin typeface="Canva Sans Bold"/>
                <a:ea typeface="Canva Sans Bold"/>
                <a:cs typeface="Canva Sans Bold"/>
                <a:sym typeface="Canva Sans Bold"/>
              </a:rPr>
              <a:t>Problem statement:</a:t>
            </a:r>
          </a:p>
        </p:txBody>
      </p:sp>
      <p:grpSp>
        <p:nvGrpSpPr>
          <p:cNvPr id="3" name="Group 3"/>
          <p:cNvGrpSpPr/>
          <p:nvPr/>
        </p:nvGrpSpPr>
        <p:grpSpPr>
          <a:xfrm>
            <a:off x="535200" y="-81549"/>
            <a:ext cx="17503283" cy="1576346"/>
            <a:chOff x="0" y="0"/>
            <a:chExt cx="23337711" cy="2101794"/>
          </a:xfrm>
        </p:grpSpPr>
        <p:grpSp>
          <p:nvGrpSpPr>
            <p:cNvPr id="4" name="Group 4"/>
            <p:cNvGrpSpPr/>
            <p:nvPr/>
          </p:nvGrpSpPr>
          <p:grpSpPr>
            <a:xfrm>
              <a:off x="0" y="0"/>
              <a:ext cx="2390534" cy="2101794"/>
              <a:chOff x="0" y="0"/>
              <a:chExt cx="2451880" cy="2155730"/>
            </a:xfrm>
          </p:grpSpPr>
          <p:sp>
            <p:nvSpPr>
              <p:cNvPr id="5" name="Freeform 5"/>
              <p:cNvSpPr/>
              <p:nvPr/>
            </p:nvSpPr>
            <p:spPr>
              <a:xfrm>
                <a:off x="0" y="0"/>
                <a:ext cx="2451818" cy="2155743"/>
              </a:xfrm>
              <a:custGeom>
                <a:avLst/>
                <a:gdLst/>
                <a:ahLst/>
                <a:cxnLst/>
                <a:rect l="l" t="t" r="r" b="b"/>
                <a:pathLst>
                  <a:path w="2451818" h="2155743">
                    <a:moveTo>
                      <a:pt x="0" y="0"/>
                    </a:moveTo>
                    <a:lnTo>
                      <a:pt x="2451818" y="0"/>
                    </a:lnTo>
                    <a:lnTo>
                      <a:pt x="2451818" y="2155743"/>
                    </a:lnTo>
                    <a:lnTo>
                      <a:pt x="0" y="2155743"/>
                    </a:lnTo>
                    <a:lnTo>
                      <a:pt x="0" y="0"/>
                    </a:lnTo>
                    <a:close/>
                  </a:path>
                </a:pathLst>
              </a:custGeom>
              <a:blipFill>
                <a:blip r:embed="rId2"/>
                <a:stretch>
                  <a:fillRect l="-43229" r="-67848" b="-8030"/>
                </a:stretch>
              </a:blipFill>
            </p:spPr>
          </p:sp>
        </p:grpSp>
        <p:grpSp>
          <p:nvGrpSpPr>
            <p:cNvPr id="6" name="Group 6"/>
            <p:cNvGrpSpPr/>
            <p:nvPr/>
          </p:nvGrpSpPr>
          <p:grpSpPr>
            <a:xfrm>
              <a:off x="18545475" y="247188"/>
              <a:ext cx="1586845" cy="1627422"/>
              <a:chOff x="0" y="0"/>
              <a:chExt cx="1808366" cy="1854606"/>
            </a:xfrm>
          </p:grpSpPr>
          <p:sp>
            <p:nvSpPr>
              <p:cNvPr id="7" name="Freeform 7"/>
              <p:cNvSpPr/>
              <p:nvPr/>
            </p:nvSpPr>
            <p:spPr>
              <a:xfrm>
                <a:off x="0" y="0"/>
                <a:ext cx="1808353" cy="1854581"/>
              </a:xfrm>
              <a:custGeom>
                <a:avLst/>
                <a:gdLst/>
                <a:ahLst/>
                <a:cxnLst/>
                <a:rect l="l" t="t" r="r" b="b"/>
                <a:pathLst>
                  <a:path w="1808353" h="1854581">
                    <a:moveTo>
                      <a:pt x="0" y="0"/>
                    </a:moveTo>
                    <a:lnTo>
                      <a:pt x="1808353" y="0"/>
                    </a:lnTo>
                    <a:lnTo>
                      <a:pt x="1808353" y="1854581"/>
                    </a:lnTo>
                    <a:lnTo>
                      <a:pt x="0" y="1854581"/>
                    </a:lnTo>
                    <a:lnTo>
                      <a:pt x="0" y="0"/>
                    </a:lnTo>
                    <a:close/>
                  </a:path>
                </a:pathLst>
              </a:custGeom>
              <a:blipFill>
                <a:blip r:embed="rId3"/>
                <a:stretch>
                  <a:fillRect l="-63953" r="-63953" b="-1"/>
                </a:stretch>
              </a:blipFill>
            </p:spPr>
          </p:sp>
        </p:grpSp>
        <p:grpSp>
          <p:nvGrpSpPr>
            <p:cNvPr id="8" name="Group 8"/>
            <p:cNvGrpSpPr/>
            <p:nvPr/>
          </p:nvGrpSpPr>
          <p:grpSpPr>
            <a:xfrm>
              <a:off x="20344893" y="291523"/>
              <a:ext cx="2992818" cy="1380820"/>
              <a:chOff x="0" y="0"/>
              <a:chExt cx="2992818" cy="1380820"/>
            </a:xfrm>
          </p:grpSpPr>
          <p:sp>
            <p:nvSpPr>
              <p:cNvPr id="9" name="Freeform 9"/>
              <p:cNvSpPr/>
              <p:nvPr/>
            </p:nvSpPr>
            <p:spPr>
              <a:xfrm>
                <a:off x="0" y="0"/>
                <a:ext cx="2992882" cy="1380871"/>
              </a:xfrm>
              <a:custGeom>
                <a:avLst/>
                <a:gdLst/>
                <a:ahLst/>
                <a:cxnLst/>
                <a:rect l="l" t="t" r="r" b="b"/>
                <a:pathLst>
                  <a:path w="2992882" h="1380871">
                    <a:moveTo>
                      <a:pt x="0" y="0"/>
                    </a:moveTo>
                    <a:lnTo>
                      <a:pt x="2992882" y="0"/>
                    </a:lnTo>
                    <a:lnTo>
                      <a:pt x="2992882" y="1380871"/>
                    </a:lnTo>
                    <a:lnTo>
                      <a:pt x="0" y="1380871"/>
                    </a:lnTo>
                    <a:lnTo>
                      <a:pt x="0" y="0"/>
                    </a:lnTo>
                    <a:close/>
                  </a:path>
                </a:pathLst>
              </a:custGeom>
              <a:blipFill>
                <a:blip r:embed="rId4"/>
                <a:stretch>
                  <a:fillRect l="-1264" r="-1261" b="3"/>
                </a:stretch>
              </a:blipFill>
            </p:spPr>
          </p:sp>
        </p:grpSp>
        <p:sp>
          <p:nvSpPr>
            <p:cNvPr id="10" name="TextBox 10"/>
            <p:cNvSpPr txBox="1"/>
            <p:nvPr/>
          </p:nvSpPr>
          <p:spPr>
            <a:xfrm>
              <a:off x="3986137" y="60414"/>
              <a:ext cx="14984527" cy="1814195"/>
            </a:xfrm>
            <a:prstGeom prst="rect">
              <a:avLst/>
            </a:prstGeom>
          </p:spPr>
          <p:txBody>
            <a:bodyPr lIns="0" tIns="0" rIns="0" bIns="0" rtlCol="0" anchor="t">
              <a:spAutoFit/>
            </a:bodyPr>
            <a:lstStyle/>
            <a:p>
              <a:pPr algn="ctr">
                <a:lnSpc>
                  <a:spcPts val="6160"/>
                </a:lnSpc>
              </a:pPr>
              <a:r>
                <a:rPr lang="en-US" sz="4400">
                  <a:solidFill>
                    <a:srgbClr val="692B39"/>
                  </a:solidFill>
                  <a:latin typeface="Times New Roman"/>
                  <a:ea typeface="Times New Roman"/>
                  <a:cs typeface="Times New Roman"/>
                  <a:sym typeface="Times New Roman"/>
                </a:rPr>
                <a:t>Walchand College of Engineering, Sangli</a:t>
              </a:r>
            </a:p>
            <a:p>
              <a:pPr algn="ctr">
                <a:lnSpc>
                  <a:spcPts val="4759"/>
                </a:lnSpc>
              </a:pPr>
              <a:r>
                <a:rPr lang="en-US" sz="3399">
                  <a:solidFill>
                    <a:srgbClr val="692B39"/>
                  </a:solidFill>
                  <a:latin typeface="Times New Roman"/>
                  <a:ea typeface="Times New Roman"/>
                  <a:cs typeface="Times New Roman"/>
                  <a:sym typeface="Times New Roman"/>
                </a:rPr>
                <a:t>A Goverment-Aided Autonomous Institute</a:t>
              </a:r>
            </a:p>
          </p:txBody>
        </p:sp>
      </p:grpSp>
      <p:sp>
        <p:nvSpPr>
          <p:cNvPr id="11" name="Rounded Rectangle 10"/>
          <p:cNvSpPr/>
          <p:nvPr/>
        </p:nvSpPr>
        <p:spPr>
          <a:xfrm>
            <a:off x="548640" y="2468880"/>
            <a:ext cx="7863840" cy="7223760"/>
          </a:xfrm>
          <a:prstGeom prst="roundRect">
            <a:avLst>
              <a:gd name="adj" fmla="val 8000"/>
            </a:avLst>
          </a:prstGeom>
          <a:solidFill>
            <a:srgbClr val="F7ECEE"/>
          </a:solidFill>
          <a:ln>
            <a:noFill/>
          </a:ln>
          <a:effectLst/>
        </p:spPr>
        <p:style>
          <a:lnRef idx="1">
            <a:schemeClr val="accent1"/>
          </a:lnRef>
          <a:fillRef idx="3">
            <a:schemeClr val="accent1"/>
          </a:fillRef>
          <a:effectRef idx="2">
            <a:schemeClr val="accent1"/>
          </a:effectRef>
          <a:fontRef idx="minor">
            <a:schemeClr val="lt1"/>
          </a:fontRef>
        </p:style>
        <p:txBody>
          <a:bodyPr rtlCol="0" anchor="t" lIns="365760" rIns="365760" tIns="54864" bIns="54864" wrap="square">
            <a:noAutofit/>
          </a:bodyPr>
          <a:lstStyle/>
          <a:p>
            <a:pPr algn="l">
              <a:spcAft>
                <a:spcPts val="1200"/>
              </a:spcAft>
            </a:pPr>
            <a:r>
              <a:rPr sz="2600" b="1" i="0">
                <a:solidFill>
                  <a:srgbClr val="7A1F2B"/>
                </a:solidFill>
                <a:latin typeface="Calibri"/>
              </a:rPr>
              <a:t>PS #38 as given</a:t>
            </a:r>
          </a:p>
          <a:p>
            <a:pPr algn="l">
              <a:spcAft>
                <a:spcPts val="1400"/>
              </a:spcAft>
            </a:pPr>
            <a:r>
              <a:rPr sz="2600" b="0" i="0">
                <a:solidFill>
                  <a:srgbClr val="1F2933"/>
                </a:solidFill>
                <a:latin typeface="Calibri"/>
              </a:rPr>
              <a:t>Build an intelligent microgrid controller that detects grid failure, manages locally generated renewable energy and storage, prioritises critical loads, and safely manages the transition from grid-connected to islanded operation.</a:t>
            </a:r>
          </a:p>
          <a:p>
            <a:pPr algn="l">
              <a:spcAft>
                <a:spcPts val="0"/>
              </a:spcAft>
            </a:pPr>
            <a:r>
              <a:rPr sz="2600" b="0" i="0">
                <a:solidFill>
                  <a:srgbClr val="1F2933"/>
                </a:solidFill>
                <a:latin typeface="Calibri"/>
              </a:rPr>
              <a:t>Hardware: a prepaid RFID-based energy dispensing meter that lets neighbouring households trade and route localised solar power.</a:t>
            </a:r>
          </a:p>
        </p:txBody>
      </p:sp>
      <p:sp>
        <p:nvSpPr>
          <p:cNvPr id="12" name="Oval 11"/>
          <p:cNvSpPr/>
          <p:nvPr/>
        </p:nvSpPr>
        <p:spPr>
          <a:xfrm>
            <a:off x="8961120" y="2788920"/>
            <a:ext cx="731520" cy="73152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54864" bIns="54864" wrap="square">
            <a:noAutofit/>
          </a:bodyPr>
          <a:lstStyle/>
          <a:p>
            <a:pPr algn="ctr">
              <a:spcAft>
                <a:spcPts val="400"/>
              </a:spcAft>
            </a:pPr>
            <a:r>
              <a:rPr sz="2300" b="1" i="0">
                <a:solidFill>
                  <a:srgbClr val="FFFFFF"/>
                </a:solidFill>
                <a:latin typeface="Calibri"/>
              </a:rPr>
              <a:t>1</a:t>
            </a:r>
          </a:p>
        </p:txBody>
      </p:sp>
      <p:sp>
        <p:nvSpPr>
          <p:cNvPr id="13" name="TextBox 12"/>
          <p:cNvSpPr txBox="1"/>
          <p:nvPr/>
        </p:nvSpPr>
        <p:spPr>
          <a:xfrm>
            <a:off x="9966960" y="2560320"/>
            <a:ext cx="7772400" cy="1645920"/>
          </a:xfrm>
          <a:prstGeom prst="rect">
            <a:avLst/>
          </a:prstGeom>
          <a:noFill/>
        </p:spPr>
        <p:txBody>
          <a:bodyPr wrap="square" lIns="0" rIns="0" tIns="0" bIns="0" anchor="t">
            <a:noAutofit/>
          </a:bodyPr>
          <a:lstStyle/>
          <a:p>
            <a:pPr algn="l">
              <a:spcAft>
                <a:spcPts val="400"/>
              </a:spcAft>
            </a:pPr>
            <a:r>
              <a:rPr sz="2800" b="1" i="0">
                <a:solidFill>
                  <a:srgbClr val="1F2933"/>
                </a:solidFill>
                <a:latin typeface="Calibri"/>
              </a:rPr>
              <a:t>Outages hit essentials first</a:t>
            </a:r>
          </a:p>
          <a:p>
            <a:pPr algn="l">
              <a:spcAft>
                <a:spcPts val="600"/>
              </a:spcAft>
            </a:pPr>
            <a:r>
              <a:rPr sz="2300" b="0" i="0">
                <a:solidFill>
                  <a:srgbClr val="4B5563"/>
                </a:solidFill>
                <a:latin typeface="Calibri"/>
              </a:rPr>
              <a:t>When the grid fails, every load goes dark, including lights and medical devices that matter most.</a:t>
            </a:r>
          </a:p>
        </p:txBody>
      </p:sp>
      <p:sp>
        <p:nvSpPr>
          <p:cNvPr id="14" name="Oval 13"/>
          <p:cNvSpPr/>
          <p:nvPr/>
        </p:nvSpPr>
        <p:spPr>
          <a:xfrm>
            <a:off x="8961120" y="4636008"/>
            <a:ext cx="731520" cy="73152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54864" bIns="54864" wrap="square">
            <a:noAutofit/>
          </a:bodyPr>
          <a:lstStyle/>
          <a:p>
            <a:pPr algn="ctr">
              <a:spcAft>
                <a:spcPts val="400"/>
              </a:spcAft>
            </a:pPr>
            <a:r>
              <a:rPr sz="2300" b="1" i="0">
                <a:solidFill>
                  <a:srgbClr val="FFFFFF"/>
                </a:solidFill>
                <a:latin typeface="Calibri"/>
              </a:rPr>
              <a:t>2</a:t>
            </a:r>
          </a:p>
        </p:txBody>
      </p:sp>
      <p:sp>
        <p:nvSpPr>
          <p:cNvPr id="15" name="TextBox 14"/>
          <p:cNvSpPr txBox="1"/>
          <p:nvPr/>
        </p:nvSpPr>
        <p:spPr>
          <a:xfrm>
            <a:off x="9966960" y="4407408"/>
            <a:ext cx="7772400" cy="1645920"/>
          </a:xfrm>
          <a:prstGeom prst="rect">
            <a:avLst/>
          </a:prstGeom>
          <a:noFill/>
        </p:spPr>
        <p:txBody>
          <a:bodyPr wrap="square" lIns="0" rIns="0" tIns="0" bIns="0" anchor="t">
            <a:noAutofit/>
          </a:bodyPr>
          <a:lstStyle/>
          <a:p>
            <a:pPr algn="l">
              <a:spcAft>
                <a:spcPts val="400"/>
              </a:spcAft>
            </a:pPr>
            <a:r>
              <a:rPr sz="2800" b="1" i="0">
                <a:solidFill>
                  <a:srgbClr val="1F2933"/>
                </a:solidFill>
                <a:latin typeface="Calibri"/>
              </a:rPr>
              <a:t>Rooftop solar surplus is wasted</a:t>
            </a:r>
          </a:p>
          <a:p>
            <a:pPr algn="l">
              <a:spcAft>
                <a:spcPts val="600"/>
              </a:spcAft>
            </a:pPr>
            <a:r>
              <a:rPr sz="2300" b="0" i="0">
                <a:solidFill>
                  <a:srgbClr val="4B5563"/>
                </a:solidFill>
                <a:latin typeface="Calibri"/>
              </a:rPr>
              <a:t>A home with spare solar cannot easily sell it to the neighbour next door who has none.</a:t>
            </a:r>
          </a:p>
        </p:txBody>
      </p:sp>
      <p:sp>
        <p:nvSpPr>
          <p:cNvPr id="16" name="Oval 15"/>
          <p:cNvSpPr/>
          <p:nvPr/>
        </p:nvSpPr>
        <p:spPr>
          <a:xfrm>
            <a:off x="8961120" y="6483096"/>
            <a:ext cx="731520" cy="73152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54864" bIns="54864" wrap="square">
            <a:noAutofit/>
          </a:bodyPr>
          <a:lstStyle/>
          <a:p>
            <a:pPr algn="ctr">
              <a:spcAft>
                <a:spcPts val="400"/>
              </a:spcAft>
            </a:pPr>
            <a:r>
              <a:rPr sz="2300" b="1" i="0">
                <a:solidFill>
                  <a:srgbClr val="FFFFFF"/>
                </a:solidFill>
                <a:latin typeface="Calibri"/>
              </a:rPr>
              <a:t>3</a:t>
            </a:r>
          </a:p>
        </p:txBody>
      </p:sp>
      <p:sp>
        <p:nvSpPr>
          <p:cNvPr id="17" name="TextBox 16"/>
          <p:cNvSpPr txBox="1"/>
          <p:nvPr/>
        </p:nvSpPr>
        <p:spPr>
          <a:xfrm>
            <a:off x="9966960" y="6254496"/>
            <a:ext cx="7772400" cy="1645920"/>
          </a:xfrm>
          <a:prstGeom prst="rect">
            <a:avLst/>
          </a:prstGeom>
          <a:noFill/>
        </p:spPr>
        <p:txBody>
          <a:bodyPr wrap="square" lIns="0" rIns="0" tIns="0" bIns="0" anchor="t">
            <a:noAutofit/>
          </a:bodyPr>
          <a:lstStyle/>
          <a:p>
            <a:pPr algn="l">
              <a:spcAft>
                <a:spcPts val="400"/>
              </a:spcAft>
            </a:pPr>
            <a:r>
              <a:rPr sz="2800" b="1" i="0">
                <a:solidFill>
                  <a:srgbClr val="1F2933"/>
                </a:solidFill>
                <a:latin typeface="Calibri"/>
              </a:rPr>
              <a:t>Islanding must be safe</a:t>
            </a:r>
          </a:p>
          <a:p>
            <a:pPr algn="l">
              <a:spcAft>
                <a:spcPts val="600"/>
              </a:spcAft>
            </a:pPr>
            <a:r>
              <a:rPr sz="2300" b="0" i="0">
                <a:solidFill>
                  <a:srgbClr val="4B5563"/>
                </a:solidFill>
                <a:latin typeface="Calibri"/>
              </a:rPr>
              <a:t>A local network must disconnect from a dead grid (no back-feed) and reconnect smoothly when it returns.</a:t>
            </a:r>
          </a:p>
        </p:txBody>
      </p:sp>
      <p:sp>
        <p:nvSpPr>
          <p:cNvPr id="18" name="Oval 17"/>
          <p:cNvSpPr/>
          <p:nvPr/>
        </p:nvSpPr>
        <p:spPr>
          <a:xfrm>
            <a:off x="8961120" y="8330184"/>
            <a:ext cx="731520" cy="731520"/>
          </a:xfrm>
          <a:prstGeom prst="ellips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54864" bIns="54864" wrap="square">
            <a:noAutofit/>
          </a:bodyPr>
          <a:lstStyle/>
          <a:p>
            <a:pPr algn="ctr">
              <a:spcAft>
                <a:spcPts val="400"/>
              </a:spcAft>
            </a:pPr>
            <a:r>
              <a:rPr sz="2300" b="1" i="0">
                <a:solidFill>
                  <a:srgbClr val="FFFFFF"/>
                </a:solidFill>
                <a:latin typeface="Calibri"/>
              </a:rPr>
              <a:t>4</a:t>
            </a:r>
          </a:p>
        </p:txBody>
      </p:sp>
      <p:sp>
        <p:nvSpPr>
          <p:cNvPr id="19" name="TextBox 18"/>
          <p:cNvSpPr txBox="1"/>
          <p:nvPr/>
        </p:nvSpPr>
        <p:spPr>
          <a:xfrm>
            <a:off x="9966960" y="8101584"/>
            <a:ext cx="7772400" cy="1645920"/>
          </a:xfrm>
          <a:prstGeom prst="rect">
            <a:avLst/>
          </a:prstGeom>
          <a:noFill/>
        </p:spPr>
        <p:txBody>
          <a:bodyPr wrap="square" lIns="0" rIns="0" tIns="0" bIns="0" anchor="t">
            <a:noAutofit/>
          </a:bodyPr>
          <a:lstStyle/>
          <a:p>
            <a:pPr algn="l">
              <a:spcAft>
                <a:spcPts val="400"/>
              </a:spcAft>
            </a:pPr>
            <a:r>
              <a:rPr sz="2800" b="1" i="0">
                <a:solidFill>
                  <a:srgbClr val="1F2933"/>
                </a:solidFill>
                <a:latin typeface="Calibri"/>
              </a:rPr>
              <a:t>No simple prepaid accounting</a:t>
            </a:r>
          </a:p>
          <a:p>
            <a:pPr algn="l">
              <a:spcAft>
                <a:spcPts val="600"/>
              </a:spcAft>
            </a:pPr>
            <a:r>
              <a:rPr sz="2300" b="0" i="0">
                <a:solidFill>
                  <a:srgbClr val="4B5563"/>
                </a:solidFill>
                <a:latin typeface="Calibri"/>
              </a:rPr>
              <a:t>Sharing needs per-household metering and a fair record of who bought and sold what.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8640" y="1325880"/>
            <a:ext cx="17190720" cy="868680"/>
          </a:xfrm>
          <a:prstGeom prst="rect">
            <a:avLst/>
          </a:prstGeom>
        </p:spPr>
        <p:txBody>
          <a:bodyPr lIns="0" tIns="0" rIns="0" bIns="0" rtlCol="0" anchor="t" wrap="square">
            <a:spAutoFit/>
          </a:bodyPr>
          <a:lstStyle/>
          <a:p>
            <a:pPr algn="l">
              <a:lnSpc>
                <a:spcPts val="7279"/>
              </a:lnSpc>
            </a:pPr>
            <a:r>
              <a:rPr lang="en-US" sz="4400" b="1">
                <a:solidFill>
                  <a:srgbClr val="000000"/>
                </a:solidFill>
                <a:latin typeface="Canva Sans Bold"/>
                <a:ea typeface="Canva Sans Bold"/>
                <a:cs typeface="Canva Sans Bold"/>
                <a:sym typeface="Canva Sans Bold"/>
              </a:rPr>
              <a:t>Proposed solution:</a:t>
            </a:r>
          </a:p>
        </p:txBody>
      </p:sp>
      <p:grpSp>
        <p:nvGrpSpPr>
          <p:cNvPr id="3" name="Group 3"/>
          <p:cNvGrpSpPr/>
          <p:nvPr/>
        </p:nvGrpSpPr>
        <p:grpSpPr>
          <a:xfrm>
            <a:off x="535200" y="-81549"/>
            <a:ext cx="17503283" cy="1576346"/>
            <a:chOff x="0" y="0"/>
            <a:chExt cx="23337711" cy="2101794"/>
          </a:xfrm>
        </p:grpSpPr>
        <p:grpSp>
          <p:nvGrpSpPr>
            <p:cNvPr id="4" name="Group 4"/>
            <p:cNvGrpSpPr/>
            <p:nvPr/>
          </p:nvGrpSpPr>
          <p:grpSpPr>
            <a:xfrm>
              <a:off x="0" y="0"/>
              <a:ext cx="2390534" cy="2101794"/>
              <a:chOff x="0" y="0"/>
              <a:chExt cx="2451880" cy="2155730"/>
            </a:xfrm>
          </p:grpSpPr>
          <p:sp>
            <p:nvSpPr>
              <p:cNvPr id="5" name="Freeform 5"/>
              <p:cNvSpPr/>
              <p:nvPr/>
            </p:nvSpPr>
            <p:spPr>
              <a:xfrm>
                <a:off x="0" y="0"/>
                <a:ext cx="2451818" cy="2155743"/>
              </a:xfrm>
              <a:custGeom>
                <a:avLst/>
                <a:gdLst/>
                <a:ahLst/>
                <a:cxnLst/>
                <a:rect l="l" t="t" r="r" b="b"/>
                <a:pathLst>
                  <a:path w="2451818" h="2155743">
                    <a:moveTo>
                      <a:pt x="0" y="0"/>
                    </a:moveTo>
                    <a:lnTo>
                      <a:pt x="2451818" y="0"/>
                    </a:lnTo>
                    <a:lnTo>
                      <a:pt x="2451818" y="2155743"/>
                    </a:lnTo>
                    <a:lnTo>
                      <a:pt x="0" y="2155743"/>
                    </a:lnTo>
                    <a:lnTo>
                      <a:pt x="0" y="0"/>
                    </a:lnTo>
                    <a:close/>
                  </a:path>
                </a:pathLst>
              </a:custGeom>
              <a:blipFill>
                <a:blip r:embed="rId2"/>
                <a:stretch>
                  <a:fillRect l="-43229" r="-67848" b="-8030"/>
                </a:stretch>
              </a:blipFill>
            </p:spPr>
          </p:sp>
        </p:grpSp>
        <p:grpSp>
          <p:nvGrpSpPr>
            <p:cNvPr id="6" name="Group 6"/>
            <p:cNvGrpSpPr/>
            <p:nvPr/>
          </p:nvGrpSpPr>
          <p:grpSpPr>
            <a:xfrm>
              <a:off x="18545475" y="247188"/>
              <a:ext cx="1586845" cy="1627422"/>
              <a:chOff x="0" y="0"/>
              <a:chExt cx="1808366" cy="1854606"/>
            </a:xfrm>
          </p:grpSpPr>
          <p:sp>
            <p:nvSpPr>
              <p:cNvPr id="7" name="Freeform 7"/>
              <p:cNvSpPr/>
              <p:nvPr/>
            </p:nvSpPr>
            <p:spPr>
              <a:xfrm>
                <a:off x="0" y="0"/>
                <a:ext cx="1808353" cy="1854581"/>
              </a:xfrm>
              <a:custGeom>
                <a:avLst/>
                <a:gdLst/>
                <a:ahLst/>
                <a:cxnLst/>
                <a:rect l="l" t="t" r="r" b="b"/>
                <a:pathLst>
                  <a:path w="1808353" h="1854581">
                    <a:moveTo>
                      <a:pt x="0" y="0"/>
                    </a:moveTo>
                    <a:lnTo>
                      <a:pt x="1808353" y="0"/>
                    </a:lnTo>
                    <a:lnTo>
                      <a:pt x="1808353" y="1854581"/>
                    </a:lnTo>
                    <a:lnTo>
                      <a:pt x="0" y="1854581"/>
                    </a:lnTo>
                    <a:lnTo>
                      <a:pt x="0" y="0"/>
                    </a:lnTo>
                    <a:close/>
                  </a:path>
                </a:pathLst>
              </a:custGeom>
              <a:blipFill>
                <a:blip r:embed="rId3"/>
                <a:stretch>
                  <a:fillRect l="-63953" r="-63953" b="-1"/>
                </a:stretch>
              </a:blipFill>
            </p:spPr>
          </p:sp>
        </p:grpSp>
        <p:grpSp>
          <p:nvGrpSpPr>
            <p:cNvPr id="8" name="Group 8"/>
            <p:cNvGrpSpPr/>
            <p:nvPr/>
          </p:nvGrpSpPr>
          <p:grpSpPr>
            <a:xfrm>
              <a:off x="20344893" y="291523"/>
              <a:ext cx="2992818" cy="1380820"/>
              <a:chOff x="0" y="0"/>
              <a:chExt cx="2992818" cy="1380820"/>
            </a:xfrm>
          </p:grpSpPr>
          <p:sp>
            <p:nvSpPr>
              <p:cNvPr id="9" name="Freeform 9"/>
              <p:cNvSpPr/>
              <p:nvPr/>
            </p:nvSpPr>
            <p:spPr>
              <a:xfrm>
                <a:off x="0" y="0"/>
                <a:ext cx="2992882" cy="1380871"/>
              </a:xfrm>
              <a:custGeom>
                <a:avLst/>
                <a:gdLst/>
                <a:ahLst/>
                <a:cxnLst/>
                <a:rect l="l" t="t" r="r" b="b"/>
                <a:pathLst>
                  <a:path w="2992882" h="1380871">
                    <a:moveTo>
                      <a:pt x="0" y="0"/>
                    </a:moveTo>
                    <a:lnTo>
                      <a:pt x="2992882" y="0"/>
                    </a:lnTo>
                    <a:lnTo>
                      <a:pt x="2992882" y="1380871"/>
                    </a:lnTo>
                    <a:lnTo>
                      <a:pt x="0" y="1380871"/>
                    </a:lnTo>
                    <a:lnTo>
                      <a:pt x="0" y="0"/>
                    </a:lnTo>
                    <a:close/>
                  </a:path>
                </a:pathLst>
              </a:custGeom>
              <a:blipFill>
                <a:blip r:embed="rId4"/>
                <a:stretch>
                  <a:fillRect l="-1264" r="-1261" b="3"/>
                </a:stretch>
              </a:blipFill>
            </p:spPr>
          </p:sp>
        </p:grpSp>
        <p:sp>
          <p:nvSpPr>
            <p:cNvPr id="10" name="TextBox 10"/>
            <p:cNvSpPr txBox="1"/>
            <p:nvPr/>
          </p:nvSpPr>
          <p:spPr>
            <a:xfrm>
              <a:off x="3986137" y="60414"/>
              <a:ext cx="14984527" cy="1814195"/>
            </a:xfrm>
            <a:prstGeom prst="rect">
              <a:avLst/>
            </a:prstGeom>
          </p:spPr>
          <p:txBody>
            <a:bodyPr lIns="0" tIns="0" rIns="0" bIns="0" rtlCol="0" anchor="t">
              <a:spAutoFit/>
            </a:bodyPr>
            <a:lstStyle/>
            <a:p>
              <a:pPr algn="ctr">
                <a:lnSpc>
                  <a:spcPts val="6160"/>
                </a:lnSpc>
              </a:pPr>
              <a:r>
                <a:rPr lang="en-US" sz="4400">
                  <a:solidFill>
                    <a:srgbClr val="692B39"/>
                  </a:solidFill>
                  <a:latin typeface="Times New Roman"/>
                  <a:ea typeface="Times New Roman"/>
                  <a:cs typeface="Times New Roman"/>
                  <a:sym typeface="Times New Roman"/>
                </a:rPr>
                <a:t>Walchand College of Engineering, Sangli</a:t>
              </a:r>
            </a:p>
            <a:p>
              <a:pPr algn="ctr">
                <a:lnSpc>
                  <a:spcPts val="4759"/>
                </a:lnSpc>
              </a:pPr>
              <a:r>
                <a:rPr lang="en-US" sz="3399">
                  <a:solidFill>
                    <a:srgbClr val="692B39"/>
                  </a:solidFill>
                  <a:latin typeface="Times New Roman"/>
                  <a:ea typeface="Times New Roman"/>
                  <a:cs typeface="Times New Roman"/>
                  <a:sym typeface="Times New Roman"/>
                </a:rPr>
                <a:t>A Goverment-Aided Autonomous Institute</a:t>
              </a:r>
            </a:p>
          </p:txBody>
        </p:sp>
      </p:grpSp>
      <p:sp>
        <p:nvSpPr>
          <p:cNvPr id="11" name="Rounded Rectangle 10"/>
          <p:cNvSpPr/>
          <p:nvPr/>
        </p:nvSpPr>
        <p:spPr>
          <a:xfrm>
            <a:off x="640080" y="2514600"/>
            <a:ext cx="2926080" cy="1325880"/>
          </a:xfrm>
          <a:prstGeom prst="roundRect">
            <a:avLst>
              <a:gd name="adj" fmla="val 8000"/>
            </a:avLst>
          </a:prstGeom>
          <a:solidFill>
            <a:srgbClr val="F3F4F6"/>
          </a:solidFill>
          <a:ln w="19050">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54864" bIns="54864" wrap="square">
            <a:noAutofit/>
          </a:bodyPr>
          <a:lstStyle/>
          <a:p>
            <a:pPr algn="ctr">
              <a:spcAft>
                <a:spcPts val="400"/>
              </a:spcAft>
            </a:pPr>
            <a:r>
              <a:rPr sz="2300" b="1" i="0">
                <a:solidFill>
                  <a:srgbClr val="1F2933"/>
                </a:solidFill>
                <a:latin typeface="Calibri"/>
              </a:rPr>
              <a:t>Grid emulator</a:t>
            </a:r>
          </a:p>
          <a:p>
            <a:pPr algn="ctr">
              <a:spcAft>
                <a:spcPts val="400"/>
              </a:spcAft>
            </a:pPr>
            <a:r>
              <a:rPr sz="2000" b="0" i="0">
                <a:solidFill>
                  <a:srgbClr val="4B5563"/>
                </a:solidFill>
                <a:latin typeface="Calibri"/>
              </a:rPr>
              <a:t>12 V SMPS</a:t>
            </a:r>
          </a:p>
        </p:txBody>
      </p:sp>
      <p:sp>
        <p:nvSpPr>
          <p:cNvPr id="12" name="Rounded Rectangle 11"/>
          <p:cNvSpPr/>
          <p:nvPr/>
        </p:nvSpPr>
        <p:spPr>
          <a:xfrm>
            <a:off x="4114800" y="2514600"/>
            <a:ext cx="3383280" cy="1325880"/>
          </a:xfrm>
          <a:prstGeom prst="roundRect">
            <a:avLst>
              <a:gd name="adj" fmla="val 8000"/>
            </a:avLst>
          </a:prstGeom>
          <a:solidFill>
            <a:srgbClr val="F7ECEE"/>
          </a:solidFill>
          <a:ln w="19050">
            <a:solidFill>
              <a:srgbClr val="7A1F2B"/>
            </a:solid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54864" bIns="54864" wrap="square">
            <a:noAutofit/>
          </a:bodyPr>
          <a:lstStyle/>
          <a:p>
            <a:pPr algn="ctr">
              <a:spcAft>
                <a:spcPts val="400"/>
              </a:spcAft>
            </a:pPr>
            <a:r>
              <a:rPr sz="2300" b="1" i="0">
                <a:solidFill>
                  <a:srgbClr val="1F2933"/>
                </a:solidFill>
                <a:latin typeface="Calibri"/>
              </a:rPr>
              <a:t>Grid switch</a:t>
            </a:r>
          </a:p>
          <a:p>
            <a:pPr algn="ctr">
              <a:spcAft>
                <a:spcPts val="400"/>
              </a:spcAft>
            </a:pPr>
            <a:r>
              <a:rPr sz="2000" b="0" i="0">
                <a:solidFill>
                  <a:srgbClr val="4B5563"/>
                </a:solidFill>
                <a:latin typeface="Calibri"/>
              </a:rPr>
              <a:t>relay + diode + 1 Ω</a:t>
            </a:r>
          </a:p>
        </p:txBody>
      </p:sp>
      <p:sp>
        <p:nvSpPr>
          <p:cNvPr id="13" name="Rounded Rectangle 12"/>
          <p:cNvSpPr/>
          <p:nvPr/>
        </p:nvSpPr>
        <p:spPr>
          <a:xfrm>
            <a:off x="8046720" y="2514600"/>
            <a:ext cx="3749039" cy="1325880"/>
          </a:xfrm>
          <a:prstGeom prst="roundRect">
            <a:avLst>
              <a:gd name="adj" fmla="val 8000"/>
            </a:avLst>
          </a:prstGeom>
          <a:solidFill>
            <a:srgbClr val="E0F2EF"/>
          </a:solidFill>
          <a:ln w="1905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54864" bIns="54864" wrap="square">
            <a:noAutofit/>
          </a:bodyPr>
          <a:lstStyle/>
          <a:p>
            <a:pPr algn="ctr">
              <a:spcAft>
                <a:spcPts val="400"/>
              </a:spcAft>
            </a:pPr>
            <a:r>
              <a:rPr sz="2300" b="1" i="0">
                <a:solidFill>
                  <a:srgbClr val="1F2933"/>
                </a:solidFill>
                <a:latin typeface="Calibri"/>
              </a:rPr>
              <a:t>Shared battery</a:t>
            </a:r>
          </a:p>
          <a:p>
            <a:pPr algn="ctr">
              <a:spcAft>
                <a:spcPts val="400"/>
              </a:spcAft>
            </a:pPr>
            <a:r>
              <a:rPr sz="2000" b="0" i="0">
                <a:solidFill>
                  <a:srgbClr val="4B5563"/>
                </a:solidFill>
                <a:latin typeface="Calibri"/>
              </a:rPr>
              <a:t>12 V 7 Ah sealed lead-acid</a:t>
            </a:r>
          </a:p>
        </p:txBody>
      </p:sp>
      <p:cxnSp>
        <p:nvCxnSpPr>
          <p:cNvPr id="14" name="Connector 13"/>
          <p:cNvCxnSpPr/>
          <p:nvPr/>
        </p:nvCxnSpPr>
        <p:spPr>
          <a:xfrm>
            <a:off x="3566160" y="3177540"/>
            <a:ext cx="548640" cy="0"/>
          </a:xfrm>
          <a:prstGeom prst="line">
            <a:avLst/>
          </a:prstGeom>
          <a:ln w="28575">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806440" y="3840480"/>
            <a:ext cx="0" cy="914400"/>
          </a:xfrm>
          <a:prstGeom prst="line">
            <a:avLst/>
          </a:prstGeom>
          <a:ln w="28575">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921240" y="3840480"/>
            <a:ext cx="0" cy="914400"/>
          </a:xfrm>
          <a:prstGeom prst="line">
            <a:avLst/>
          </a:prstGeom>
          <a:ln w="28575">
            <a:solidFill>
              <a:srgbClr val="0F766E"/>
            </a:solidFill>
            <a:tailEnd type="triangle" w="med" len="med"/>
            <a:headEnd type="triangle" w="med" len="med"/>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640080" y="4754880"/>
            <a:ext cx="11155680" cy="1463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160520"/>
            <a:ext cx="3108960" cy="457200"/>
          </a:xfrm>
          <a:prstGeom prst="rect">
            <a:avLst/>
          </a:prstGeom>
          <a:noFill/>
        </p:spPr>
        <p:txBody>
          <a:bodyPr wrap="square" lIns="0" rIns="0" tIns="0" bIns="0" anchor="t">
            <a:noAutofit/>
          </a:bodyPr>
          <a:lstStyle/>
          <a:p>
            <a:pPr algn="l">
              <a:spcAft>
                <a:spcPts val="600"/>
              </a:spcAft>
            </a:pPr>
            <a:r>
              <a:rPr sz="2100" b="1" i="0">
                <a:solidFill>
                  <a:srgbClr val="B45309"/>
                </a:solidFill>
                <a:latin typeface="Calibri"/>
              </a:rPr>
              <a:t>12 V DC community bus</a:t>
            </a:r>
          </a:p>
        </p:txBody>
      </p:sp>
      <p:cxnSp>
        <p:nvCxnSpPr>
          <p:cNvPr id="19" name="Connector 18"/>
          <p:cNvCxnSpPr/>
          <p:nvPr/>
        </p:nvCxnSpPr>
        <p:spPr>
          <a:xfrm>
            <a:off x="2377439" y="4901184"/>
            <a:ext cx="0" cy="768096"/>
          </a:xfrm>
          <a:prstGeom prst="line">
            <a:avLst/>
          </a:prstGeom>
          <a:ln w="28575">
            <a:solidFill>
              <a:srgbClr val="B45309"/>
            </a:solidFill>
            <a:tailEnd type="triangle" w="med" len="med"/>
            <a:head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40080" y="5669280"/>
            <a:ext cx="3474720" cy="2240280"/>
          </a:xfrm>
          <a:prstGeom prst="roundRect">
            <a:avLst>
              <a:gd name="adj" fmla="val 8000"/>
            </a:avLst>
          </a:prstGeom>
          <a:solidFill>
            <a:srgbClr val="FFFFFF"/>
          </a:solidFill>
          <a:ln w="19050">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t" lIns="182880" rIns="182880" tIns="54864" bIns="54864" wrap="square">
            <a:noAutofit/>
          </a:bodyPr>
          <a:lstStyle/>
          <a:p>
            <a:pPr algn="l">
              <a:spcAft>
                <a:spcPts val="200"/>
              </a:spcAft>
            </a:pPr>
            <a:r>
              <a:rPr sz="2500" b="1" i="0">
                <a:solidFill>
                  <a:srgbClr val="1F2933"/>
                </a:solidFill>
                <a:latin typeface="Calibri"/>
              </a:rPr>
              <a:t>House 1</a:t>
            </a:r>
            <a:r>
              <a:rPr sz="1900" b="0" i="0">
                <a:solidFill>
                  <a:srgbClr val="4B5563"/>
                </a:solidFill>
                <a:latin typeface="Calibri"/>
              </a:rPr>
              <a:t/>
            </a:r>
          </a:p>
          <a:p>
            <a:pPr algn="l">
              <a:spcAft>
                <a:spcPts val="200"/>
              </a:spcAft>
            </a:pPr>
            <a:r>
              <a:rPr sz="2000" b="1" i="0">
                <a:solidFill>
                  <a:srgbClr val="B45309"/>
                </a:solidFill>
                <a:latin typeface="Calibri"/>
              </a:rPr>
              <a:t>solar seller</a:t>
            </a:r>
          </a:p>
          <a:p>
            <a:pPr algn="l">
              <a:spcAft>
                <a:spcPts val="400"/>
              </a:spcAft>
            </a:pPr>
            <a:r>
              <a:rPr sz="1900" b="0" i="0">
                <a:solidFill>
                  <a:srgbClr val="4B5563"/>
                </a:solidFill>
                <a:latin typeface="Calibri"/>
              </a:rPr>
              <a:t>Solar panel + critical &amp; flexible loads</a:t>
            </a:r>
          </a:p>
        </p:txBody>
      </p:sp>
      <p:sp>
        <p:nvSpPr>
          <p:cNvPr id="21" name="Rounded Rectangle 20"/>
          <p:cNvSpPr/>
          <p:nvPr/>
        </p:nvSpPr>
        <p:spPr>
          <a:xfrm>
            <a:off x="822959" y="7178040"/>
            <a:ext cx="3108960" cy="548640"/>
          </a:xfrm>
          <a:prstGeom prst="roundRect">
            <a:avLst>
              <a:gd name="adj" fmla="val 8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54864" bIns="54864" wrap="square">
            <a:noAutofit/>
          </a:bodyPr>
          <a:lstStyle/>
          <a:p>
            <a:pPr algn="ctr">
              <a:spcAft>
                <a:spcPts val="400"/>
              </a:spcAft>
            </a:pPr>
            <a:r>
              <a:rPr sz="1900" b="1" i="0">
                <a:solidFill>
                  <a:srgbClr val="1F2933"/>
                </a:solidFill>
                <a:latin typeface="Calibri"/>
              </a:rPr>
              <a:t>RFID prepaid meter</a:t>
            </a:r>
          </a:p>
        </p:txBody>
      </p:sp>
      <p:cxnSp>
        <p:nvCxnSpPr>
          <p:cNvPr id="22" name="Connector 21"/>
          <p:cNvCxnSpPr/>
          <p:nvPr/>
        </p:nvCxnSpPr>
        <p:spPr>
          <a:xfrm>
            <a:off x="2377439" y="7909560"/>
            <a:ext cx="0" cy="594360"/>
          </a:xfrm>
          <a:prstGeom prst="line">
            <a:avLst/>
          </a:prstGeom>
          <a:ln w="19050">
            <a:solidFill>
              <a:srgbClr val="4B5563"/>
            </a:solidFill>
            <a:prstDash val="dash"/>
            <a:tailEnd type="triangle" w="med" len="med"/>
            <a:head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217920" y="4901184"/>
            <a:ext cx="0" cy="768096"/>
          </a:xfrm>
          <a:prstGeom prst="line">
            <a:avLst/>
          </a:prstGeom>
          <a:ln w="28575">
            <a:solidFill>
              <a:srgbClr val="B45309"/>
            </a:solidFill>
            <a:tailEnd type="triangle" w="med" len="med"/>
            <a:head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480560" y="5669280"/>
            <a:ext cx="3474720" cy="2240280"/>
          </a:xfrm>
          <a:prstGeom prst="roundRect">
            <a:avLst>
              <a:gd name="adj" fmla="val 8000"/>
            </a:avLst>
          </a:prstGeom>
          <a:solidFill>
            <a:srgbClr val="FFFFFF"/>
          </a:solidFill>
          <a:ln w="19050">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t" lIns="182880" rIns="182880" tIns="54864" bIns="54864" wrap="square">
            <a:noAutofit/>
          </a:bodyPr>
          <a:lstStyle/>
          <a:p>
            <a:pPr algn="l">
              <a:spcAft>
                <a:spcPts val="200"/>
              </a:spcAft>
            </a:pPr>
            <a:r>
              <a:rPr sz="2500" b="1" i="0">
                <a:solidFill>
                  <a:srgbClr val="1F2933"/>
                </a:solidFill>
                <a:latin typeface="Calibri"/>
              </a:rPr>
              <a:t>House 2</a:t>
            </a:r>
            <a:r>
              <a:rPr sz="1900" b="0" i="0">
                <a:solidFill>
                  <a:srgbClr val="4B5563"/>
                </a:solidFill>
                <a:latin typeface="Calibri"/>
              </a:rPr>
              <a:t> (simulated)</a:t>
            </a:r>
          </a:p>
          <a:p>
            <a:pPr algn="l">
              <a:spcAft>
                <a:spcPts val="200"/>
              </a:spcAft>
            </a:pPr>
            <a:r>
              <a:rPr sz="2000" b="1" i="0">
                <a:solidFill>
                  <a:srgbClr val="B45309"/>
                </a:solidFill>
                <a:latin typeface="Calibri"/>
              </a:rPr>
              <a:t>solar seller</a:t>
            </a:r>
          </a:p>
          <a:p>
            <a:pPr algn="l">
              <a:spcAft>
                <a:spcPts val="400"/>
              </a:spcAft>
            </a:pPr>
            <a:r>
              <a:rPr sz="1900" b="0" i="0">
                <a:solidFill>
                  <a:srgbClr val="4B5563"/>
                </a:solidFill>
                <a:latin typeface="Calibri"/>
              </a:rPr>
              <a:t>Solar panel + critical &amp; flexible loads</a:t>
            </a:r>
          </a:p>
        </p:txBody>
      </p:sp>
      <p:sp>
        <p:nvSpPr>
          <p:cNvPr id="25" name="Rounded Rectangle 24"/>
          <p:cNvSpPr/>
          <p:nvPr/>
        </p:nvSpPr>
        <p:spPr>
          <a:xfrm>
            <a:off x="4663440" y="7178040"/>
            <a:ext cx="3108960" cy="548640"/>
          </a:xfrm>
          <a:prstGeom prst="roundRect">
            <a:avLst>
              <a:gd name="adj" fmla="val 8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54864" bIns="54864" wrap="square">
            <a:noAutofit/>
          </a:bodyPr>
          <a:lstStyle/>
          <a:p>
            <a:pPr algn="ctr">
              <a:spcAft>
                <a:spcPts val="400"/>
              </a:spcAft>
            </a:pPr>
            <a:r>
              <a:rPr sz="1900" b="1" i="0">
                <a:solidFill>
                  <a:srgbClr val="1F2933"/>
                </a:solidFill>
                <a:latin typeface="Calibri"/>
              </a:rPr>
              <a:t>RFID prepaid meter</a:t>
            </a:r>
          </a:p>
        </p:txBody>
      </p:sp>
      <p:cxnSp>
        <p:nvCxnSpPr>
          <p:cNvPr id="26" name="Connector 25"/>
          <p:cNvCxnSpPr/>
          <p:nvPr/>
        </p:nvCxnSpPr>
        <p:spPr>
          <a:xfrm>
            <a:off x="6217920" y="7909560"/>
            <a:ext cx="0" cy="594360"/>
          </a:xfrm>
          <a:prstGeom prst="line">
            <a:avLst/>
          </a:prstGeom>
          <a:ln w="19050">
            <a:solidFill>
              <a:srgbClr val="4B5563"/>
            </a:solidFill>
            <a:prstDash val="dash"/>
            <a:tailEnd type="triangle" w="med" len="med"/>
            <a:head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0058400" y="4901184"/>
            <a:ext cx="0" cy="768096"/>
          </a:xfrm>
          <a:prstGeom prst="line">
            <a:avLst/>
          </a:prstGeom>
          <a:ln w="28575">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8321040" y="5669280"/>
            <a:ext cx="3474720" cy="2240280"/>
          </a:xfrm>
          <a:prstGeom prst="roundRect">
            <a:avLst>
              <a:gd name="adj" fmla="val 8000"/>
            </a:avLst>
          </a:prstGeom>
          <a:solidFill>
            <a:srgbClr val="FFFFFF"/>
          </a:solidFill>
          <a:ln w="19050">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t" lIns="182880" rIns="182880" tIns="54864" bIns="54864" wrap="square">
            <a:noAutofit/>
          </a:bodyPr>
          <a:lstStyle/>
          <a:p>
            <a:pPr algn="l">
              <a:spcAft>
                <a:spcPts val="200"/>
              </a:spcAft>
            </a:pPr>
            <a:r>
              <a:rPr sz="2500" b="1" i="0">
                <a:solidFill>
                  <a:srgbClr val="1F2933"/>
                </a:solidFill>
                <a:latin typeface="Calibri"/>
              </a:rPr>
              <a:t>House 3</a:t>
            </a:r>
            <a:r>
              <a:rPr sz="1900" b="0" i="0">
                <a:solidFill>
                  <a:srgbClr val="4B5563"/>
                </a:solidFill>
                <a:latin typeface="Calibri"/>
              </a:rPr>
              <a:t/>
            </a:r>
          </a:p>
          <a:p>
            <a:pPr algn="l">
              <a:spcAft>
                <a:spcPts val="200"/>
              </a:spcAft>
            </a:pPr>
            <a:r>
              <a:rPr sz="2000" b="1" i="0">
                <a:solidFill>
                  <a:srgbClr val="4B5563"/>
                </a:solidFill>
                <a:latin typeface="Calibri"/>
              </a:rPr>
              <a:t>no solar · buyer</a:t>
            </a:r>
          </a:p>
          <a:p>
            <a:pPr algn="l">
              <a:spcAft>
                <a:spcPts val="400"/>
              </a:spcAft>
            </a:pPr>
            <a:r>
              <a:rPr sz="1900" b="0" i="0">
                <a:solidFill>
                  <a:srgbClr val="4B5563"/>
                </a:solidFill>
                <a:latin typeface="Calibri"/>
              </a:rPr>
              <a:t>critical &amp; flexible loads</a:t>
            </a:r>
          </a:p>
        </p:txBody>
      </p:sp>
      <p:sp>
        <p:nvSpPr>
          <p:cNvPr id="29" name="Rounded Rectangle 28"/>
          <p:cNvSpPr/>
          <p:nvPr/>
        </p:nvSpPr>
        <p:spPr>
          <a:xfrm>
            <a:off x="8503919" y="7178040"/>
            <a:ext cx="3108960" cy="548640"/>
          </a:xfrm>
          <a:prstGeom prst="roundRect">
            <a:avLst>
              <a:gd name="adj" fmla="val 8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54864" bIns="54864" wrap="square">
            <a:noAutofit/>
          </a:bodyPr>
          <a:lstStyle/>
          <a:p>
            <a:pPr algn="ctr">
              <a:spcAft>
                <a:spcPts val="400"/>
              </a:spcAft>
            </a:pPr>
            <a:r>
              <a:rPr sz="1900" b="1" i="0">
                <a:solidFill>
                  <a:srgbClr val="1F2933"/>
                </a:solidFill>
                <a:latin typeface="Calibri"/>
              </a:rPr>
              <a:t>RFID prepaid meter</a:t>
            </a:r>
          </a:p>
        </p:txBody>
      </p:sp>
      <p:cxnSp>
        <p:nvCxnSpPr>
          <p:cNvPr id="30" name="Connector 29"/>
          <p:cNvCxnSpPr/>
          <p:nvPr/>
        </p:nvCxnSpPr>
        <p:spPr>
          <a:xfrm>
            <a:off x="10058400" y="7909560"/>
            <a:ext cx="0" cy="594360"/>
          </a:xfrm>
          <a:prstGeom prst="line">
            <a:avLst/>
          </a:prstGeom>
          <a:ln w="19050">
            <a:solidFill>
              <a:srgbClr val="4B5563"/>
            </a:solidFill>
            <a:prstDash val="dash"/>
            <a:tailEnd type="triangle" w="med" len="med"/>
            <a:head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640080" y="8503920"/>
            <a:ext cx="5394960" cy="1188720"/>
          </a:xfrm>
          <a:prstGeom prst="roundRect">
            <a:avLst>
              <a:gd name="adj" fmla="val 8000"/>
            </a:avLst>
          </a:prstGeom>
          <a:solidFill>
            <a:srgbClr val="F3F4F6"/>
          </a:solidFill>
          <a:ln w="19050">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54864" bIns="54864" wrap="square">
            <a:noAutofit/>
          </a:bodyPr>
          <a:lstStyle/>
          <a:p>
            <a:pPr algn="ctr">
              <a:spcAft>
                <a:spcPts val="400"/>
              </a:spcAft>
            </a:pPr>
            <a:r>
              <a:rPr sz="2200" b="1" i="0">
                <a:solidFill>
                  <a:srgbClr val="1F2933"/>
                </a:solidFill>
                <a:latin typeface="Calibri"/>
              </a:rPr>
              <a:t>Community controller · ESP32</a:t>
            </a:r>
          </a:p>
          <a:p>
            <a:pPr algn="ctr">
              <a:spcAft>
                <a:spcPts val="400"/>
              </a:spcAft>
            </a:pPr>
            <a:r>
              <a:rPr sz="1900" b="0" i="0">
                <a:solidFill>
                  <a:srgbClr val="4B5563"/>
                </a:solidFill>
                <a:latin typeface="Calibri"/>
              </a:rPr>
              <a:t>islanding, load priority, protection</a:t>
            </a:r>
          </a:p>
        </p:txBody>
      </p:sp>
      <p:sp>
        <p:nvSpPr>
          <p:cNvPr id="32" name="Rounded Rectangle 31"/>
          <p:cNvSpPr/>
          <p:nvPr/>
        </p:nvSpPr>
        <p:spPr>
          <a:xfrm>
            <a:off x="6400800" y="8503920"/>
            <a:ext cx="5394960" cy="1188720"/>
          </a:xfrm>
          <a:prstGeom prst="roundRect">
            <a:avLst>
              <a:gd name="adj" fmla="val 8000"/>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54864" bIns="54864" wrap="square">
            <a:noAutofit/>
          </a:bodyPr>
          <a:lstStyle/>
          <a:p>
            <a:pPr algn="ctr">
              <a:spcAft>
                <a:spcPts val="400"/>
              </a:spcAft>
            </a:pPr>
            <a:r>
              <a:rPr sz="2200" b="1" i="0">
                <a:solidFill>
                  <a:srgbClr val="FFFFFF"/>
                </a:solidFill>
                <a:latin typeface="Calibri"/>
              </a:rPr>
              <a:t>Raspberry Pi hub</a:t>
            </a:r>
          </a:p>
          <a:p>
            <a:pPr algn="ctr">
              <a:spcAft>
                <a:spcPts val="400"/>
              </a:spcAft>
            </a:pPr>
            <a:r>
              <a:rPr sz="1900" b="0" i="0">
                <a:solidFill>
                  <a:srgbClr val="FFFFFF"/>
                </a:solidFill>
                <a:latin typeface="Calibri"/>
              </a:rPr>
              <a:t>MQTT · ledger · dashboard · AI manager</a:t>
            </a:r>
          </a:p>
        </p:txBody>
      </p:sp>
      <p:cxnSp>
        <p:nvCxnSpPr>
          <p:cNvPr id="33" name="Connector 32"/>
          <p:cNvCxnSpPr/>
          <p:nvPr/>
        </p:nvCxnSpPr>
        <p:spPr>
          <a:xfrm>
            <a:off x="6035040" y="9098280"/>
            <a:ext cx="365760" cy="0"/>
          </a:xfrm>
          <a:prstGeom prst="line">
            <a:avLst/>
          </a:prstGeom>
          <a:ln w="19050">
            <a:solidFill>
              <a:srgbClr val="4B5563"/>
            </a:solidFill>
            <a:prstDash val="dash"/>
            <a:tailEnd type="triangle" w="med" len="med"/>
            <a:headEnd type="triangle" w="med" len="med"/>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12344400" y="2651760"/>
            <a:ext cx="640080" cy="64008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54864" bIns="54864" wrap="square">
            <a:noAutofit/>
          </a:bodyPr>
          <a:lstStyle/>
          <a:p>
            <a:pPr algn="ctr">
              <a:spcAft>
                <a:spcPts val="400"/>
              </a:spcAft>
            </a:pPr>
            <a:r>
              <a:rPr sz="2100" b="1" i="0">
                <a:solidFill>
                  <a:srgbClr val="FFFFFF"/>
                </a:solidFill>
                <a:latin typeface="Calibri"/>
              </a:rPr>
              <a:t>1</a:t>
            </a:r>
          </a:p>
        </p:txBody>
      </p:sp>
      <p:sp>
        <p:nvSpPr>
          <p:cNvPr id="35" name="TextBox 34"/>
          <p:cNvSpPr txBox="1"/>
          <p:nvPr/>
        </p:nvSpPr>
        <p:spPr>
          <a:xfrm>
            <a:off x="13167360" y="2514600"/>
            <a:ext cx="4572000" cy="1371600"/>
          </a:xfrm>
          <a:prstGeom prst="rect">
            <a:avLst/>
          </a:prstGeom>
          <a:noFill/>
        </p:spPr>
        <p:txBody>
          <a:bodyPr wrap="square" lIns="0" rIns="0" tIns="0" bIns="0" anchor="t">
            <a:noAutofit/>
          </a:bodyPr>
          <a:lstStyle/>
          <a:p>
            <a:pPr algn="l">
              <a:spcAft>
                <a:spcPts val="200"/>
              </a:spcAft>
            </a:pPr>
            <a:r>
              <a:rPr sz="2300" b="1" i="0">
                <a:solidFill>
                  <a:srgbClr val="1F2933"/>
                </a:solidFill>
                <a:latin typeface="Calibri"/>
              </a:rPr>
              <a:t>Detects grid failure, islands</a:t>
            </a:r>
          </a:p>
          <a:p>
            <a:pPr algn="l">
              <a:spcAft>
                <a:spcPts val="600"/>
              </a:spcAft>
            </a:pPr>
            <a:r>
              <a:rPr sz="2000" b="0" i="0">
                <a:solidFill>
                  <a:srgbClr val="4B5563"/>
                </a:solidFill>
                <a:latin typeface="Calibri"/>
              </a:rPr>
              <a:t>Opens the grid switch about 1 s after the grid is lost (simulated).</a:t>
            </a:r>
          </a:p>
        </p:txBody>
      </p:sp>
      <p:sp>
        <p:nvSpPr>
          <p:cNvPr id="36" name="Oval 35"/>
          <p:cNvSpPr/>
          <p:nvPr/>
        </p:nvSpPr>
        <p:spPr>
          <a:xfrm>
            <a:off x="12344400" y="4096512"/>
            <a:ext cx="640080" cy="64008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54864" bIns="54864" wrap="square">
            <a:noAutofit/>
          </a:bodyPr>
          <a:lstStyle/>
          <a:p>
            <a:pPr algn="ctr">
              <a:spcAft>
                <a:spcPts val="400"/>
              </a:spcAft>
            </a:pPr>
            <a:r>
              <a:rPr sz="2100" b="1" i="0">
                <a:solidFill>
                  <a:srgbClr val="FFFFFF"/>
                </a:solidFill>
                <a:latin typeface="Calibri"/>
              </a:rPr>
              <a:t>2</a:t>
            </a:r>
          </a:p>
        </p:txBody>
      </p:sp>
      <p:sp>
        <p:nvSpPr>
          <p:cNvPr id="37" name="TextBox 36"/>
          <p:cNvSpPr txBox="1"/>
          <p:nvPr/>
        </p:nvSpPr>
        <p:spPr>
          <a:xfrm>
            <a:off x="13167360" y="3959352"/>
            <a:ext cx="4572000" cy="1371600"/>
          </a:xfrm>
          <a:prstGeom prst="rect">
            <a:avLst/>
          </a:prstGeom>
          <a:noFill/>
        </p:spPr>
        <p:txBody>
          <a:bodyPr wrap="square" lIns="0" rIns="0" tIns="0" bIns="0" anchor="t">
            <a:noAutofit/>
          </a:bodyPr>
          <a:lstStyle/>
          <a:p>
            <a:pPr algn="l">
              <a:spcAft>
                <a:spcPts val="200"/>
              </a:spcAft>
            </a:pPr>
            <a:r>
              <a:rPr sz="2300" b="1" i="0">
                <a:solidFill>
                  <a:srgbClr val="1F2933"/>
                </a:solidFill>
                <a:latin typeface="Calibri"/>
              </a:rPr>
              <a:t>Critical-load lifeline</a:t>
            </a:r>
          </a:p>
          <a:p>
            <a:pPr algn="l">
              <a:spcAft>
                <a:spcPts val="600"/>
              </a:spcAft>
            </a:pPr>
            <a:r>
              <a:rPr sz="2000" b="0" i="0">
                <a:solidFill>
                  <a:srgbClr val="4B5563"/>
                </a:solidFill>
                <a:latin typeface="Calibri"/>
              </a:rPr>
              <a:t>Essential loads stay on, even when a household's credit is zero.</a:t>
            </a:r>
          </a:p>
        </p:txBody>
      </p:sp>
      <p:sp>
        <p:nvSpPr>
          <p:cNvPr id="38" name="Oval 37"/>
          <p:cNvSpPr/>
          <p:nvPr/>
        </p:nvSpPr>
        <p:spPr>
          <a:xfrm>
            <a:off x="12344400" y="5541264"/>
            <a:ext cx="640080" cy="64008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54864" bIns="54864" wrap="square">
            <a:noAutofit/>
          </a:bodyPr>
          <a:lstStyle/>
          <a:p>
            <a:pPr algn="ctr">
              <a:spcAft>
                <a:spcPts val="400"/>
              </a:spcAft>
            </a:pPr>
            <a:r>
              <a:rPr sz="2100" b="1" i="0">
                <a:solidFill>
                  <a:srgbClr val="FFFFFF"/>
                </a:solidFill>
                <a:latin typeface="Calibri"/>
              </a:rPr>
              <a:t>3</a:t>
            </a:r>
          </a:p>
        </p:txBody>
      </p:sp>
      <p:sp>
        <p:nvSpPr>
          <p:cNvPr id="39" name="TextBox 38"/>
          <p:cNvSpPr txBox="1"/>
          <p:nvPr/>
        </p:nvSpPr>
        <p:spPr>
          <a:xfrm>
            <a:off x="13167360" y="5404104"/>
            <a:ext cx="4572000" cy="1371600"/>
          </a:xfrm>
          <a:prstGeom prst="rect">
            <a:avLst/>
          </a:prstGeom>
          <a:noFill/>
        </p:spPr>
        <p:txBody>
          <a:bodyPr wrap="square" lIns="0" rIns="0" tIns="0" bIns="0" anchor="t">
            <a:noAutofit/>
          </a:bodyPr>
          <a:lstStyle/>
          <a:p>
            <a:pPr algn="l">
              <a:spcAft>
                <a:spcPts val="200"/>
              </a:spcAft>
            </a:pPr>
            <a:r>
              <a:rPr sz="2300" b="1" i="0">
                <a:solidFill>
                  <a:srgbClr val="1F2933"/>
                </a:solidFill>
                <a:latin typeface="Calibri"/>
              </a:rPr>
              <a:t>Prepaid peer-to-peer trading</a:t>
            </a:r>
          </a:p>
          <a:p>
            <a:pPr algn="l">
              <a:spcAft>
                <a:spcPts val="600"/>
              </a:spcAft>
            </a:pPr>
            <a:r>
              <a:rPr sz="2000" b="0" i="0">
                <a:solidFill>
                  <a:srgbClr val="4B5563"/>
                </a:solidFill>
                <a:latin typeface="Calibri"/>
              </a:rPr>
              <a:t>Neighbours tap an RFID card and buy local solar surplus.</a:t>
            </a:r>
          </a:p>
        </p:txBody>
      </p:sp>
      <p:sp>
        <p:nvSpPr>
          <p:cNvPr id="40" name="Oval 39"/>
          <p:cNvSpPr/>
          <p:nvPr/>
        </p:nvSpPr>
        <p:spPr>
          <a:xfrm>
            <a:off x="12344400" y="6986016"/>
            <a:ext cx="640080" cy="64008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54864" bIns="54864" wrap="square">
            <a:noAutofit/>
          </a:bodyPr>
          <a:lstStyle/>
          <a:p>
            <a:pPr algn="ctr">
              <a:spcAft>
                <a:spcPts val="400"/>
              </a:spcAft>
            </a:pPr>
            <a:r>
              <a:rPr sz="2100" b="1" i="0">
                <a:solidFill>
                  <a:srgbClr val="FFFFFF"/>
                </a:solidFill>
                <a:latin typeface="Calibri"/>
              </a:rPr>
              <a:t>4</a:t>
            </a:r>
          </a:p>
        </p:txBody>
      </p:sp>
      <p:sp>
        <p:nvSpPr>
          <p:cNvPr id="41" name="TextBox 40"/>
          <p:cNvSpPr txBox="1"/>
          <p:nvPr/>
        </p:nvSpPr>
        <p:spPr>
          <a:xfrm>
            <a:off x="13167360" y="6848856"/>
            <a:ext cx="4572000" cy="1371600"/>
          </a:xfrm>
          <a:prstGeom prst="rect">
            <a:avLst/>
          </a:prstGeom>
          <a:noFill/>
        </p:spPr>
        <p:txBody>
          <a:bodyPr wrap="square" lIns="0" rIns="0" tIns="0" bIns="0" anchor="t">
            <a:noAutofit/>
          </a:bodyPr>
          <a:lstStyle/>
          <a:p>
            <a:pPr algn="l">
              <a:spcAft>
                <a:spcPts val="200"/>
              </a:spcAft>
            </a:pPr>
            <a:r>
              <a:rPr sz="2300" b="1" i="0">
                <a:solidFill>
                  <a:srgbClr val="1F2933"/>
                </a:solidFill>
                <a:latin typeface="Calibri"/>
              </a:rPr>
              <a:t>Fault isolation</a:t>
            </a:r>
          </a:p>
          <a:p>
            <a:pPr algn="l">
              <a:spcAft>
                <a:spcPts val="600"/>
              </a:spcAft>
            </a:pPr>
            <a:r>
              <a:rPr sz="2000" b="0" i="0">
                <a:solidFill>
                  <a:srgbClr val="4B5563"/>
                </a:solidFill>
                <a:latin typeface="Calibri"/>
              </a:rPr>
              <a:t>An overloaded house is tripped; the rest of the bus stays up.</a:t>
            </a:r>
          </a:p>
        </p:txBody>
      </p:sp>
      <p:sp>
        <p:nvSpPr>
          <p:cNvPr id="42" name="Oval 41"/>
          <p:cNvSpPr/>
          <p:nvPr/>
        </p:nvSpPr>
        <p:spPr>
          <a:xfrm>
            <a:off x="12344400" y="8430768"/>
            <a:ext cx="640080" cy="640080"/>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54864" bIns="54864" wrap="square">
            <a:noAutofit/>
          </a:bodyPr>
          <a:lstStyle/>
          <a:p>
            <a:pPr algn="ctr">
              <a:spcAft>
                <a:spcPts val="400"/>
              </a:spcAft>
            </a:pPr>
            <a:r>
              <a:rPr sz="2100" b="1" i="0">
                <a:solidFill>
                  <a:srgbClr val="FFFFFF"/>
                </a:solidFill>
                <a:latin typeface="Calibri"/>
              </a:rPr>
              <a:t>5</a:t>
            </a:r>
          </a:p>
        </p:txBody>
      </p:sp>
      <p:sp>
        <p:nvSpPr>
          <p:cNvPr id="43" name="TextBox 42"/>
          <p:cNvSpPr txBox="1"/>
          <p:nvPr/>
        </p:nvSpPr>
        <p:spPr>
          <a:xfrm>
            <a:off x="13167360" y="8293608"/>
            <a:ext cx="4572000" cy="1371600"/>
          </a:xfrm>
          <a:prstGeom prst="rect">
            <a:avLst/>
          </a:prstGeom>
          <a:noFill/>
        </p:spPr>
        <p:txBody>
          <a:bodyPr wrap="square" lIns="0" rIns="0" tIns="0" bIns="0" anchor="t">
            <a:noAutofit/>
          </a:bodyPr>
          <a:lstStyle/>
          <a:p>
            <a:pPr algn="l">
              <a:spcAft>
                <a:spcPts val="200"/>
              </a:spcAft>
            </a:pPr>
            <a:r>
              <a:rPr sz="2300" b="1" i="0">
                <a:solidFill>
                  <a:srgbClr val="1F2933"/>
                </a:solidFill>
                <a:latin typeface="Calibri"/>
              </a:rPr>
              <a:t>Safe reconnection</a:t>
            </a:r>
          </a:p>
          <a:p>
            <a:pPr algn="l">
              <a:spcAft>
                <a:spcPts val="600"/>
              </a:spcAft>
            </a:pPr>
            <a:r>
              <a:rPr sz="2000" b="0" i="0">
                <a:solidFill>
                  <a:srgbClr val="4B5563"/>
                </a:solidFill>
                <a:latin typeface="Calibri"/>
              </a:rPr>
              <a:t>Reconnects only after 10 s of a stable grid.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8640" y="1325880"/>
            <a:ext cx="17190720" cy="868680"/>
          </a:xfrm>
          <a:prstGeom prst="rect">
            <a:avLst/>
          </a:prstGeom>
        </p:spPr>
        <p:txBody>
          <a:bodyPr lIns="0" tIns="0" rIns="0" bIns="0" rtlCol="0" anchor="t" wrap="square">
            <a:spAutoFit/>
          </a:bodyPr>
          <a:lstStyle/>
          <a:p>
            <a:pPr algn="l">
              <a:lnSpc>
                <a:spcPts val="7279"/>
              </a:lnSpc>
            </a:pPr>
            <a:r>
              <a:rPr lang="en-US" sz="4400" b="1">
                <a:solidFill>
                  <a:srgbClr val="000000"/>
                </a:solidFill>
                <a:latin typeface="Canva Sans Bold"/>
                <a:ea typeface="Canva Sans Bold"/>
                <a:cs typeface="Canva Sans Bold"/>
                <a:sym typeface="Canva Sans Bold"/>
              </a:rPr>
              <a:t>Technical approach: hardware &amp; software</a:t>
            </a:r>
          </a:p>
        </p:txBody>
      </p:sp>
      <p:grpSp>
        <p:nvGrpSpPr>
          <p:cNvPr id="3" name="Group 3"/>
          <p:cNvGrpSpPr/>
          <p:nvPr/>
        </p:nvGrpSpPr>
        <p:grpSpPr>
          <a:xfrm>
            <a:off x="535200" y="-81549"/>
            <a:ext cx="17503283" cy="1576346"/>
            <a:chOff x="0" y="0"/>
            <a:chExt cx="23337711" cy="2101794"/>
          </a:xfrm>
        </p:grpSpPr>
        <p:grpSp>
          <p:nvGrpSpPr>
            <p:cNvPr id="4" name="Group 4"/>
            <p:cNvGrpSpPr/>
            <p:nvPr/>
          </p:nvGrpSpPr>
          <p:grpSpPr>
            <a:xfrm>
              <a:off x="0" y="0"/>
              <a:ext cx="2390534" cy="2101794"/>
              <a:chOff x="0" y="0"/>
              <a:chExt cx="2451880" cy="2155730"/>
            </a:xfrm>
          </p:grpSpPr>
          <p:sp>
            <p:nvSpPr>
              <p:cNvPr id="5" name="Freeform 5"/>
              <p:cNvSpPr/>
              <p:nvPr/>
            </p:nvSpPr>
            <p:spPr>
              <a:xfrm>
                <a:off x="0" y="0"/>
                <a:ext cx="2451818" cy="2155743"/>
              </a:xfrm>
              <a:custGeom>
                <a:avLst/>
                <a:gdLst/>
                <a:ahLst/>
                <a:cxnLst/>
                <a:rect l="l" t="t" r="r" b="b"/>
                <a:pathLst>
                  <a:path w="2451818" h="2155743">
                    <a:moveTo>
                      <a:pt x="0" y="0"/>
                    </a:moveTo>
                    <a:lnTo>
                      <a:pt x="2451818" y="0"/>
                    </a:lnTo>
                    <a:lnTo>
                      <a:pt x="2451818" y="2155743"/>
                    </a:lnTo>
                    <a:lnTo>
                      <a:pt x="0" y="2155743"/>
                    </a:lnTo>
                    <a:lnTo>
                      <a:pt x="0" y="0"/>
                    </a:lnTo>
                    <a:close/>
                  </a:path>
                </a:pathLst>
              </a:custGeom>
              <a:blipFill>
                <a:blip r:embed="rId2"/>
                <a:stretch>
                  <a:fillRect l="-43229" r="-67848" b="-8030"/>
                </a:stretch>
              </a:blipFill>
            </p:spPr>
          </p:sp>
        </p:grpSp>
        <p:grpSp>
          <p:nvGrpSpPr>
            <p:cNvPr id="6" name="Group 6"/>
            <p:cNvGrpSpPr/>
            <p:nvPr/>
          </p:nvGrpSpPr>
          <p:grpSpPr>
            <a:xfrm>
              <a:off x="18545475" y="247188"/>
              <a:ext cx="1586845" cy="1627422"/>
              <a:chOff x="0" y="0"/>
              <a:chExt cx="1808366" cy="1854606"/>
            </a:xfrm>
          </p:grpSpPr>
          <p:sp>
            <p:nvSpPr>
              <p:cNvPr id="7" name="Freeform 7"/>
              <p:cNvSpPr/>
              <p:nvPr/>
            </p:nvSpPr>
            <p:spPr>
              <a:xfrm>
                <a:off x="0" y="0"/>
                <a:ext cx="1808353" cy="1854581"/>
              </a:xfrm>
              <a:custGeom>
                <a:avLst/>
                <a:gdLst/>
                <a:ahLst/>
                <a:cxnLst/>
                <a:rect l="l" t="t" r="r" b="b"/>
                <a:pathLst>
                  <a:path w="1808353" h="1854581">
                    <a:moveTo>
                      <a:pt x="0" y="0"/>
                    </a:moveTo>
                    <a:lnTo>
                      <a:pt x="1808353" y="0"/>
                    </a:lnTo>
                    <a:lnTo>
                      <a:pt x="1808353" y="1854581"/>
                    </a:lnTo>
                    <a:lnTo>
                      <a:pt x="0" y="1854581"/>
                    </a:lnTo>
                    <a:lnTo>
                      <a:pt x="0" y="0"/>
                    </a:lnTo>
                    <a:close/>
                  </a:path>
                </a:pathLst>
              </a:custGeom>
              <a:blipFill>
                <a:blip r:embed="rId3"/>
                <a:stretch>
                  <a:fillRect l="-63953" r="-63953" b="-1"/>
                </a:stretch>
              </a:blipFill>
            </p:spPr>
          </p:sp>
        </p:grpSp>
        <p:grpSp>
          <p:nvGrpSpPr>
            <p:cNvPr id="8" name="Group 8"/>
            <p:cNvGrpSpPr/>
            <p:nvPr/>
          </p:nvGrpSpPr>
          <p:grpSpPr>
            <a:xfrm>
              <a:off x="20344893" y="291523"/>
              <a:ext cx="2992818" cy="1380820"/>
              <a:chOff x="0" y="0"/>
              <a:chExt cx="2992818" cy="1380820"/>
            </a:xfrm>
          </p:grpSpPr>
          <p:sp>
            <p:nvSpPr>
              <p:cNvPr id="9" name="Freeform 9"/>
              <p:cNvSpPr/>
              <p:nvPr/>
            </p:nvSpPr>
            <p:spPr>
              <a:xfrm>
                <a:off x="0" y="0"/>
                <a:ext cx="2992882" cy="1380871"/>
              </a:xfrm>
              <a:custGeom>
                <a:avLst/>
                <a:gdLst/>
                <a:ahLst/>
                <a:cxnLst/>
                <a:rect l="l" t="t" r="r" b="b"/>
                <a:pathLst>
                  <a:path w="2992882" h="1380871">
                    <a:moveTo>
                      <a:pt x="0" y="0"/>
                    </a:moveTo>
                    <a:lnTo>
                      <a:pt x="2992882" y="0"/>
                    </a:lnTo>
                    <a:lnTo>
                      <a:pt x="2992882" y="1380871"/>
                    </a:lnTo>
                    <a:lnTo>
                      <a:pt x="0" y="1380871"/>
                    </a:lnTo>
                    <a:lnTo>
                      <a:pt x="0" y="0"/>
                    </a:lnTo>
                    <a:close/>
                  </a:path>
                </a:pathLst>
              </a:custGeom>
              <a:blipFill>
                <a:blip r:embed="rId4"/>
                <a:stretch>
                  <a:fillRect l="-1264" r="-1261" b="3"/>
                </a:stretch>
              </a:blipFill>
            </p:spPr>
          </p:sp>
        </p:grpSp>
        <p:sp>
          <p:nvSpPr>
            <p:cNvPr id="10" name="TextBox 10"/>
            <p:cNvSpPr txBox="1"/>
            <p:nvPr/>
          </p:nvSpPr>
          <p:spPr>
            <a:xfrm>
              <a:off x="3986137" y="60414"/>
              <a:ext cx="14984527" cy="1814195"/>
            </a:xfrm>
            <a:prstGeom prst="rect">
              <a:avLst/>
            </a:prstGeom>
          </p:spPr>
          <p:txBody>
            <a:bodyPr lIns="0" tIns="0" rIns="0" bIns="0" rtlCol="0" anchor="t">
              <a:spAutoFit/>
            </a:bodyPr>
            <a:lstStyle/>
            <a:p>
              <a:pPr algn="ctr">
                <a:lnSpc>
                  <a:spcPts val="6160"/>
                </a:lnSpc>
              </a:pPr>
              <a:r>
                <a:rPr lang="en-US" sz="4400">
                  <a:solidFill>
                    <a:srgbClr val="692B39"/>
                  </a:solidFill>
                  <a:latin typeface="Times New Roman"/>
                  <a:ea typeface="Times New Roman"/>
                  <a:cs typeface="Times New Roman"/>
                  <a:sym typeface="Times New Roman"/>
                </a:rPr>
                <a:t>Walchand College of Engineering, Sangli</a:t>
              </a:r>
            </a:p>
            <a:p>
              <a:pPr algn="ctr">
                <a:lnSpc>
                  <a:spcPts val="4759"/>
                </a:lnSpc>
              </a:pPr>
              <a:r>
                <a:rPr lang="en-US" sz="3399">
                  <a:solidFill>
                    <a:srgbClr val="692B39"/>
                  </a:solidFill>
                  <a:latin typeface="Times New Roman"/>
                  <a:ea typeface="Times New Roman"/>
                  <a:cs typeface="Times New Roman"/>
                  <a:sym typeface="Times New Roman"/>
                </a:rPr>
                <a:t>A Goverment-Aided Autonomous Institute</a:t>
              </a:r>
            </a:p>
          </p:txBody>
        </p:sp>
      </p:grpSp>
      <p:sp>
        <p:nvSpPr>
          <p:cNvPr id="11" name="TextBox 10"/>
          <p:cNvSpPr txBox="1"/>
          <p:nvPr/>
        </p:nvSpPr>
        <p:spPr>
          <a:xfrm>
            <a:off x="548640" y="2423160"/>
            <a:ext cx="9692640" cy="548640"/>
          </a:xfrm>
          <a:prstGeom prst="rect">
            <a:avLst/>
          </a:prstGeom>
          <a:noFill/>
        </p:spPr>
        <p:txBody>
          <a:bodyPr wrap="square" lIns="0" rIns="0" tIns="0" bIns="0" anchor="t">
            <a:noAutofit/>
          </a:bodyPr>
          <a:lstStyle/>
          <a:p>
            <a:pPr algn="l">
              <a:spcAft>
                <a:spcPts val="600"/>
              </a:spcAft>
            </a:pPr>
            <a:r>
              <a:rPr sz="3000" b="1" i="0">
                <a:solidFill>
                  <a:srgbClr val="7A1F2B"/>
                </a:solidFill>
                <a:latin typeface="Calibri"/>
              </a:rPr>
              <a:t>Hardware</a:t>
            </a:r>
          </a:p>
        </p:txBody>
      </p:sp>
      <p:sp>
        <p:nvSpPr>
          <p:cNvPr id="12" name="Rounded Rectangle 11"/>
          <p:cNvSpPr/>
          <p:nvPr/>
        </p:nvSpPr>
        <p:spPr>
          <a:xfrm>
            <a:off x="548640" y="3063240"/>
            <a:ext cx="9692640" cy="804672"/>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54864" bIns="54864" wrap="square">
            <a:noAutofit/>
          </a:bodyPr>
          <a:lstStyle/>
          <a:p>
            <a:pPr algn="l">
              <a:spcAft>
                <a:spcPts val="400"/>
              </a:spcAft>
            </a:pPr>
            <a:r>
              <a:rPr sz="2200" b="1" i="0">
                <a:solidFill>
                  <a:srgbClr val="1F2933"/>
                </a:solidFill>
                <a:latin typeface="Calibri"/>
              </a:rPr>
              <a:t>Controllers:  </a:t>
            </a:r>
            <a:r>
              <a:rPr sz="2200" b="0" i="0">
                <a:solidFill>
                  <a:srgbClr val="1F2933"/>
                </a:solidFill>
                <a:latin typeface="Calibri"/>
              </a:rPr>
              <a:t>3× ESP32 (community node + 2 house meters), Raspberry Pi 4 hub</a:t>
            </a:r>
          </a:p>
        </p:txBody>
      </p:sp>
      <p:sp>
        <p:nvSpPr>
          <p:cNvPr id="13" name="Rounded Rectangle 12"/>
          <p:cNvSpPr/>
          <p:nvPr/>
        </p:nvSpPr>
        <p:spPr>
          <a:xfrm>
            <a:off x="548640" y="3977639"/>
            <a:ext cx="9692640" cy="804672"/>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54864" bIns="54864" wrap="square">
            <a:noAutofit/>
          </a:bodyPr>
          <a:lstStyle/>
          <a:p>
            <a:pPr algn="l">
              <a:spcAft>
                <a:spcPts val="400"/>
              </a:spcAft>
            </a:pPr>
            <a:r>
              <a:rPr sz="2200" b="1" i="0">
                <a:solidFill>
                  <a:srgbClr val="1F2933"/>
                </a:solidFill>
                <a:latin typeface="Calibri"/>
              </a:rPr>
              <a:t>Power:  </a:t>
            </a:r>
            <a:r>
              <a:rPr sz="2200" b="0" i="0">
                <a:solidFill>
                  <a:srgbClr val="1F2933"/>
                </a:solidFill>
                <a:latin typeface="Calibri"/>
              </a:rPr>
              <a:t>12 V 7 Ah SLA battery, 12 V 5 A SMPS as grid emulator, 12 V-class solar panel (Vmp ≈ 18 V)</a:t>
            </a:r>
          </a:p>
        </p:txBody>
      </p:sp>
      <p:sp>
        <p:nvSpPr>
          <p:cNvPr id="14" name="Rounded Rectangle 13"/>
          <p:cNvSpPr/>
          <p:nvPr/>
        </p:nvSpPr>
        <p:spPr>
          <a:xfrm>
            <a:off x="548640" y="4892040"/>
            <a:ext cx="9692640" cy="804672"/>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54864" bIns="54864" wrap="square">
            <a:noAutofit/>
          </a:bodyPr>
          <a:lstStyle/>
          <a:p>
            <a:pPr algn="l">
              <a:spcAft>
                <a:spcPts val="400"/>
              </a:spcAft>
            </a:pPr>
            <a:r>
              <a:rPr sz="2200" b="1" i="0">
                <a:solidFill>
                  <a:srgbClr val="1F2933"/>
                </a:solidFill>
                <a:latin typeface="Calibri"/>
              </a:rPr>
              <a:t>Sensing:  </a:t>
            </a:r>
            <a:r>
              <a:rPr sz="2200" b="0" i="0">
                <a:solidFill>
                  <a:srgbClr val="1F2933"/>
                </a:solidFill>
                <a:latin typeface="Calibri"/>
              </a:rPr>
              <a:t>INA219 voltage/current sensors, one per source and house</a:t>
            </a:r>
          </a:p>
        </p:txBody>
      </p:sp>
      <p:sp>
        <p:nvSpPr>
          <p:cNvPr id="15" name="Rounded Rectangle 14"/>
          <p:cNvSpPr/>
          <p:nvPr/>
        </p:nvSpPr>
        <p:spPr>
          <a:xfrm>
            <a:off x="548640" y="5806440"/>
            <a:ext cx="9692640" cy="804672"/>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54864" bIns="54864" wrap="square">
            <a:noAutofit/>
          </a:bodyPr>
          <a:lstStyle/>
          <a:p>
            <a:pPr algn="l">
              <a:spcAft>
                <a:spcPts val="400"/>
              </a:spcAft>
            </a:pPr>
            <a:r>
              <a:rPr sz="2200" b="1" i="0">
                <a:solidFill>
                  <a:srgbClr val="1F2933"/>
                </a:solidFill>
                <a:latin typeface="Calibri"/>
              </a:rPr>
              <a:t>Switching:  </a:t>
            </a:r>
            <a:r>
              <a:rPr sz="2200" b="0" i="0">
                <a:solidFill>
                  <a:srgbClr val="1F2933"/>
                </a:solidFill>
                <a:latin typeface="Calibri"/>
              </a:rPr>
              <a:t>Relay module, P-MOSFET high-side switches on sources, Schottky diodes</a:t>
            </a:r>
          </a:p>
        </p:txBody>
      </p:sp>
      <p:sp>
        <p:nvSpPr>
          <p:cNvPr id="16" name="Rounded Rectangle 15"/>
          <p:cNvSpPr/>
          <p:nvPr/>
        </p:nvSpPr>
        <p:spPr>
          <a:xfrm>
            <a:off x="548640" y="6720840"/>
            <a:ext cx="9692640" cy="804672"/>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54864" bIns="54864" wrap="square">
            <a:noAutofit/>
          </a:bodyPr>
          <a:lstStyle/>
          <a:p>
            <a:pPr algn="l">
              <a:spcAft>
                <a:spcPts val="400"/>
              </a:spcAft>
            </a:pPr>
            <a:r>
              <a:rPr sz="2200" b="1" i="0">
                <a:solidFill>
                  <a:srgbClr val="1F2933"/>
                </a:solidFill>
                <a:latin typeface="Calibri"/>
              </a:rPr>
              <a:t>Metering &amp; UI:  </a:t>
            </a:r>
            <a:r>
              <a:rPr sz="2200" b="0" i="0">
                <a:solidFill>
                  <a:srgbClr val="1F2933"/>
                </a:solidFill>
                <a:latin typeface="Calibri"/>
              </a:rPr>
              <a:t>RC522 RFID reader + cards, 16×2 LCD</a:t>
            </a:r>
          </a:p>
        </p:txBody>
      </p:sp>
      <p:sp>
        <p:nvSpPr>
          <p:cNvPr id="17" name="Rounded Rectangle 16"/>
          <p:cNvSpPr/>
          <p:nvPr/>
        </p:nvSpPr>
        <p:spPr>
          <a:xfrm>
            <a:off x="548640" y="7635240"/>
            <a:ext cx="9692640" cy="804672"/>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54864" bIns="54864" wrap="square">
            <a:noAutofit/>
          </a:bodyPr>
          <a:lstStyle/>
          <a:p>
            <a:pPr algn="l">
              <a:spcAft>
                <a:spcPts val="400"/>
              </a:spcAft>
            </a:pPr>
            <a:r>
              <a:rPr sz="2200" b="1" i="0">
                <a:solidFill>
                  <a:srgbClr val="1F2933"/>
                </a:solidFill>
                <a:latin typeface="Calibri"/>
              </a:rPr>
              <a:t>Loads:  </a:t>
            </a:r>
            <a:r>
              <a:rPr sz="2200" b="0" i="0">
                <a:solidFill>
                  <a:srgbClr val="1F2933"/>
                </a:solidFill>
                <a:latin typeface="Calibri"/>
              </a:rPr>
              <a:t>12 V LED (critical), LED strip / fan (flexible)</a:t>
            </a:r>
          </a:p>
        </p:txBody>
      </p:sp>
      <p:sp>
        <p:nvSpPr>
          <p:cNvPr id="18" name="TextBox 17"/>
          <p:cNvSpPr txBox="1"/>
          <p:nvPr/>
        </p:nvSpPr>
        <p:spPr>
          <a:xfrm>
            <a:off x="10789920" y="2423160"/>
            <a:ext cx="6949440" cy="548640"/>
          </a:xfrm>
          <a:prstGeom prst="rect">
            <a:avLst/>
          </a:prstGeom>
          <a:noFill/>
        </p:spPr>
        <p:txBody>
          <a:bodyPr wrap="square" lIns="0" rIns="0" tIns="0" bIns="0" anchor="t">
            <a:noAutofit/>
          </a:bodyPr>
          <a:lstStyle/>
          <a:p>
            <a:pPr algn="l">
              <a:spcAft>
                <a:spcPts val="600"/>
              </a:spcAft>
            </a:pPr>
            <a:r>
              <a:rPr sz="3000" b="1" i="0">
                <a:solidFill>
                  <a:srgbClr val="0F766E"/>
                </a:solidFill>
                <a:latin typeface="Calibri"/>
              </a:rPr>
              <a:t>Software</a:t>
            </a:r>
          </a:p>
        </p:txBody>
      </p:sp>
      <p:sp>
        <p:nvSpPr>
          <p:cNvPr id="19" name="Rounded Rectangle 18"/>
          <p:cNvSpPr/>
          <p:nvPr/>
        </p:nvSpPr>
        <p:spPr>
          <a:xfrm>
            <a:off x="10789920" y="3063240"/>
            <a:ext cx="6949440" cy="804672"/>
          </a:xfrm>
          <a:prstGeom prst="roundRect">
            <a:avLst>
              <a:gd name="adj" fmla="val 8000"/>
            </a:avLst>
          </a:prstGeom>
          <a:solidFill>
            <a:srgbClr val="E0F2EF"/>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54864" bIns="54864" wrap="square">
            <a:noAutofit/>
          </a:bodyPr>
          <a:lstStyle/>
          <a:p>
            <a:pPr algn="l">
              <a:spcAft>
                <a:spcPts val="400"/>
              </a:spcAft>
            </a:pPr>
            <a:r>
              <a:rPr sz="2100" b="1" i="0">
                <a:solidFill>
                  <a:srgbClr val="1F2933"/>
                </a:solidFill>
                <a:latin typeface="Calibri"/>
              </a:rPr>
              <a:t>Simulation:  </a:t>
            </a:r>
            <a:r>
              <a:rPr sz="2100" b="0" i="0">
                <a:solidFill>
                  <a:srgbClr val="1F2933"/>
                </a:solidFill>
                <a:latin typeface="Calibri"/>
              </a:rPr>
              <a:t>MATLAB digital twin; Simulink / Simscape Electrical</a:t>
            </a:r>
          </a:p>
        </p:txBody>
      </p:sp>
      <p:sp>
        <p:nvSpPr>
          <p:cNvPr id="20" name="Rounded Rectangle 19"/>
          <p:cNvSpPr/>
          <p:nvPr/>
        </p:nvSpPr>
        <p:spPr>
          <a:xfrm>
            <a:off x="10789920" y="3977639"/>
            <a:ext cx="6949440" cy="804672"/>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54864" bIns="54864" wrap="square">
            <a:noAutofit/>
          </a:bodyPr>
          <a:lstStyle/>
          <a:p>
            <a:pPr algn="l">
              <a:spcAft>
                <a:spcPts val="400"/>
              </a:spcAft>
            </a:pPr>
            <a:r>
              <a:rPr sz="2100" b="1" i="0">
                <a:solidFill>
                  <a:srgbClr val="1F2933"/>
                </a:solidFill>
                <a:latin typeface="Calibri"/>
              </a:rPr>
              <a:t>Firmware:  </a:t>
            </a:r>
            <a:r>
              <a:rPr sz="2100" b="0" i="0">
                <a:solidFill>
                  <a:srgbClr val="1F2933"/>
                </a:solidFill>
                <a:latin typeface="Calibri"/>
              </a:rPr>
              <a:t>C++ on ESP32 (Arduino / PlatformIO), constants generated from the MATLAB params file</a:t>
            </a:r>
          </a:p>
        </p:txBody>
      </p:sp>
      <p:sp>
        <p:nvSpPr>
          <p:cNvPr id="21" name="Rounded Rectangle 20"/>
          <p:cNvSpPr/>
          <p:nvPr/>
        </p:nvSpPr>
        <p:spPr>
          <a:xfrm>
            <a:off x="10789920" y="4892040"/>
            <a:ext cx="6949440" cy="804672"/>
          </a:xfrm>
          <a:prstGeom prst="roundRect">
            <a:avLst>
              <a:gd name="adj" fmla="val 8000"/>
            </a:avLst>
          </a:prstGeom>
          <a:solidFill>
            <a:srgbClr val="E0F2EF"/>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54864" bIns="54864" wrap="square">
            <a:noAutofit/>
          </a:bodyPr>
          <a:lstStyle/>
          <a:p>
            <a:pPr algn="l">
              <a:spcAft>
                <a:spcPts val="400"/>
              </a:spcAft>
            </a:pPr>
            <a:r>
              <a:rPr sz="2100" b="1" i="0">
                <a:solidFill>
                  <a:srgbClr val="1F2933"/>
                </a:solidFill>
                <a:latin typeface="Calibri"/>
              </a:rPr>
              <a:t>Messaging:  </a:t>
            </a:r>
            <a:r>
              <a:rPr sz="2100" b="0" i="0">
                <a:solidFill>
                  <a:srgbClr val="1F2933"/>
                </a:solidFill>
                <a:latin typeface="Calibri"/>
              </a:rPr>
              <a:t>MQTT (Mosquitto broker on the Pi)</a:t>
            </a:r>
          </a:p>
        </p:txBody>
      </p:sp>
      <p:sp>
        <p:nvSpPr>
          <p:cNvPr id="22" name="Rounded Rectangle 21"/>
          <p:cNvSpPr/>
          <p:nvPr/>
        </p:nvSpPr>
        <p:spPr>
          <a:xfrm>
            <a:off x="10789920" y="5806440"/>
            <a:ext cx="6949440" cy="804672"/>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54864" bIns="54864" wrap="square">
            <a:noAutofit/>
          </a:bodyPr>
          <a:lstStyle/>
          <a:p>
            <a:pPr algn="l">
              <a:spcAft>
                <a:spcPts val="400"/>
              </a:spcAft>
            </a:pPr>
            <a:r>
              <a:rPr sz="2100" b="1" i="0">
                <a:solidFill>
                  <a:srgbClr val="1F2933"/>
                </a:solidFill>
                <a:latin typeface="Calibri"/>
              </a:rPr>
              <a:t>Data &amp; UI:  </a:t>
            </a:r>
            <a:r>
              <a:rPr sz="2100" b="0" i="0">
                <a:solidFill>
                  <a:srgbClr val="1F2933"/>
                </a:solidFill>
                <a:latin typeface="Calibri"/>
              </a:rPr>
              <a:t>Python: ledger database, web dashboard</a:t>
            </a:r>
          </a:p>
        </p:txBody>
      </p:sp>
      <p:sp>
        <p:nvSpPr>
          <p:cNvPr id="23" name="Rounded Rectangle 22"/>
          <p:cNvSpPr/>
          <p:nvPr/>
        </p:nvSpPr>
        <p:spPr>
          <a:xfrm>
            <a:off x="10789920" y="6720840"/>
            <a:ext cx="6949440" cy="804672"/>
          </a:xfrm>
          <a:prstGeom prst="roundRect">
            <a:avLst>
              <a:gd name="adj" fmla="val 8000"/>
            </a:avLst>
          </a:prstGeom>
          <a:solidFill>
            <a:srgbClr val="E0F2EF"/>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54864" bIns="54864" wrap="square">
            <a:noAutofit/>
          </a:bodyPr>
          <a:lstStyle/>
          <a:p>
            <a:pPr algn="l">
              <a:spcAft>
                <a:spcPts val="400"/>
              </a:spcAft>
            </a:pPr>
            <a:r>
              <a:rPr sz="2100" b="1" i="0">
                <a:solidFill>
                  <a:srgbClr val="1F2933"/>
                </a:solidFill>
                <a:latin typeface="Calibri"/>
              </a:rPr>
              <a:t>AI / ML:  </a:t>
            </a:r>
            <a:r>
              <a:rPr sz="2100" b="0" i="0">
                <a:solidFill>
                  <a:srgbClr val="1F2933"/>
                </a:solidFill>
                <a:latin typeface="Calibri"/>
              </a:rPr>
              <a:t>Python: optimisation and forecasting (planned)</a:t>
            </a:r>
          </a:p>
        </p:txBody>
      </p:sp>
      <p:sp>
        <p:nvSpPr>
          <p:cNvPr id="24" name="Rounded Rectangle 23"/>
          <p:cNvSpPr/>
          <p:nvPr/>
        </p:nvSpPr>
        <p:spPr>
          <a:xfrm>
            <a:off x="548640" y="8732520"/>
            <a:ext cx="17190720" cy="960120"/>
          </a:xfrm>
          <a:prstGeom prst="roundRect">
            <a:avLst>
              <a:gd name="adj" fmla="val 8000"/>
            </a:avLst>
          </a:prstGeom>
          <a:solidFill>
            <a:srgbClr val="F7ECEE"/>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54864" bIns="54864" wrap="square">
            <a:noAutofit/>
          </a:bodyPr>
          <a:lstStyle/>
          <a:p>
            <a:pPr algn="l">
              <a:spcAft>
                <a:spcPts val="400"/>
              </a:spcAft>
            </a:pPr>
            <a:r>
              <a:rPr sz="2300" b="1" i="0">
                <a:solidFill>
                  <a:srgbClr val="7A1F2B"/>
                </a:solidFill>
                <a:latin typeface="Calibri"/>
              </a:rPr>
              <a:t>Safety by design:  </a:t>
            </a:r>
            <a:r>
              <a:rPr sz="2300" b="0" i="0">
                <a:solidFill>
                  <a:srgbClr val="1F2933"/>
                </a:solidFill>
                <a:latin typeface="Calibri"/>
              </a:rPr>
              <a:t>12 V DC only  ·  a fuse on every source  ·  E-stop cuts the switch-driver supply  ·  every switch OFF at power-up  ·  shared ground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8640" y="1325880"/>
            <a:ext cx="17190720" cy="868680"/>
          </a:xfrm>
          <a:prstGeom prst="rect">
            <a:avLst/>
          </a:prstGeom>
        </p:spPr>
        <p:txBody>
          <a:bodyPr lIns="0" tIns="0" rIns="0" bIns="0" rtlCol="0" anchor="t" wrap="square">
            <a:spAutoFit/>
          </a:bodyPr>
          <a:lstStyle/>
          <a:p>
            <a:pPr algn="l">
              <a:lnSpc>
                <a:spcPts val="7279"/>
              </a:lnSpc>
            </a:pPr>
            <a:r>
              <a:rPr lang="en-US" sz="4400" b="1">
                <a:solidFill>
                  <a:srgbClr val="000000"/>
                </a:solidFill>
                <a:latin typeface="Canva Sans Bold"/>
                <a:ea typeface="Canva Sans Bold"/>
                <a:cs typeface="Canva Sans Bold"/>
                <a:sym typeface="Canva Sans Bold"/>
              </a:rPr>
              <a:t>Technical approach: control logic</a:t>
            </a:r>
          </a:p>
        </p:txBody>
      </p:sp>
      <p:grpSp>
        <p:nvGrpSpPr>
          <p:cNvPr id="3" name="Group 3"/>
          <p:cNvGrpSpPr/>
          <p:nvPr/>
        </p:nvGrpSpPr>
        <p:grpSpPr>
          <a:xfrm>
            <a:off x="535200" y="-81549"/>
            <a:ext cx="17503283" cy="1576346"/>
            <a:chOff x="0" y="0"/>
            <a:chExt cx="23337711" cy="2101794"/>
          </a:xfrm>
        </p:grpSpPr>
        <p:grpSp>
          <p:nvGrpSpPr>
            <p:cNvPr id="4" name="Group 4"/>
            <p:cNvGrpSpPr/>
            <p:nvPr/>
          </p:nvGrpSpPr>
          <p:grpSpPr>
            <a:xfrm>
              <a:off x="0" y="0"/>
              <a:ext cx="2390534" cy="2101794"/>
              <a:chOff x="0" y="0"/>
              <a:chExt cx="2451880" cy="2155730"/>
            </a:xfrm>
          </p:grpSpPr>
          <p:sp>
            <p:nvSpPr>
              <p:cNvPr id="5" name="Freeform 5"/>
              <p:cNvSpPr/>
              <p:nvPr/>
            </p:nvSpPr>
            <p:spPr>
              <a:xfrm>
                <a:off x="0" y="0"/>
                <a:ext cx="2451818" cy="2155743"/>
              </a:xfrm>
              <a:custGeom>
                <a:avLst/>
                <a:gdLst/>
                <a:ahLst/>
                <a:cxnLst/>
                <a:rect l="l" t="t" r="r" b="b"/>
                <a:pathLst>
                  <a:path w="2451818" h="2155743">
                    <a:moveTo>
                      <a:pt x="0" y="0"/>
                    </a:moveTo>
                    <a:lnTo>
                      <a:pt x="2451818" y="0"/>
                    </a:lnTo>
                    <a:lnTo>
                      <a:pt x="2451818" y="2155743"/>
                    </a:lnTo>
                    <a:lnTo>
                      <a:pt x="0" y="2155743"/>
                    </a:lnTo>
                    <a:lnTo>
                      <a:pt x="0" y="0"/>
                    </a:lnTo>
                    <a:close/>
                  </a:path>
                </a:pathLst>
              </a:custGeom>
              <a:blipFill>
                <a:blip r:embed="rId2"/>
                <a:stretch>
                  <a:fillRect l="-43229" r="-67848" b="-8030"/>
                </a:stretch>
              </a:blipFill>
            </p:spPr>
          </p:sp>
        </p:grpSp>
        <p:grpSp>
          <p:nvGrpSpPr>
            <p:cNvPr id="6" name="Group 6"/>
            <p:cNvGrpSpPr/>
            <p:nvPr/>
          </p:nvGrpSpPr>
          <p:grpSpPr>
            <a:xfrm>
              <a:off x="18545475" y="247188"/>
              <a:ext cx="1586845" cy="1627422"/>
              <a:chOff x="0" y="0"/>
              <a:chExt cx="1808366" cy="1854606"/>
            </a:xfrm>
          </p:grpSpPr>
          <p:sp>
            <p:nvSpPr>
              <p:cNvPr id="7" name="Freeform 7"/>
              <p:cNvSpPr/>
              <p:nvPr/>
            </p:nvSpPr>
            <p:spPr>
              <a:xfrm>
                <a:off x="0" y="0"/>
                <a:ext cx="1808353" cy="1854581"/>
              </a:xfrm>
              <a:custGeom>
                <a:avLst/>
                <a:gdLst/>
                <a:ahLst/>
                <a:cxnLst/>
                <a:rect l="l" t="t" r="r" b="b"/>
                <a:pathLst>
                  <a:path w="1808353" h="1854581">
                    <a:moveTo>
                      <a:pt x="0" y="0"/>
                    </a:moveTo>
                    <a:lnTo>
                      <a:pt x="1808353" y="0"/>
                    </a:lnTo>
                    <a:lnTo>
                      <a:pt x="1808353" y="1854581"/>
                    </a:lnTo>
                    <a:lnTo>
                      <a:pt x="0" y="1854581"/>
                    </a:lnTo>
                    <a:lnTo>
                      <a:pt x="0" y="0"/>
                    </a:lnTo>
                    <a:close/>
                  </a:path>
                </a:pathLst>
              </a:custGeom>
              <a:blipFill>
                <a:blip r:embed="rId3"/>
                <a:stretch>
                  <a:fillRect l="-63953" r="-63953" b="-1"/>
                </a:stretch>
              </a:blipFill>
            </p:spPr>
          </p:sp>
        </p:grpSp>
        <p:grpSp>
          <p:nvGrpSpPr>
            <p:cNvPr id="8" name="Group 8"/>
            <p:cNvGrpSpPr/>
            <p:nvPr/>
          </p:nvGrpSpPr>
          <p:grpSpPr>
            <a:xfrm>
              <a:off x="20344893" y="291523"/>
              <a:ext cx="2992818" cy="1380820"/>
              <a:chOff x="0" y="0"/>
              <a:chExt cx="2992818" cy="1380820"/>
            </a:xfrm>
          </p:grpSpPr>
          <p:sp>
            <p:nvSpPr>
              <p:cNvPr id="9" name="Freeform 9"/>
              <p:cNvSpPr/>
              <p:nvPr/>
            </p:nvSpPr>
            <p:spPr>
              <a:xfrm>
                <a:off x="0" y="0"/>
                <a:ext cx="2992882" cy="1380871"/>
              </a:xfrm>
              <a:custGeom>
                <a:avLst/>
                <a:gdLst/>
                <a:ahLst/>
                <a:cxnLst/>
                <a:rect l="l" t="t" r="r" b="b"/>
                <a:pathLst>
                  <a:path w="2992882" h="1380871">
                    <a:moveTo>
                      <a:pt x="0" y="0"/>
                    </a:moveTo>
                    <a:lnTo>
                      <a:pt x="2992882" y="0"/>
                    </a:lnTo>
                    <a:lnTo>
                      <a:pt x="2992882" y="1380871"/>
                    </a:lnTo>
                    <a:lnTo>
                      <a:pt x="0" y="1380871"/>
                    </a:lnTo>
                    <a:lnTo>
                      <a:pt x="0" y="0"/>
                    </a:lnTo>
                    <a:close/>
                  </a:path>
                </a:pathLst>
              </a:custGeom>
              <a:blipFill>
                <a:blip r:embed="rId4"/>
                <a:stretch>
                  <a:fillRect l="-1264" r="-1261" b="3"/>
                </a:stretch>
              </a:blipFill>
            </p:spPr>
          </p:sp>
        </p:grpSp>
        <p:sp>
          <p:nvSpPr>
            <p:cNvPr id="10" name="TextBox 10"/>
            <p:cNvSpPr txBox="1"/>
            <p:nvPr/>
          </p:nvSpPr>
          <p:spPr>
            <a:xfrm>
              <a:off x="3986137" y="60414"/>
              <a:ext cx="14984527" cy="1814195"/>
            </a:xfrm>
            <a:prstGeom prst="rect">
              <a:avLst/>
            </a:prstGeom>
          </p:spPr>
          <p:txBody>
            <a:bodyPr lIns="0" tIns="0" rIns="0" bIns="0" rtlCol="0" anchor="t">
              <a:spAutoFit/>
            </a:bodyPr>
            <a:lstStyle/>
            <a:p>
              <a:pPr algn="ctr">
                <a:lnSpc>
                  <a:spcPts val="6160"/>
                </a:lnSpc>
              </a:pPr>
              <a:r>
                <a:rPr lang="en-US" sz="4400">
                  <a:solidFill>
                    <a:srgbClr val="692B39"/>
                  </a:solidFill>
                  <a:latin typeface="Times New Roman"/>
                  <a:ea typeface="Times New Roman"/>
                  <a:cs typeface="Times New Roman"/>
                  <a:sym typeface="Times New Roman"/>
                </a:rPr>
                <a:t>Walchand College of Engineering, Sangli</a:t>
              </a:r>
            </a:p>
            <a:p>
              <a:pPr algn="ctr">
                <a:lnSpc>
                  <a:spcPts val="4759"/>
                </a:lnSpc>
              </a:pPr>
              <a:r>
                <a:rPr lang="en-US" sz="3399">
                  <a:solidFill>
                    <a:srgbClr val="692B39"/>
                  </a:solidFill>
                  <a:latin typeface="Times New Roman"/>
                  <a:ea typeface="Times New Roman"/>
                  <a:cs typeface="Times New Roman"/>
                  <a:sym typeface="Times New Roman"/>
                </a:rPr>
                <a:t>A Goverment-Aided Autonomous Institute</a:t>
              </a:r>
            </a:p>
          </p:txBody>
        </p:sp>
      </p:grpSp>
      <p:sp>
        <p:nvSpPr>
          <p:cNvPr id="11" name="Rounded Rectangle 10"/>
          <p:cNvSpPr/>
          <p:nvPr/>
        </p:nvSpPr>
        <p:spPr>
          <a:xfrm>
            <a:off x="640080" y="2651760"/>
            <a:ext cx="2651760" cy="1600200"/>
          </a:xfrm>
          <a:prstGeom prst="roundRect">
            <a:avLst>
              <a:gd name="adj" fmla="val 8000"/>
            </a:avLst>
          </a:prstGeom>
          <a:solidFill>
            <a:srgbClr val="F3F4F6"/>
          </a:solidFill>
          <a:ln w="25400">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54864" bIns="54864" wrap="square">
            <a:noAutofit/>
          </a:bodyPr>
          <a:lstStyle/>
          <a:p>
            <a:pPr algn="ctr">
              <a:spcAft>
                <a:spcPts val="400"/>
              </a:spcAft>
            </a:pPr>
            <a:r>
              <a:rPr sz="2800" b="1" i="0">
                <a:solidFill>
                  <a:srgbClr val="1F2933"/>
                </a:solidFill>
                <a:latin typeface="Calibri"/>
              </a:rPr>
              <a:t>BOOT</a:t>
            </a:r>
          </a:p>
          <a:p>
            <a:pPr algn="ctr">
              <a:spcAft>
                <a:spcPts val="400"/>
              </a:spcAft>
            </a:pPr>
            <a:r>
              <a:rPr sz="2000" b="0" i="0">
                <a:solidFill>
                  <a:srgbClr val="4B5563"/>
                </a:solidFill>
                <a:latin typeface="Calibri"/>
              </a:rPr>
              <a:t>Everything OFF for 2 s</a:t>
            </a:r>
          </a:p>
        </p:txBody>
      </p:sp>
      <p:sp>
        <p:nvSpPr>
          <p:cNvPr id="12" name="Rounded Rectangle 11"/>
          <p:cNvSpPr/>
          <p:nvPr/>
        </p:nvSpPr>
        <p:spPr>
          <a:xfrm>
            <a:off x="4297680" y="2651760"/>
            <a:ext cx="4023360" cy="1600200"/>
          </a:xfrm>
          <a:prstGeom prst="roundRect">
            <a:avLst>
              <a:gd name="adj" fmla="val 8000"/>
            </a:avLst>
          </a:prstGeom>
          <a:solidFill>
            <a:srgbClr val="E0F2EF"/>
          </a:solidFill>
          <a:ln w="2540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54864" bIns="54864" wrap="square">
            <a:noAutofit/>
          </a:bodyPr>
          <a:lstStyle/>
          <a:p>
            <a:pPr algn="ctr">
              <a:spcAft>
                <a:spcPts val="400"/>
              </a:spcAft>
            </a:pPr>
            <a:r>
              <a:rPr sz="2800" b="1" i="0">
                <a:solidFill>
                  <a:srgbClr val="1F2933"/>
                </a:solidFill>
                <a:latin typeface="Calibri"/>
              </a:rPr>
              <a:t>GRID</a:t>
            </a:r>
          </a:p>
          <a:p>
            <a:pPr algn="ctr">
              <a:spcAft>
                <a:spcPts val="400"/>
              </a:spcAft>
            </a:pPr>
            <a:r>
              <a:rPr sz="2000" b="0" i="0">
                <a:solidFill>
                  <a:srgbClr val="4B5563"/>
                </a:solidFill>
                <a:latin typeface="Calibri"/>
              </a:rPr>
              <a:t>Grid-connected: charge battery, sell surplus</a:t>
            </a:r>
          </a:p>
        </p:txBody>
      </p:sp>
      <p:sp>
        <p:nvSpPr>
          <p:cNvPr id="13" name="Rounded Rectangle 12"/>
          <p:cNvSpPr/>
          <p:nvPr/>
        </p:nvSpPr>
        <p:spPr>
          <a:xfrm>
            <a:off x="5669280" y="6949440"/>
            <a:ext cx="4023360" cy="1600200"/>
          </a:xfrm>
          <a:prstGeom prst="roundRect">
            <a:avLst>
              <a:gd name="adj" fmla="val 8000"/>
            </a:avLst>
          </a:prstGeom>
          <a:solidFill>
            <a:srgbClr val="FEF3C7"/>
          </a:solidFill>
          <a:ln w="254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54864" bIns="54864" wrap="square">
            <a:noAutofit/>
          </a:bodyPr>
          <a:lstStyle/>
          <a:p>
            <a:pPr algn="ctr">
              <a:spcAft>
                <a:spcPts val="400"/>
              </a:spcAft>
            </a:pPr>
            <a:r>
              <a:rPr sz="2800" b="1" i="0">
                <a:solidFill>
                  <a:srgbClr val="1F2933"/>
                </a:solidFill>
                <a:latin typeface="Calibri"/>
              </a:rPr>
              <a:t>ISLAND</a:t>
            </a:r>
          </a:p>
          <a:p>
            <a:pPr algn="ctr">
              <a:spcAft>
                <a:spcPts val="400"/>
              </a:spcAft>
            </a:pPr>
            <a:r>
              <a:rPr sz="2000" b="0" i="0">
                <a:solidFill>
                  <a:srgbClr val="4B5563"/>
                </a:solidFill>
                <a:latin typeface="Calibri"/>
              </a:rPr>
              <a:t>Grid switch open: battery + solar run the bus</a:t>
            </a:r>
          </a:p>
        </p:txBody>
      </p:sp>
      <p:sp>
        <p:nvSpPr>
          <p:cNvPr id="14" name="Rounded Rectangle 13"/>
          <p:cNvSpPr/>
          <p:nvPr/>
        </p:nvSpPr>
        <p:spPr>
          <a:xfrm>
            <a:off x="640080" y="6949440"/>
            <a:ext cx="4023360" cy="1600200"/>
          </a:xfrm>
          <a:prstGeom prst="roundRect">
            <a:avLst>
              <a:gd name="adj" fmla="val 8000"/>
            </a:avLst>
          </a:prstGeom>
          <a:solidFill>
            <a:srgbClr val="F7ECEE"/>
          </a:solidFill>
          <a:ln w="25400">
            <a:solidFill>
              <a:srgbClr val="7A1F2B"/>
            </a:solid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54864" bIns="54864" wrap="square">
            <a:noAutofit/>
          </a:bodyPr>
          <a:lstStyle/>
          <a:p>
            <a:pPr algn="ctr">
              <a:spcAft>
                <a:spcPts val="400"/>
              </a:spcAft>
            </a:pPr>
            <a:r>
              <a:rPr sz="2800" b="1" i="0">
                <a:solidFill>
                  <a:srgbClr val="1F2933"/>
                </a:solidFill>
                <a:latin typeface="Calibri"/>
              </a:rPr>
              <a:t>RESYNC</a:t>
            </a:r>
          </a:p>
          <a:p>
            <a:pPr algn="ctr">
              <a:spcAft>
                <a:spcPts val="400"/>
              </a:spcAft>
            </a:pPr>
            <a:r>
              <a:rPr sz="2000" b="0" i="0">
                <a:solidFill>
                  <a:srgbClr val="4B5563"/>
                </a:solidFill>
                <a:latin typeface="Calibri"/>
              </a:rPr>
              <a:t>Grid is back: check voltages match</a:t>
            </a:r>
          </a:p>
        </p:txBody>
      </p:sp>
      <p:cxnSp>
        <p:nvCxnSpPr>
          <p:cNvPr id="15" name="Connector 14"/>
          <p:cNvCxnSpPr/>
          <p:nvPr/>
        </p:nvCxnSpPr>
        <p:spPr>
          <a:xfrm>
            <a:off x="3291840" y="3451860"/>
            <a:ext cx="1005840" cy="0"/>
          </a:xfrm>
          <a:prstGeom prst="line">
            <a:avLst/>
          </a:prstGeom>
          <a:ln w="3810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498079" y="4251960"/>
            <a:ext cx="182881" cy="2697480"/>
          </a:xfrm>
          <a:prstGeom prst="line">
            <a:avLst/>
          </a:prstGeom>
          <a:ln w="38100">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4663440" y="7749540"/>
            <a:ext cx="1005840" cy="0"/>
          </a:xfrm>
          <a:prstGeom prst="line">
            <a:avLst/>
          </a:prstGeom>
          <a:ln w="3810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2651760" y="4251960"/>
            <a:ext cx="2468880" cy="2697480"/>
          </a:xfrm>
          <a:prstGeom prst="line">
            <a:avLst/>
          </a:prstGeom>
          <a:ln w="3810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818120" y="5120640"/>
            <a:ext cx="2194560" cy="1097280"/>
          </a:xfrm>
          <a:prstGeom prst="rect">
            <a:avLst/>
          </a:prstGeom>
          <a:noFill/>
        </p:spPr>
        <p:txBody>
          <a:bodyPr wrap="square" lIns="0" rIns="0" tIns="0" bIns="0" anchor="t">
            <a:noAutofit/>
          </a:bodyPr>
          <a:lstStyle/>
          <a:p>
            <a:pPr algn="l">
              <a:spcAft>
                <a:spcPts val="600"/>
              </a:spcAft>
            </a:pPr>
            <a:r>
              <a:rPr sz="2000" b="1" i="0">
                <a:solidFill>
                  <a:srgbClr val="B45309"/>
                </a:solidFill>
                <a:latin typeface="Calibri"/>
              </a:rPr>
              <a:t>grid lost for 2 s</a:t>
            </a:r>
          </a:p>
        </p:txBody>
      </p:sp>
      <p:sp>
        <p:nvSpPr>
          <p:cNvPr id="20" name="TextBox 19"/>
          <p:cNvSpPr txBox="1"/>
          <p:nvPr/>
        </p:nvSpPr>
        <p:spPr>
          <a:xfrm>
            <a:off x="914400" y="5074920"/>
            <a:ext cx="2743200" cy="1280160"/>
          </a:xfrm>
          <a:prstGeom prst="rect">
            <a:avLst/>
          </a:prstGeom>
          <a:noFill/>
        </p:spPr>
        <p:txBody>
          <a:bodyPr wrap="square" lIns="0" rIns="0" tIns="0" bIns="0" anchor="t">
            <a:noAutofit/>
          </a:bodyPr>
          <a:lstStyle/>
          <a:p>
            <a:pPr algn="l">
              <a:spcAft>
                <a:spcPts val="600"/>
              </a:spcAft>
            </a:pPr>
            <a:r>
              <a:rPr sz="2000" b="1" i="0">
                <a:solidFill>
                  <a:srgbClr val="0F766E"/>
                </a:solidFill>
                <a:latin typeface="Calibri"/>
              </a:rPr>
              <a:t>stable 10 s and |ΔV| &lt; 3 V → close switch</a:t>
            </a:r>
          </a:p>
        </p:txBody>
      </p:sp>
      <p:sp>
        <p:nvSpPr>
          <p:cNvPr id="21" name="TextBox 20"/>
          <p:cNvSpPr txBox="1"/>
          <p:nvPr/>
        </p:nvSpPr>
        <p:spPr>
          <a:xfrm>
            <a:off x="4206240" y="8686800"/>
            <a:ext cx="2560320" cy="822960"/>
          </a:xfrm>
          <a:prstGeom prst="rect">
            <a:avLst/>
          </a:prstGeom>
          <a:noFill/>
        </p:spPr>
        <p:txBody>
          <a:bodyPr wrap="square" lIns="0" rIns="0" tIns="0" bIns="0" anchor="t">
            <a:noAutofit/>
          </a:bodyPr>
          <a:lstStyle/>
          <a:p>
            <a:pPr algn="l">
              <a:spcAft>
                <a:spcPts val="600"/>
              </a:spcAft>
            </a:pPr>
            <a:r>
              <a:rPr sz="2000" b="1" i="0">
                <a:solidFill>
                  <a:srgbClr val="4B5563"/>
                </a:solidFill>
                <a:latin typeface="Calibri"/>
              </a:rPr>
              <a:t>grid back</a:t>
            </a:r>
          </a:p>
        </p:txBody>
      </p:sp>
      <p:graphicFrame>
        <p:nvGraphicFramePr>
          <p:cNvPr id="22" name="Table 21"/>
          <p:cNvGraphicFramePr>
            <a:graphicFrameLocks noGrp="1"/>
          </p:cNvGraphicFramePr>
          <p:nvPr/>
        </p:nvGraphicFramePr>
        <p:xfrm>
          <a:off x="10424160" y="2651760"/>
          <a:ext cx="7315200" cy="6272784"/>
        </p:xfrm>
        <a:graphic>
          <a:graphicData uri="http://schemas.openxmlformats.org/drawingml/2006/table">
            <a:tbl>
              <a:tblPr firstRow="0" bandRow="0"/>
              <a:tblGrid>
                <a:gridCol w="2743200"/>
                <a:gridCol w="4572000"/>
              </a:tblGrid>
              <a:tr h="896112">
                <a:tc>
                  <a:txBody>
                    <a:bodyPr wrap="square"/>
                    <a:lstStyle/>
                    <a:p>
                      <a:pPr algn="l">
                        <a:spcAft>
                          <a:spcPts val="0"/>
                        </a:spcAft>
                      </a:pPr>
                      <a:r>
                        <a:rPr sz="1700" b="1" i="0">
                          <a:solidFill>
                            <a:srgbClr val="FFFFFF"/>
                          </a:solidFill>
                          <a:latin typeface="Calibri"/>
                        </a:rPr>
                        <a:t>Rule</a:t>
                      </a:r>
                    </a:p>
                  </a:txBody>
                  <a:tcPr marL="109728" marR="109728" marT="36576" marB="36576" anchor="ctr">
                    <a:solidFill>
                      <a:srgbClr val="7A1F2B"/>
                    </a:solidFill>
                  </a:tcPr>
                </a:tc>
                <a:tc>
                  <a:txBody>
                    <a:bodyPr wrap="square"/>
                    <a:lstStyle/>
                    <a:p>
                      <a:pPr algn="l">
                        <a:spcAft>
                          <a:spcPts val="0"/>
                        </a:spcAft>
                      </a:pPr>
                      <a:r>
                        <a:rPr sz="1700" b="1" i="0">
                          <a:solidFill>
                            <a:srgbClr val="FFFFFF"/>
                          </a:solidFill>
                          <a:latin typeface="Calibri"/>
                        </a:rPr>
                        <a:t>Setting (from one params file)</a:t>
                      </a:r>
                    </a:p>
                  </a:txBody>
                  <a:tcPr marL="109728" marR="109728" marT="36576" marB="36576" anchor="ctr">
                    <a:solidFill>
                      <a:srgbClr val="7A1F2B"/>
                    </a:solidFill>
                  </a:tcPr>
                </a:tc>
              </a:tr>
              <a:tr h="896112">
                <a:tc>
                  <a:txBody>
                    <a:bodyPr wrap="square"/>
                    <a:lstStyle/>
                    <a:p>
                      <a:pPr algn="l">
                        <a:spcAft>
                          <a:spcPts val="0"/>
                        </a:spcAft>
                      </a:pPr>
                      <a:r>
                        <a:rPr sz="1700" b="1" i="0">
                          <a:solidFill>
                            <a:srgbClr val="1F2933"/>
                          </a:solidFill>
                          <a:latin typeface="Calibri"/>
                        </a:rPr>
                        <a:t>Critical loads</a:t>
                      </a:r>
                    </a:p>
                  </a:txBody>
                  <a:tcPr marL="109728" marR="109728" marT="36576" marB="36576" anchor="ctr">
                    <a:solidFill>
                      <a:srgbClr val="FFFFFF"/>
                    </a:solidFill>
                  </a:tcPr>
                </a:tc>
                <a:tc>
                  <a:txBody>
                    <a:bodyPr wrap="square"/>
                    <a:lstStyle/>
                    <a:p>
                      <a:pPr algn="l">
                        <a:spcAft>
                          <a:spcPts val="0"/>
                        </a:spcAft>
                      </a:pPr>
                      <a:r>
                        <a:rPr sz="1700" b="0" i="0">
                          <a:solidFill>
                            <a:srgbClr val="1F2933"/>
                          </a:solidFill>
                          <a:latin typeface="Calibri"/>
                        </a:rPr>
                        <a:t>Always ON, even at zero credit (debt is logged)</a:t>
                      </a:r>
                    </a:p>
                  </a:txBody>
                  <a:tcPr marL="109728" marR="109728" marT="36576" marB="36576" anchor="ctr">
                    <a:solidFill>
                      <a:srgbClr val="FFFFFF"/>
                    </a:solidFill>
                  </a:tcPr>
                </a:tc>
              </a:tr>
              <a:tr h="896112">
                <a:tc>
                  <a:txBody>
                    <a:bodyPr wrap="square"/>
                    <a:lstStyle/>
                    <a:p>
                      <a:pPr algn="l">
                        <a:spcAft>
                          <a:spcPts val="0"/>
                        </a:spcAft>
                      </a:pPr>
                      <a:r>
                        <a:rPr sz="1700" b="1" i="0">
                          <a:solidFill>
                            <a:srgbClr val="1F2933"/>
                          </a:solidFill>
                          <a:latin typeface="Calibri"/>
                        </a:rPr>
                        <a:t>Flexible loads (island)</a:t>
                      </a:r>
                    </a:p>
                  </a:txBody>
                  <a:tcPr marL="109728" marR="109728" marT="36576" marB="36576" anchor="ctr">
                    <a:solidFill>
                      <a:srgbClr val="F3F4F6"/>
                    </a:solidFill>
                  </a:tcPr>
                </a:tc>
                <a:tc>
                  <a:txBody>
                    <a:bodyPr wrap="square"/>
                    <a:lstStyle/>
                    <a:p>
                      <a:pPr algn="l">
                        <a:spcAft>
                          <a:spcPts val="0"/>
                        </a:spcAft>
                      </a:pPr>
                      <a:r>
                        <a:rPr sz="1700" b="0" i="0">
                          <a:solidFill>
                            <a:srgbClr val="1F2933"/>
                          </a:solidFill>
                          <a:latin typeface="Calibri"/>
                        </a:rPr>
                        <a:t>Shed below SOC 40 / 42 / 45 % (H1/H2/H3); back on at +8 %</a:t>
                      </a:r>
                    </a:p>
                  </a:txBody>
                  <a:tcPr marL="109728" marR="109728" marT="36576" marB="36576" anchor="ctr">
                    <a:solidFill>
                      <a:srgbClr val="F3F4F6"/>
                    </a:solidFill>
                  </a:tcPr>
                </a:tc>
              </a:tr>
              <a:tr h="896112">
                <a:tc>
                  <a:txBody>
                    <a:bodyPr wrap="square"/>
                    <a:lstStyle/>
                    <a:p>
                      <a:pPr algn="l">
                        <a:spcAft>
                          <a:spcPts val="0"/>
                        </a:spcAft>
                      </a:pPr>
                      <a:r>
                        <a:rPr sz="1700" b="1" i="0">
                          <a:solidFill>
                            <a:srgbClr val="1F2933"/>
                          </a:solidFill>
                          <a:latin typeface="Calibri"/>
                        </a:rPr>
                        <a:t>Battery emergency</a:t>
                      </a:r>
                    </a:p>
                  </a:txBody>
                  <a:tcPr marL="109728" marR="109728" marT="36576" marB="36576" anchor="ctr">
                    <a:solidFill>
                      <a:srgbClr val="FFFFFF"/>
                    </a:solidFill>
                  </a:tcPr>
                </a:tc>
                <a:tc>
                  <a:txBody>
                    <a:bodyPr wrap="square"/>
                    <a:lstStyle/>
                    <a:p>
                      <a:pPr algn="l">
                        <a:spcAft>
                          <a:spcPts val="0"/>
                        </a:spcAft>
                      </a:pPr>
                      <a:r>
                        <a:rPr sz="1700" b="0" i="0">
                          <a:solidFill>
                            <a:srgbClr val="1F2933"/>
                          </a:solidFill>
                          <a:latin typeface="Calibri"/>
                        </a:rPr>
                        <a:t>SOC below 25 % → all flexible loads off</a:t>
                      </a:r>
                    </a:p>
                  </a:txBody>
                  <a:tcPr marL="109728" marR="109728" marT="36576" marB="36576" anchor="ctr">
                    <a:solidFill>
                      <a:srgbClr val="FFFFFF"/>
                    </a:solidFill>
                  </a:tcPr>
                </a:tc>
              </a:tr>
              <a:tr h="896112">
                <a:tc>
                  <a:txBody>
                    <a:bodyPr wrap="square"/>
                    <a:lstStyle/>
                    <a:p>
                      <a:pPr algn="l">
                        <a:spcAft>
                          <a:spcPts val="0"/>
                        </a:spcAft>
                      </a:pPr>
                      <a:r>
                        <a:rPr sz="1700" b="1" i="0">
                          <a:solidFill>
                            <a:srgbClr val="1F2933"/>
                          </a:solidFill>
                          <a:latin typeface="Calibri"/>
                        </a:rPr>
                        <a:t>House over-current</a:t>
                      </a:r>
                    </a:p>
                  </a:txBody>
                  <a:tcPr marL="109728" marR="109728" marT="36576" marB="36576" anchor="ctr">
                    <a:solidFill>
                      <a:srgbClr val="F3F4F6"/>
                    </a:solidFill>
                  </a:tcPr>
                </a:tc>
                <a:tc>
                  <a:txBody>
                    <a:bodyPr wrap="square"/>
                    <a:lstStyle/>
                    <a:p>
                      <a:pPr algn="l">
                        <a:spcAft>
                          <a:spcPts val="0"/>
                        </a:spcAft>
                      </a:pPr>
                      <a:r>
                        <a:rPr sz="1700" b="0" i="0">
                          <a:solidFill>
                            <a:srgbClr val="1F2933"/>
                          </a:solidFill>
                          <a:latin typeface="Calibri"/>
                        </a:rPr>
                        <a:t>&gt; 1.5 A for 2 s → trip; 2 trips → lockout</a:t>
                      </a:r>
                    </a:p>
                  </a:txBody>
                  <a:tcPr marL="109728" marR="109728" marT="36576" marB="36576" anchor="ctr">
                    <a:solidFill>
                      <a:srgbClr val="F3F4F6"/>
                    </a:solidFill>
                  </a:tcPr>
                </a:tc>
              </a:tr>
              <a:tr h="896112">
                <a:tc>
                  <a:txBody>
                    <a:bodyPr wrap="square"/>
                    <a:lstStyle/>
                    <a:p>
                      <a:pPr algn="l">
                        <a:spcAft>
                          <a:spcPts val="0"/>
                        </a:spcAft>
                      </a:pPr>
                      <a:r>
                        <a:rPr sz="1700" b="1" i="0">
                          <a:solidFill>
                            <a:srgbClr val="1F2933"/>
                          </a:solidFill>
                          <a:latin typeface="Calibri"/>
                        </a:rPr>
                        <a:t>Solar curtail</a:t>
                      </a:r>
                    </a:p>
                  </a:txBody>
                  <a:tcPr marL="109728" marR="109728" marT="36576" marB="36576" anchor="ctr">
                    <a:solidFill>
                      <a:srgbClr val="FFFFFF"/>
                    </a:solidFill>
                  </a:tcPr>
                </a:tc>
                <a:tc>
                  <a:txBody>
                    <a:bodyPr wrap="square"/>
                    <a:lstStyle/>
                    <a:p>
                      <a:pPr algn="l">
                        <a:spcAft>
                          <a:spcPts val="0"/>
                        </a:spcAft>
                      </a:pPr>
                      <a:r>
                        <a:rPr sz="1700" b="0" i="0">
                          <a:solidFill>
                            <a:srgbClr val="1F2933"/>
                          </a:solidFill>
                          <a:latin typeface="Calibri"/>
                        </a:rPr>
                        <a:t>Bus above 14.2 V → reduce solar input</a:t>
                      </a:r>
                    </a:p>
                  </a:txBody>
                  <a:tcPr marL="109728" marR="109728" marT="36576" marB="36576" anchor="ctr">
                    <a:solidFill>
                      <a:srgbClr val="FFFFFF"/>
                    </a:solidFill>
                  </a:tcPr>
                </a:tc>
              </a:tr>
              <a:tr h="896112">
                <a:tc>
                  <a:txBody>
                    <a:bodyPr wrap="square"/>
                    <a:lstStyle/>
                    <a:p>
                      <a:pPr algn="l">
                        <a:spcAft>
                          <a:spcPts val="0"/>
                        </a:spcAft>
                      </a:pPr>
                      <a:r>
                        <a:rPr sz="1700" b="1" i="0">
                          <a:solidFill>
                            <a:srgbClr val="1F2933"/>
                          </a:solidFill>
                          <a:latin typeface="Calibri"/>
                        </a:rPr>
                        <a:t>Sell surplus</a:t>
                      </a:r>
                    </a:p>
                  </a:txBody>
                  <a:tcPr marL="109728" marR="109728" marT="36576" marB="36576" anchor="ctr">
                    <a:solidFill>
                      <a:srgbClr val="F3F4F6"/>
                    </a:solidFill>
                  </a:tcPr>
                </a:tc>
                <a:tc>
                  <a:txBody>
                    <a:bodyPr wrap="square"/>
                    <a:lstStyle/>
                    <a:p>
                      <a:pPr algn="l">
                        <a:spcAft>
                          <a:spcPts val="0"/>
                        </a:spcAft>
                      </a:pPr>
                      <a:r>
                        <a:rPr sz="1700" b="0" i="0">
                          <a:solidFill>
                            <a:srgbClr val="1F2933"/>
                          </a:solidFill>
                          <a:latin typeface="Calibri"/>
                        </a:rPr>
                        <a:t>Grid-connected and SOC above 90 % → export</a:t>
                      </a:r>
                    </a:p>
                  </a:txBody>
                  <a:tcPr marL="109728" marR="109728" marT="36576" marB="36576" anchor="ctr">
                    <a:solidFill>
                      <a:srgbClr val="F3F4F6"/>
                    </a:solidFill>
                  </a:tcPr>
                </a:tc>
              </a:tr>
            </a:tbl>
          </a:graphicData>
        </a:graphic>
      </p:graphicFrame>
      <p:sp>
        <p:nvSpPr>
          <p:cNvPr id="23" name="TextBox 22"/>
          <p:cNvSpPr txBox="1"/>
          <p:nvPr/>
        </p:nvSpPr>
        <p:spPr>
          <a:xfrm>
            <a:off x="10424160" y="9144000"/>
            <a:ext cx="7315200" cy="548640"/>
          </a:xfrm>
          <a:prstGeom prst="rect">
            <a:avLst/>
          </a:prstGeom>
          <a:noFill/>
        </p:spPr>
        <p:txBody>
          <a:bodyPr wrap="square" lIns="0" rIns="0" tIns="0" bIns="0" anchor="t">
            <a:noAutofit/>
          </a:bodyPr>
          <a:lstStyle/>
          <a:p>
            <a:pPr algn="l">
              <a:spcAft>
                <a:spcPts val="600"/>
              </a:spcAft>
            </a:pPr>
            <a:r>
              <a:rPr sz="2100" b="1" i="0">
                <a:solidFill>
                  <a:srgbClr val="7A1F2B"/>
                </a:solidFill>
                <a:latin typeface="Calibri"/>
              </a:rPr>
              <a:t>Shed order in an outage: House 3 → House 2 → House 1</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8640" y="1325880"/>
            <a:ext cx="17190720" cy="868680"/>
          </a:xfrm>
          <a:prstGeom prst="rect">
            <a:avLst/>
          </a:prstGeom>
        </p:spPr>
        <p:txBody>
          <a:bodyPr lIns="0" tIns="0" rIns="0" bIns="0" rtlCol="0" anchor="t" wrap="square">
            <a:spAutoFit/>
          </a:bodyPr>
          <a:lstStyle/>
          <a:p>
            <a:pPr algn="l">
              <a:lnSpc>
                <a:spcPts val="7279"/>
              </a:lnSpc>
            </a:pPr>
            <a:r>
              <a:rPr lang="en-US" sz="4400" b="1">
                <a:solidFill>
                  <a:srgbClr val="000000"/>
                </a:solidFill>
                <a:latin typeface="Canva Sans Bold"/>
                <a:ea typeface="Canva Sans Bold"/>
                <a:cs typeface="Canva Sans Bold"/>
                <a:sym typeface="Canva Sans Bold"/>
              </a:rPr>
              <a:t>Technical approach: electrical simulation</a:t>
            </a:r>
          </a:p>
        </p:txBody>
      </p:sp>
      <p:grpSp>
        <p:nvGrpSpPr>
          <p:cNvPr id="3" name="Group 3"/>
          <p:cNvGrpSpPr/>
          <p:nvPr/>
        </p:nvGrpSpPr>
        <p:grpSpPr>
          <a:xfrm>
            <a:off x="535200" y="-81549"/>
            <a:ext cx="17503283" cy="1576346"/>
            <a:chOff x="0" y="0"/>
            <a:chExt cx="23337711" cy="2101794"/>
          </a:xfrm>
        </p:grpSpPr>
        <p:grpSp>
          <p:nvGrpSpPr>
            <p:cNvPr id="4" name="Group 4"/>
            <p:cNvGrpSpPr/>
            <p:nvPr/>
          </p:nvGrpSpPr>
          <p:grpSpPr>
            <a:xfrm>
              <a:off x="0" y="0"/>
              <a:ext cx="2390534" cy="2101794"/>
              <a:chOff x="0" y="0"/>
              <a:chExt cx="2451880" cy="2155730"/>
            </a:xfrm>
          </p:grpSpPr>
          <p:sp>
            <p:nvSpPr>
              <p:cNvPr id="5" name="Freeform 5"/>
              <p:cNvSpPr/>
              <p:nvPr/>
            </p:nvSpPr>
            <p:spPr>
              <a:xfrm>
                <a:off x="0" y="0"/>
                <a:ext cx="2451818" cy="2155743"/>
              </a:xfrm>
              <a:custGeom>
                <a:avLst/>
                <a:gdLst/>
                <a:ahLst/>
                <a:cxnLst/>
                <a:rect l="l" t="t" r="r" b="b"/>
                <a:pathLst>
                  <a:path w="2451818" h="2155743">
                    <a:moveTo>
                      <a:pt x="0" y="0"/>
                    </a:moveTo>
                    <a:lnTo>
                      <a:pt x="2451818" y="0"/>
                    </a:lnTo>
                    <a:lnTo>
                      <a:pt x="2451818" y="2155743"/>
                    </a:lnTo>
                    <a:lnTo>
                      <a:pt x="0" y="2155743"/>
                    </a:lnTo>
                    <a:lnTo>
                      <a:pt x="0" y="0"/>
                    </a:lnTo>
                    <a:close/>
                  </a:path>
                </a:pathLst>
              </a:custGeom>
              <a:blipFill>
                <a:blip r:embed="rId2"/>
                <a:stretch>
                  <a:fillRect l="-43229" r="-67848" b="-8030"/>
                </a:stretch>
              </a:blipFill>
            </p:spPr>
          </p:sp>
        </p:grpSp>
        <p:grpSp>
          <p:nvGrpSpPr>
            <p:cNvPr id="6" name="Group 6"/>
            <p:cNvGrpSpPr/>
            <p:nvPr/>
          </p:nvGrpSpPr>
          <p:grpSpPr>
            <a:xfrm>
              <a:off x="18545475" y="247188"/>
              <a:ext cx="1586845" cy="1627422"/>
              <a:chOff x="0" y="0"/>
              <a:chExt cx="1808366" cy="1854606"/>
            </a:xfrm>
          </p:grpSpPr>
          <p:sp>
            <p:nvSpPr>
              <p:cNvPr id="7" name="Freeform 7"/>
              <p:cNvSpPr/>
              <p:nvPr/>
            </p:nvSpPr>
            <p:spPr>
              <a:xfrm>
                <a:off x="0" y="0"/>
                <a:ext cx="1808353" cy="1854581"/>
              </a:xfrm>
              <a:custGeom>
                <a:avLst/>
                <a:gdLst/>
                <a:ahLst/>
                <a:cxnLst/>
                <a:rect l="l" t="t" r="r" b="b"/>
                <a:pathLst>
                  <a:path w="1808353" h="1854581">
                    <a:moveTo>
                      <a:pt x="0" y="0"/>
                    </a:moveTo>
                    <a:lnTo>
                      <a:pt x="1808353" y="0"/>
                    </a:lnTo>
                    <a:lnTo>
                      <a:pt x="1808353" y="1854581"/>
                    </a:lnTo>
                    <a:lnTo>
                      <a:pt x="0" y="1854581"/>
                    </a:lnTo>
                    <a:lnTo>
                      <a:pt x="0" y="0"/>
                    </a:lnTo>
                    <a:close/>
                  </a:path>
                </a:pathLst>
              </a:custGeom>
              <a:blipFill>
                <a:blip r:embed="rId3"/>
                <a:stretch>
                  <a:fillRect l="-63953" r="-63953" b="-1"/>
                </a:stretch>
              </a:blipFill>
            </p:spPr>
          </p:sp>
        </p:grpSp>
        <p:grpSp>
          <p:nvGrpSpPr>
            <p:cNvPr id="8" name="Group 8"/>
            <p:cNvGrpSpPr/>
            <p:nvPr/>
          </p:nvGrpSpPr>
          <p:grpSpPr>
            <a:xfrm>
              <a:off x="20344893" y="291523"/>
              <a:ext cx="2992818" cy="1380820"/>
              <a:chOff x="0" y="0"/>
              <a:chExt cx="2992818" cy="1380820"/>
            </a:xfrm>
          </p:grpSpPr>
          <p:sp>
            <p:nvSpPr>
              <p:cNvPr id="9" name="Freeform 9"/>
              <p:cNvSpPr/>
              <p:nvPr/>
            </p:nvSpPr>
            <p:spPr>
              <a:xfrm>
                <a:off x="0" y="0"/>
                <a:ext cx="2992882" cy="1380871"/>
              </a:xfrm>
              <a:custGeom>
                <a:avLst/>
                <a:gdLst/>
                <a:ahLst/>
                <a:cxnLst/>
                <a:rect l="l" t="t" r="r" b="b"/>
                <a:pathLst>
                  <a:path w="2992882" h="1380871">
                    <a:moveTo>
                      <a:pt x="0" y="0"/>
                    </a:moveTo>
                    <a:lnTo>
                      <a:pt x="2992882" y="0"/>
                    </a:lnTo>
                    <a:lnTo>
                      <a:pt x="2992882" y="1380871"/>
                    </a:lnTo>
                    <a:lnTo>
                      <a:pt x="0" y="1380871"/>
                    </a:lnTo>
                    <a:lnTo>
                      <a:pt x="0" y="0"/>
                    </a:lnTo>
                    <a:close/>
                  </a:path>
                </a:pathLst>
              </a:custGeom>
              <a:blipFill>
                <a:blip r:embed="rId4"/>
                <a:stretch>
                  <a:fillRect l="-1264" r="-1261" b="3"/>
                </a:stretch>
              </a:blipFill>
            </p:spPr>
          </p:sp>
        </p:grpSp>
        <p:sp>
          <p:nvSpPr>
            <p:cNvPr id="10" name="TextBox 10"/>
            <p:cNvSpPr txBox="1"/>
            <p:nvPr/>
          </p:nvSpPr>
          <p:spPr>
            <a:xfrm>
              <a:off x="3986137" y="60414"/>
              <a:ext cx="14984527" cy="1814195"/>
            </a:xfrm>
            <a:prstGeom prst="rect">
              <a:avLst/>
            </a:prstGeom>
          </p:spPr>
          <p:txBody>
            <a:bodyPr lIns="0" tIns="0" rIns="0" bIns="0" rtlCol="0" anchor="t">
              <a:spAutoFit/>
            </a:bodyPr>
            <a:lstStyle/>
            <a:p>
              <a:pPr algn="ctr">
                <a:lnSpc>
                  <a:spcPts val="6160"/>
                </a:lnSpc>
              </a:pPr>
              <a:r>
                <a:rPr lang="en-US" sz="4400">
                  <a:solidFill>
                    <a:srgbClr val="692B39"/>
                  </a:solidFill>
                  <a:latin typeface="Times New Roman"/>
                  <a:ea typeface="Times New Roman"/>
                  <a:cs typeface="Times New Roman"/>
                  <a:sym typeface="Times New Roman"/>
                </a:rPr>
                <a:t>Walchand College of Engineering, Sangli</a:t>
              </a:r>
            </a:p>
            <a:p>
              <a:pPr algn="ctr">
                <a:lnSpc>
                  <a:spcPts val="4759"/>
                </a:lnSpc>
              </a:pPr>
              <a:r>
                <a:rPr lang="en-US" sz="3399">
                  <a:solidFill>
                    <a:srgbClr val="692B39"/>
                  </a:solidFill>
                  <a:latin typeface="Times New Roman"/>
                  <a:ea typeface="Times New Roman"/>
                  <a:cs typeface="Times New Roman"/>
                  <a:sym typeface="Times New Roman"/>
                </a:rPr>
                <a:t>A Goverment-Aided Autonomous Institute</a:t>
              </a:r>
            </a:p>
          </p:txBody>
        </p:sp>
      </p:grpSp>
      <p:sp>
        <p:nvSpPr>
          <p:cNvPr id="11" name="Pentagon 10"/>
          <p:cNvSpPr/>
          <p:nvPr/>
        </p:nvSpPr>
        <p:spPr>
          <a:xfrm>
            <a:off x="548640" y="2423160"/>
            <a:ext cx="3520440" cy="1051560"/>
          </a:xfrm>
          <a:prstGeom prst="homePlate">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lIns="320040" rIns="320040" tIns="54864" bIns="54864" wrap="square">
            <a:noAutofit/>
          </a:bodyPr>
          <a:lstStyle/>
          <a:p>
            <a:pPr algn="ctr">
              <a:spcAft>
                <a:spcPts val="400"/>
              </a:spcAft>
            </a:pPr>
            <a:r>
              <a:rPr sz="2100" b="1" i="0">
                <a:solidFill>
                  <a:srgbClr val="FFFFFF"/>
                </a:solidFill>
                <a:latin typeface="Calibri"/>
              </a:rPr>
              <a:t>One params file</a:t>
            </a:r>
          </a:p>
        </p:txBody>
      </p:sp>
      <p:sp>
        <p:nvSpPr>
          <p:cNvPr id="12" name="Chevron 11"/>
          <p:cNvSpPr/>
          <p:nvPr/>
        </p:nvSpPr>
        <p:spPr>
          <a:xfrm>
            <a:off x="4005072" y="2423160"/>
            <a:ext cx="3520440" cy="1051560"/>
          </a:xfrm>
          <a:prstGeom prst="chevron">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lIns="320040" rIns="320040" tIns="54864" bIns="54864" wrap="square">
            <a:noAutofit/>
          </a:bodyPr>
          <a:lstStyle/>
          <a:p>
            <a:pPr algn="ctr">
              <a:spcAft>
                <a:spcPts val="400"/>
              </a:spcAft>
            </a:pPr>
            <a:r>
              <a:rPr sz="2100" b="1" i="0">
                <a:solidFill>
                  <a:srgbClr val="FFFFFF"/>
                </a:solidFill>
                <a:latin typeface="Calibri"/>
              </a:rPr>
              <a:t>MATLAB digital twin</a:t>
            </a:r>
          </a:p>
        </p:txBody>
      </p:sp>
      <p:sp>
        <p:nvSpPr>
          <p:cNvPr id="13" name="Chevron 12"/>
          <p:cNvSpPr/>
          <p:nvPr/>
        </p:nvSpPr>
        <p:spPr>
          <a:xfrm>
            <a:off x="7461504" y="2423160"/>
            <a:ext cx="3520440" cy="1051560"/>
          </a:xfrm>
          <a:prstGeom prst="chevron">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lIns="320040" rIns="320040" tIns="54864" bIns="54864" wrap="square">
            <a:noAutofit/>
          </a:bodyPr>
          <a:lstStyle/>
          <a:p>
            <a:pPr algn="ctr">
              <a:spcAft>
                <a:spcPts val="400"/>
              </a:spcAft>
            </a:pPr>
            <a:r>
              <a:rPr sz="2100" b="1" i="0">
                <a:solidFill>
                  <a:srgbClr val="FFFFFF"/>
                </a:solidFill>
                <a:latin typeface="Calibri"/>
              </a:rPr>
              <a:t>8 scenarios + Monte Carlo</a:t>
            </a:r>
          </a:p>
        </p:txBody>
      </p:sp>
      <p:sp>
        <p:nvSpPr>
          <p:cNvPr id="14" name="Chevron 13"/>
          <p:cNvSpPr/>
          <p:nvPr/>
        </p:nvSpPr>
        <p:spPr>
          <a:xfrm>
            <a:off x="10917936" y="2423160"/>
            <a:ext cx="3520440" cy="1051560"/>
          </a:xfrm>
          <a:prstGeom prst="chevron">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lIns="320040" rIns="320040" tIns="54864" bIns="54864" wrap="square">
            <a:noAutofit/>
          </a:bodyPr>
          <a:lstStyle/>
          <a:p>
            <a:pPr algn="ctr">
              <a:spcAft>
                <a:spcPts val="400"/>
              </a:spcAft>
            </a:pPr>
            <a:r>
              <a:rPr sz="2100" b="1" i="0">
                <a:solidFill>
                  <a:srgbClr val="FFFFFF"/>
                </a:solidFill>
                <a:latin typeface="Calibri"/>
              </a:rPr>
              <a:t>Firmware vs model (SIL)</a:t>
            </a:r>
          </a:p>
        </p:txBody>
      </p:sp>
      <p:sp>
        <p:nvSpPr>
          <p:cNvPr id="15" name="Chevron 14"/>
          <p:cNvSpPr/>
          <p:nvPr/>
        </p:nvSpPr>
        <p:spPr>
          <a:xfrm>
            <a:off x="14374367" y="2423160"/>
            <a:ext cx="3520440" cy="1051560"/>
          </a:xfrm>
          <a:prstGeom prst="chevron">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lIns="320040" rIns="320040" tIns="54864" bIns="54864" wrap="square">
            <a:noAutofit/>
          </a:bodyPr>
          <a:lstStyle/>
          <a:p>
            <a:pPr algn="ctr">
              <a:spcAft>
                <a:spcPts val="400"/>
              </a:spcAft>
            </a:pPr>
            <a:r>
              <a:rPr sz="2100" b="1" i="0">
                <a:solidFill>
                  <a:srgbClr val="1F2933"/>
                </a:solidFill>
                <a:latin typeface="Calibri"/>
              </a:rPr>
              <a:t>ESP32 in the loop (next)</a:t>
            </a:r>
          </a:p>
        </p:txBody>
      </p:sp>
      <p:pic>
        <p:nvPicPr>
          <p:cNvPr id="16" name="Picture 15" descr="S2_grid_outage.png"/>
          <p:cNvPicPr>
            <a:picLocks noChangeAspect="1"/>
          </p:cNvPicPr>
          <p:nvPr/>
        </p:nvPicPr>
        <p:blipFill>
          <a:blip r:embed="rId5"/>
          <a:stretch>
            <a:fillRect/>
          </a:stretch>
        </p:blipFill>
        <p:spPr>
          <a:xfrm>
            <a:off x="548640" y="3749039"/>
            <a:ext cx="6518910" cy="5394960"/>
          </a:xfrm>
          <a:prstGeom prst="rect">
            <a:avLst/>
          </a:prstGeom>
        </p:spPr>
      </p:pic>
      <p:sp>
        <p:nvSpPr>
          <p:cNvPr id="17" name="TextBox 16"/>
          <p:cNvSpPr txBox="1"/>
          <p:nvPr/>
        </p:nvSpPr>
        <p:spPr>
          <a:xfrm>
            <a:off x="548640" y="9189720"/>
            <a:ext cx="6583680" cy="640080"/>
          </a:xfrm>
          <a:prstGeom prst="rect">
            <a:avLst/>
          </a:prstGeom>
          <a:noFill/>
        </p:spPr>
        <p:txBody>
          <a:bodyPr wrap="square" lIns="0" rIns="0" tIns="0" bIns="0" anchor="t">
            <a:noAutofit/>
          </a:bodyPr>
          <a:lstStyle/>
          <a:p>
            <a:pPr algn="l">
              <a:spcAft>
                <a:spcPts val="600"/>
              </a:spcAft>
            </a:pPr>
            <a:r>
              <a:rPr sz="1800" b="0" i="0">
                <a:solidFill>
                  <a:srgbClr val="4B5563"/>
                </a:solidFill>
                <a:latin typeface="Calibri"/>
              </a:rPr>
              <a:t>Scenario S2: simulated evening, grid lost 18:00–21:00. Loads shed H3 → H2 → H1; critical loads never drop.</a:t>
            </a:r>
          </a:p>
        </p:txBody>
      </p:sp>
      <p:sp>
        <p:nvSpPr>
          <p:cNvPr id="18" name="Rounded Rectangle 17"/>
          <p:cNvSpPr/>
          <p:nvPr/>
        </p:nvSpPr>
        <p:spPr>
          <a:xfrm>
            <a:off x="7772400" y="3749039"/>
            <a:ext cx="4754880" cy="2103120"/>
          </a:xfrm>
          <a:prstGeom prst="roundRect">
            <a:avLst>
              <a:gd name="adj" fmla="val 8000"/>
            </a:avLst>
          </a:prstGeom>
          <a:solidFill>
            <a:srgbClr val="E0F2EF"/>
          </a:solidFill>
          <a:ln>
            <a:noFill/>
          </a:ln>
          <a:effectLst/>
        </p:spPr>
        <p:style>
          <a:lnRef idx="1">
            <a:schemeClr val="accent1"/>
          </a:lnRef>
          <a:fillRef idx="3">
            <a:schemeClr val="accent1"/>
          </a:fillRef>
          <a:effectRef idx="2">
            <a:schemeClr val="accent1"/>
          </a:effectRef>
          <a:fontRef idx="minor">
            <a:schemeClr val="lt1"/>
          </a:fontRef>
        </p:style>
        <p:txBody>
          <a:bodyPr rtlCol="0" anchor="t" lIns="274320" rIns="274320" tIns="54864" bIns="54864" wrap="square">
            <a:noAutofit/>
          </a:bodyPr>
          <a:lstStyle/>
          <a:p>
            <a:pPr algn="l">
              <a:spcAft>
                <a:spcPts val="0"/>
              </a:spcAft>
            </a:pPr>
            <a:r>
              <a:rPr sz="5600" b="1" i="0">
                <a:solidFill>
                  <a:srgbClr val="0F766E"/>
                </a:solidFill>
                <a:latin typeface="Calibri"/>
              </a:rPr>
              <a:t>8 / 8</a:t>
            </a:r>
          </a:p>
          <a:p>
            <a:pPr algn="l">
              <a:spcAft>
                <a:spcPts val="400"/>
              </a:spcAft>
            </a:pPr>
            <a:r>
              <a:rPr sz="2000" b="0" i="0">
                <a:solidFill>
                  <a:srgbClr val="1F2933"/>
                </a:solidFill>
                <a:latin typeface="Calibri"/>
              </a:rPr>
              <a:t>test scenarios passed</a:t>
            </a:r>
          </a:p>
        </p:txBody>
      </p:sp>
      <p:sp>
        <p:nvSpPr>
          <p:cNvPr id="19" name="Rounded Rectangle 18"/>
          <p:cNvSpPr/>
          <p:nvPr/>
        </p:nvSpPr>
        <p:spPr>
          <a:xfrm>
            <a:off x="12801600" y="3749039"/>
            <a:ext cx="4754880" cy="210312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t" lIns="274320" rIns="274320" tIns="54864" bIns="54864" wrap="square">
            <a:noAutofit/>
          </a:bodyPr>
          <a:lstStyle/>
          <a:p>
            <a:pPr algn="l">
              <a:spcAft>
                <a:spcPts val="0"/>
              </a:spcAft>
            </a:pPr>
            <a:r>
              <a:rPr sz="5600" b="1" i="0">
                <a:solidFill>
                  <a:srgbClr val="0F766E"/>
                </a:solidFill>
                <a:latin typeface="Calibri"/>
              </a:rPr>
              <a:t>40 / 40</a:t>
            </a:r>
          </a:p>
          <a:p>
            <a:pPr algn="l">
              <a:spcAft>
                <a:spcPts val="400"/>
              </a:spcAft>
            </a:pPr>
            <a:r>
              <a:rPr sz="2000" b="0" i="0">
                <a:solidFill>
                  <a:srgbClr val="1F2933"/>
                </a:solidFill>
                <a:latin typeface="Calibri"/>
              </a:rPr>
              <a:t>Monte Carlo runs passed (random outages, clouds, part tolerances, sensor noise)</a:t>
            </a:r>
          </a:p>
        </p:txBody>
      </p:sp>
      <p:sp>
        <p:nvSpPr>
          <p:cNvPr id="20" name="Rounded Rectangle 19"/>
          <p:cNvSpPr/>
          <p:nvPr/>
        </p:nvSpPr>
        <p:spPr>
          <a:xfrm>
            <a:off x="7772400" y="6080759"/>
            <a:ext cx="4754880" cy="210312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t" lIns="274320" rIns="274320" tIns="54864" bIns="54864" wrap="square">
            <a:noAutofit/>
          </a:bodyPr>
          <a:lstStyle/>
          <a:p>
            <a:pPr algn="l">
              <a:spcAft>
                <a:spcPts val="0"/>
              </a:spcAft>
            </a:pPr>
            <a:r>
              <a:rPr sz="5600" b="1" i="0">
                <a:solidFill>
                  <a:srgbClr val="0F766E"/>
                </a:solidFill>
                <a:latin typeface="Calibri"/>
              </a:rPr>
              <a:t>0</a:t>
            </a:r>
          </a:p>
          <a:p>
            <a:pPr algn="l">
              <a:spcAft>
                <a:spcPts val="400"/>
              </a:spcAft>
            </a:pPr>
            <a:r>
              <a:rPr sz="2000" b="0" i="0">
                <a:solidFill>
                  <a:srgbClr val="1F2933"/>
                </a:solidFill>
                <a:latin typeface="Calibri"/>
              </a:rPr>
              <a:t>mismatches: C++ firmware vs MATLAB model over 177,000 ticks</a:t>
            </a:r>
          </a:p>
        </p:txBody>
      </p:sp>
      <p:sp>
        <p:nvSpPr>
          <p:cNvPr id="21" name="Rounded Rectangle 20"/>
          <p:cNvSpPr/>
          <p:nvPr/>
        </p:nvSpPr>
        <p:spPr>
          <a:xfrm>
            <a:off x="12801600" y="6080759"/>
            <a:ext cx="4754880" cy="2103120"/>
          </a:xfrm>
          <a:prstGeom prst="roundRect">
            <a:avLst>
              <a:gd name="adj" fmla="val 8000"/>
            </a:avLst>
          </a:prstGeom>
          <a:solidFill>
            <a:srgbClr val="E0F2EF"/>
          </a:solidFill>
          <a:ln>
            <a:noFill/>
          </a:ln>
          <a:effectLst/>
        </p:spPr>
        <p:style>
          <a:lnRef idx="1">
            <a:schemeClr val="accent1"/>
          </a:lnRef>
          <a:fillRef idx="3">
            <a:schemeClr val="accent1"/>
          </a:fillRef>
          <a:effectRef idx="2">
            <a:schemeClr val="accent1"/>
          </a:effectRef>
          <a:fontRef idx="minor">
            <a:schemeClr val="lt1"/>
          </a:fontRef>
        </p:style>
        <p:txBody>
          <a:bodyPr rtlCol="0" anchor="t" lIns="274320" rIns="274320" tIns="54864" bIns="54864" wrap="square">
            <a:noAutofit/>
          </a:bodyPr>
          <a:lstStyle/>
          <a:p>
            <a:pPr algn="l">
              <a:spcAft>
                <a:spcPts val="0"/>
              </a:spcAft>
            </a:pPr>
            <a:r>
              <a:rPr sz="5600" b="1" i="0">
                <a:solidFill>
                  <a:srgbClr val="0F766E"/>
                </a:solidFill>
                <a:latin typeface="Calibri"/>
              </a:rPr>
              <a:t>100 %</a:t>
            </a:r>
          </a:p>
          <a:p>
            <a:pPr algn="l">
              <a:spcAft>
                <a:spcPts val="400"/>
              </a:spcAft>
            </a:pPr>
            <a:r>
              <a:rPr sz="2000" b="0" i="0">
                <a:solidFill>
                  <a:srgbClr val="1F2933"/>
                </a:solidFill>
                <a:latin typeface="Calibri"/>
              </a:rPr>
              <a:t>critical-load energy served in every outage scenario</a:t>
            </a:r>
          </a:p>
        </p:txBody>
      </p:sp>
      <p:sp>
        <p:nvSpPr>
          <p:cNvPr id="22" name="Rounded Rectangle 21"/>
          <p:cNvSpPr/>
          <p:nvPr/>
        </p:nvSpPr>
        <p:spPr>
          <a:xfrm>
            <a:off x="7772400" y="8458200"/>
            <a:ext cx="9784080" cy="1234440"/>
          </a:xfrm>
          <a:prstGeom prst="roundRect">
            <a:avLst>
              <a:gd name="adj" fmla="val 8000"/>
            </a:avLst>
          </a:prstGeom>
          <a:solidFill>
            <a:srgbClr val="FFFFFF"/>
          </a:solidFill>
          <a:ln w="19050">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54864" bIns="54864" wrap="square">
            <a:noAutofit/>
          </a:bodyPr>
          <a:lstStyle/>
          <a:p>
            <a:pPr algn="l">
              <a:spcAft>
                <a:spcPts val="400"/>
              </a:spcAft>
            </a:pPr>
            <a:r>
              <a:rPr sz="2000" b="1" i="0">
                <a:solidFill>
                  <a:srgbClr val="1F2933"/>
                </a:solidFill>
                <a:latin typeface="Calibri"/>
              </a:rPr>
              <a:t>Modelled: </a:t>
            </a:r>
            <a:r>
              <a:rPr sz="2000" b="0" i="0">
                <a:solidFill>
                  <a:srgbClr val="1F2933"/>
                </a:solidFill>
                <a:latin typeface="Calibri"/>
              </a:rPr>
              <a:t>solar panel (diode model), SLA battery (voltage vs charge + internal resistance), grid emulator, 3 houses; bus solved every 1 s.  Simulation only; bench values still to be measured.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8640" y="1325880"/>
            <a:ext cx="17190720" cy="868680"/>
          </a:xfrm>
          <a:prstGeom prst="rect">
            <a:avLst/>
          </a:prstGeom>
        </p:spPr>
        <p:txBody>
          <a:bodyPr lIns="0" tIns="0" rIns="0" bIns="0" rtlCol="0" anchor="t" wrap="square">
            <a:spAutoFit/>
          </a:bodyPr>
          <a:lstStyle/>
          <a:p>
            <a:pPr algn="l">
              <a:lnSpc>
                <a:spcPts val="7279"/>
              </a:lnSpc>
            </a:pPr>
            <a:r>
              <a:rPr lang="en-US" sz="4400" b="1">
                <a:solidFill>
                  <a:srgbClr val="000000"/>
                </a:solidFill>
                <a:latin typeface="Canva Sans Bold"/>
                <a:ea typeface="Canva Sans Bold"/>
                <a:cs typeface="Canva Sans Bold"/>
                <a:sym typeface="Canva Sans Bold"/>
              </a:rPr>
              <a:t>Technical approach: simulation results</a:t>
            </a:r>
          </a:p>
        </p:txBody>
      </p:sp>
      <p:grpSp>
        <p:nvGrpSpPr>
          <p:cNvPr id="3" name="Group 3"/>
          <p:cNvGrpSpPr/>
          <p:nvPr/>
        </p:nvGrpSpPr>
        <p:grpSpPr>
          <a:xfrm>
            <a:off x="535200" y="-81549"/>
            <a:ext cx="17503283" cy="1576346"/>
            <a:chOff x="0" y="0"/>
            <a:chExt cx="23337711" cy="2101794"/>
          </a:xfrm>
        </p:grpSpPr>
        <p:grpSp>
          <p:nvGrpSpPr>
            <p:cNvPr id="4" name="Group 4"/>
            <p:cNvGrpSpPr/>
            <p:nvPr/>
          </p:nvGrpSpPr>
          <p:grpSpPr>
            <a:xfrm>
              <a:off x="0" y="0"/>
              <a:ext cx="2390534" cy="2101794"/>
              <a:chOff x="0" y="0"/>
              <a:chExt cx="2451880" cy="2155730"/>
            </a:xfrm>
          </p:grpSpPr>
          <p:sp>
            <p:nvSpPr>
              <p:cNvPr id="5" name="Freeform 5"/>
              <p:cNvSpPr/>
              <p:nvPr/>
            </p:nvSpPr>
            <p:spPr>
              <a:xfrm>
                <a:off x="0" y="0"/>
                <a:ext cx="2451818" cy="2155743"/>
              </a:xfrm>
              <a:custGeom>
                <a:avLst/>
                <a:gdLst/>
                <a:ahLst/>
                <a:cxnLst/>
                <a:rect l="l" t="t" r="r" b="b"/>
                <a:pathLst>
                  <a:path w="2451818" h="2155743">
                    <a:moveTo>
                      <a:pt x="0" y="0"/>
                    </a:moveTo>
                    <a:lnTo>
                      <a:pt x="2451818" y="0"/>
                    </a:lnTo>
                    <a:lnTo>
                      <a:pt x="2451818" y="2155743"/>
                    </a:lnTo>
                    <a:lnTo>
                      <a:pt x="0" y="2155743"/>
                    </a:lnTo>
                    <a:lnTo>
                      <a:pt x="0" y="0"/>
                    </a:lnTo>
                    <a:close/>
                  </a:path>
                </a:pathLst>
              </a:custGeom>
              <a:blipFill>
                <a:blip r:embed="rId2"/>
                <a:stretch>
                  <a:fillRect l="-43229" r="-67848" b="-8030"/>
                </a:stretch>
              </a:blipFill>
            </p:spPr>
          </p:sp>
        </p:grpSp>
        <p:grpSp>
          <p:nvGrpSpPr>
            <p:cNvPr id="6" name="Group 6"/>
            <p:cNvGrpSpPr/>
            <p:nvPr/>
          </p:nvGrpSpPr>
          <p:grpSpPr>
            <a:xfrm>
              <a:off x="18545475" y="247188"/>
              <a:ext cx="1586845" cy="1627422"/>
              <a:chOff x="0" y="0"/>
              <a:chExt cx="1808366" cy="1854606"/>
            </a:xfrm>
          </p:grpSpPr>
          <p:sp>
            <p:nvSpPr>
              <p:cNvPr id="7" name="Freeform 7"/>
              <p:cNvSpPr/>
              <p:nvPr/>
            </p:nvSpPr>
            <p:spPr>
              <a:xfrm>
                <a:off x="0" y="0"/>
                <a:ext cx="1808353" cy="1854581"/>
              </a:xfrm>
              <a:custGeom>
                <a:avLst/>
                <a:gdLst/>
                <a:ahLst/>
                <a:cxnLst/>
                <a:rect l="l" t="t" r="r" b="b"/>
                <a:pathLst>
                  <a:path w="1808353" h="1854581">
                    <a:moveTo>
                      <a:pt x="0" y="0"/>
                    </a:moveTo>
                    <a:lnTo>
                      <a:pt x="1808353" y="0"/>
                    </a:lnTo>
                    <a:lnTo>
                      <a:pt x="1808353" y="1854581"/>
                    </a:lnTo>
                    <a:lnTo>
                      <a:pt x="0" y="1854581"/>
                    </a:lnTo>
                    <a:lnTo>
                      <a:pt x="0" y="0"/>
                    </a:lnTo>
                    <a:close/>
                  </a:path>
                </a:pathLst>
              </a:custGeom>
              <a:blipFill>
                <a:blip r:embed="rId3"/>
                <a:stretch>
                  <a:fillRect l="-63953" r="-63953" b="-1"/>
                </a:stretch>
              </a:blipFill>
            </p:spPr>
          </p:sp>
        </p:grpSp>
        <p:grpSp>
          <p:nvGrpSpPr>
            <p:cNvPr id="8" name="Group 8"/>
            <p:cNvGrpSpPr/>
            <p:nvPr/>
          </p:nvGrpSpPr>
          <p:grpSpPr>
            <a:xfrm>
              <a:off x="20344893" y="291523"/>
              <a:ext cx="2992818" cy="1380820"/>
              <a:chOff x="0" y="0"/>
              <a:chExt cx="2992818" cy="1380820"/>
            </a:xfrm>
          </p:grpSpPr>
          <p:sp>
            <p:nvSpPr>
              <p:cNvPr id="9" name="Freeform 9"/>
              <p:cNvSpPr/>
              <p:nvPr/>
            </p:nvSpPr>
            <p:spPr>
              <a:xfrm>
                <a:off x="0" y="0"/>
                <a:ext cx="2992882" cy="1380871"/>
              </a:xfrm>
              <a:custGeom>
                <a:avLst/>
                <a:gdLst/>
                <a:ahLst/>
                <a:cxnLst/>
                <a:rect l="l" t="t" r="r" b="b"/>
                <a:pathLst>
                  <a:path w="2992882" h="1380871">
                    <a:moveTo>
                      <a:pt x="0" y="0"/>
                    </a:moveTo>
                    <a:lnTo>
                      <a:pt x="2992882" y="0"/>
                    </a:lnTo>
                    <a:lnTo>
                      <a:pt x="2992882" y="1380871"/>
                    </a:lnTo>
                    <a:lnTo>
                      <a:pt x="0" y="1380871"/>
                    </a:lnTo>
                    <a:lnTo>
                      <a:pt x="0" y="0"/>
                    </a:lnTo>
                    <a:close/>
                  </a:path>
                </a:pathLst>
              </a:custGeom>
              <a:blipFill>
                <a:blip r:embed="rId4"/>
                <a:stretch>
                  <a:fillRect l="-1264" r="-1261" b="3"/>
                </a:stretch>
              </a:blipFill>
            </p:spPr>
          </p:sp>
        </p:grpSp>
        <p:sp>
          <p:nvSpPr>
            <p:cNvPr id="10" name="TextBox 10"/>
            <p:cNvSpPr txBox="1"/>
            <p:nvPr/>
          </p:nvSpPr>
          <p:spPr>
            <a:xfrm>
              <a:off x="3986137" y="60414"/>
              <a:ext cx="14984527" cy="1814195"/>
            </a:xfrm>
            <a:prstGeom prst="rect">
              <a:avLst/>
            </a:prstGeom>
          </p:spPr>
          <p:txBody>
            <a:bodyPr lIns="0" tIns="0" rIns="0" bIns="0" rtlCol="0" anchor="t">
              <a:spAutoFit/>
            </a:bodyPr>
            <a:lstStyle/>
            <a:p>
              <a:pPr algn="ctr">
                <a:lnSpc>
                  <a:spcPts val="6160"/>
                </a:lnSpc>
              </a:pPr>
              <a:r>
                <a:rPr lang="en-US" sz="4400">
                  <a:solidFill>
                    <a:srgbClr val="692B39"/>
                  </a:solidFill>
                  <a:latin typeface="Times New Roman"/>
                  <a:ea typeface="Times New Roman"/>
                  <a:cs typeface="Times New Roman"/>
                  <a:sym typeface="Times New Roman"/>
                </a:rPr>
                <a:t>Walchand College of Engineering, Sangli</a:t>
              </a:r>
            </a:p>
            <a:p>
              <a:pPr algn="ctr">
                <a:lnSpc>
                  <a:spcPts val="4759"/>
                </a:lnSpc>
              </a:pPr>
              <a:r>
                <a:rPr lang="en-US" sz="3399">
                  <a:solidFill>
                    <a:srgbClr val="692B39"/>
                  </a:solidFill>
                  <a:latin typeface="Times New Roman"/>
                  <a:ea typeface="Times New Roman"/>
                  <a:cs typeface="Times New Roman"/>
                  <a:sym typeface="Times New Roman"/>
                </a:rPr>
                <a:t>A Goverment-Aided Autonomous Institute</a:t>
              </a:r>
            </a:p>
          </p:txBody>
        </p:sp>
      </p:grpSp>
      <p:graphicFrame>
        <p:nvGraphicFramePr>
          <p:cNvPr id="11" name="Table 10"/>
          <p:cNvGraphicFramePr>
            <a:graphicFrameLocks noGrp="1"/>
          </p:cNvGraphicFramePr>
          <p:nvPr/>
        </p:nvGraphicFramePr>
        <p:xfrm>
          <a:off x="548640" y="2468880"/>
          <a:ext cx="17190720" cy="6419088"/>
        </p:xfrm>
        <a:graphic>
          <a:graphicData uri="http://schemas.openxmlformats.org/drawingml/2006/table">
            <a:tbl>
              <a:tblPr firstRow="0" bandRow="0"/>
              <a:tblGrid>
                <a:gridCol w="3017520"/>
                <a:gridCol w="4937760"/>
                <a:gridCol w="2377440"/>
                <a:gridCol w="1737360"/>
                <a:gridCol w="2377440"/>
                <a:gridCol w="2743200"/>
              </a:tblGrid>
              <a:tr h="713232">
                <a:tc>
                  <a:txBody>
                    <a:bodyPr wrap="square"/>
                    <a:lstStyle/>
                    <a:p>
                      <a:pPr algn="l">
                        <a:spcAft>
                          <a:spcPts val="0"/>
                        </a:spcAft>
                      </a:pPr>
                      <a:r>
                        <a:rPr sz="1800" b="1" i="0">
                          <a:solidFill>
                            <a:srgbClr val="FFFFFF"/>
                          </a:solidFill>
                          <a:latin typeface="Calibri"/>
                        </a:rPr>
                        <a:t>Scenario</a:t>
                      </a:r>
                    </a:p>
                  </a:txBody>
                  <a:tcPr marL="109728" marR="109728" marT="36576" marB="36576" anchor="ctr">
                    <a:solidFill>
                      <a:srgbClr val="7A1F2B"/>
                    </a:solidFill>
                  </a:tcPr>
                </a:tc>
                <a:tc>
                  <a:txBody>
                    <a:bodyPr wrap="square"/>
                    <a:lstStyle/>
                    <a:p>
                      <a:pPr algn="l">
                        <a:spcAft>
                          <a:spcPts val="0"/>
                        </a:spcAft>
                      </a:pPr>
                      <a:r>
                        <a:rPr sz="1800" b="1" i="0">
                          <a:solidFill>
                            <a:srgbClr val="FFFFFF"/>
                          </a:solidFill>
                          <a:latin typeface="Calibri"/>
                        </a:rPr>
                        <a:t>What it tests</a:t>
                      </a:r>
                    </a:p>
                  </a:txBody>
                  <a:tcPr marL="109728" marR="109728" marT="36576" marB="36576" anchor="ctr">
                    <a:solidFill>
                      <a:srgbClr val="7A1F2B"/>
                    </a:solidFill>
                  </a:tcPr>
                </a:tc>
                <a:tc>
                  <a:txBody>
                    <a:bodyPr wrap="square"/>
                    <a:lstStyle/>
                    <a:p>
                      <a:pPr algn="l">
                        <a:spcAft>
                          <a:spcPts val="0"/>
                        </a:spcAft>
                      </a:pPr>
                      <a:r>
                        <a:rPr sz="1800" b="1" i="0">
                          <a:solidFill>
                            <a:srgbClr val="FFFFFF"/>
                          </a:solidFill>
                          <a:latin typeface="Calibri"/>
                        </a:rPr>
                        <a:t>Bus V (min–max)</a:t>
                      </a:r>
                    </a:p>
                  </a:txBody>
                  <a:tcPr marL="109728" marR="109728" marT="36576" marB="36576" anchor="ctr">
                    <a:solidFill>
                      <a:srgbClr val="7A1F2B"/>
                    </a:solidFill>
                  </a:tcPr>
                </a:tc>
                <a:tc>
                  <a:txBody>
                    <a:bodyPr wrap="square"/>
                    <a:lstStyle/>
                    <a:p>
                      <a:pPr algn="l">
                        <a:spcAft>
                          <a:spcPts val="0"/>
                        </a:spcAft>
                      </a:pPr>
                      <a:r>
                        <a:rPr sz="1800" b="1" i="0">
                          <a:solidFill>
                            <a:srgbClr val="FFFFFF"/>
                          </a:solidFill>
                          <a:latin typeface="Calibri"/>
                        </a:rPr>
                        <a:t>Lowest SOC</a:t>
                      </a:r>
                    </a:p>
                  </a:txBody>
                  <a:tcPr marL="109728" marR="109728" marT="36576" marB="36576" anchor="ctr">
                    <a:solidFill>
                      <a:srgbClr val="7A1F2B"/>
                    </a:solidFill>
                  </a:tcPr>
                </a:tc>
                <a:tc>
                  <a:txBody>
                    <a:bodyPr wrap="square"/>
                    <a:lstStyle/>
                    <a:p>
                      <a:pPr algn="l">
                        <a:spcAft>
                          <a:spcPts val="0"/>
                        </a:spcAft>
                      </a:pPr>
                      <a:r>
                        <a:rPr sz="1800" b="1" i="0">
                          <a:solidFill>
                            <a:srgbClr val="FFFFFF"/>
                          </a:solidFill>
                          <a:latin typeface="Calibri"/>
                        </a:rPr>
                        <a:t>Critical served</a:t>
                      </a:r>
                    </a:p>
                  </a:txBody>
                  <a:tcPr marL="109728" marR="109728" marT="36576" marB="36576" anchor="ctr">
                    <a:solidFill>
                      <a:srgbClr val="7A1F2B"/>
                    </a:solidFill>
                  </a:tcPr>
                </a:tc>
                <a:tc>
                  <a:txBody>
                    <a:bodyPr wrap="square"/>
                    <a:lstStyle/>
                    <a:p>
                      <a:pPr algn="l">
                        <a:spcAft>
                          <a:spcPts val="0"/>
                        </a:spcAft>
                      </a:pPr>
                      <a:r>
                        <a:rPr sz="1800" b="1" i="0">
                          <a:solidFill>
                            <a:srgbClr val="FFFFFF"/>
                          </a:solidFill>
                          <a:latin typeface="Calibri"/>
                        </a:rPr>
                        <a:t>Result</a:t>
                      </a:r>
                    </a:p>
                  </a:txBody>
                  <a:tcPr marL="109728" marR="109728" marT="36576" marB="36576" anchor="ctr">
                    <a:solidFill>
                      <a:srgbClr val="7A1F2B"/>
                    </a:solidFill>
                  </a:tcPr>
                </a:tc>
              </a:tr>
              <a:tr h="713232">
                <a:tc>
                  <a:txBody>
                    <a:bodyPr wrap="square"/>
                    <a:lstStyle/>
                    <a:p>
                      <a:pPr algn="l">
                        <a:spcAft>
                          <a:spcPts val="0"/>
                        </a:spcAft>
                      </a:pPr>
                      <a:r>
                        <a:rPr sz="1800" b="1" i="0">
                          <a:solidFill>
                            <a:srgbClr val="1F2933"/>
                          </a:solidFill>
                          <a:latin typeface="Calibri"/>
                        </a:rPr>
                        <a:t>S1 Normal day</a:t>
                      </a:r>
                    </a:p>
                  </a:txBody>
                  <a:tcPr marL="109728" marR="109728" marT="36576" marB="36576" anchor="ctr">
                    <a:solidFill>
                      <a:srgbClr val="FFFFFF"/>
                    </a:solidFill>
                  </a:tcPr>
                </a:tc>
                <a:tc>
                  <a:txBody>
                    <a:bodyPr wrap="square"/>
                    <a:lstStyle/>
                    <a:p>
                      <a:pPr algn="l">
                        <a:spcAft>
                          <a:spcPts val="0"/>
                        </a:spcAft>
                      </a:pPr>
                      <a:r>
                        <a:rPr sz="1800" b="0" i="0">
                          <a:solidFill>
                            <a:srgbClr val="1F2933"/>
                          </a:solidFill>
                          <a:latin typeface="Calibri"/>
                        </a:rPr>
                        <a:t>Sunny day, grid on: charging and trading</a:t>
                      </a:r>
                    </a:p>
                  </a:txBody>
                  <a:tcPr marL="109728" marR="109728" marT="36576" marB="36576" anchor="ctr">
                    <a:solidFill>
                      <a:srgbClr val="FFFFFF"/>
                    </a:solidFill>
                  </a:tcPr>
                </a:tc>
                <a:tc>
                  <a:txBody>
                    <a:bodyPr wrap="square"/>
                    <a:lstStyle/>
                    <a:p>
                      <a:pPr algn="l">
                        <a:spcAft>
                          <a:spcPts val="0"/>
                        </a:spcAft>
                      </a:pPr>
                      <a:r>
                        <a:rPr sz="1800" b="0" i="0">
                          <a:solidFill>
                            <a:srgbClr val="1F2933"/>
                          </a:solidFill>
                          <a:latin typeface="Calibri"/>
                        </a:rPr>
                        <a:t>12.35–14.20</a:t>
                      </a:r>
                    </a:p>
                  </a:txBody>
                  <a:tcPr marL="109728" marR="109728" marT="36576" marB="36576" anchor="ctr">
                    <a:solidFill>
                      <a:srgbClr val="FFFFFF"/>
                    </a:solidFill>
                  </a:tcPr>
                </a:tc>
                <a:tc>
                  <a:txBody>
                    <a:bodyPr wrap="square"/>
                    <a:lstStyle/>
                    <a:p>
                      <a:pPr algn="l">
                        <a:spcAft>
                          <a:spcPts val="0"/>
                        </a:spcAft>
                      </a:pPr>
                      <a:r>
                        <a:rPr sz="1800" b="0" i="0">
                          <a:solidFill>
                            <a:srgbClr val="1F2933"/>
                          </a:solidFill>
                          <a:latin typeface="Calibri"/>
                        </a:rPr>
                        <a:t>55 %</a:t>
                      </a:r>
                    </a:p>
                  </a:txBody>
                  <a:tcPr marL="109728" marR="109728" marT="36576" marB="36576" anchor="ctr">
                    <a:solidFill>
                      <a:srgbClr val="FFFFFF"/>
                    </a:solidFill>
                  </a:tcPr>
                </a:tc>
                <a:tc>
                  <a:txBody>
                    <a:bodyPr wrap="square"/>
                    <a:lstStyle/>
                    <a:p>
                      <a:pPr algn="l">
                        <a:spcAft>
                          <a:spcPts val="0"/>
                        </a:spcAft>
                      </a:pPr>
                      <a:r>
                        <a:rPr sz="1800" b="0" i="0">
                          <a:solidFill>
                            <a:srgbClr val="1F2933"/>
                          </a:solidFill>
                          <a:latin typeface="Calibri"/>
                        </a:rPr>
                        <a:t>100 %</a:t>
                      </a:r>
                    </a:p>
                  </a:txBody>
                  <a:tcPr marL="109728" marR="109728" marT="36576" marB="36576" anchor="ctr">
                    <a:solidFill>
                      <a:srgbClr val="FFFFFF"/>
                    </a:solidFill>
                  </a:tcPr>
                </a:tc>
                <a:tc>
                  <a:txBody>
                    <a:bodyPr wrap="square"/>
                    <a:lstStyle/>
                    <a:p>
                      <a:pPr algn="l">
                        <a:spcAft>
                          <a:spcPts val="0"/>
                        </a:spcAft>
                      </a:pPr>
                      <a:r>
                        <a:rPr sz="1800" b="1" i="0">
                          <a:solidFill>
                            <a:srgbClr val="15803D"/>
                          </a:solidFill>
                          <a:latin typeface="Calibri"/>
                        </a:rPr>
                        <a:t>Pass</a:t>
                      </a:r>
                    </a:p>
                  </a:txBody>
                  <a:tcPr marL="109728" marR="109728" marT="36576" marB="36576" anchor="ctr">
                    <a:solidFill>
                      <a:srgbClr val="FFFFFF"/>
                    </a:solidFill>
                  </a:tcPr>
                </a:tc>
              </a:tr>
              <a:tr h="713232">
                <a:tc>
                  <a:txBody>
                    <a:bodyPr wrap="square"/>
                    <a:lstStyle/>
                    <a:p>
                      <a:pPr algn="l">
                        <a:spcAft>
                          <a:spcPts val="0"/>
                        </a:spcAft>
                      </a:pPr>
                      <a:r>
                        <a:rPr sz="1800" b="1" i="0">
                          <a:solidFill>
                            <a:srgbClr val="1F2933"/>
                          </a:solidFill>
                          <a:latin typeface="Calibri"/>
                        </a:rPr>
                        <a:t>S2 Grid outage</a:t>
                      </a:r>
                    </a:p>
                  </a:txBody>
                  <a:tcPr marL="109728" marR="109728" marT="36576" marB="36576" anchor="ctr">
                    <a:solidFill>
                      <a:srgbClr val="F3F4F6"/>
                    </a:solidFill>
                  </a:tcPr>
                </a:tc>
                <a:tc>
                  <a:txBody>
                    <a:bodyPr wrap="square"/>
                    <a:lstStyle/>
                    <a:p>
                      <a:pPr algn="l">
                        <a:spcAft>
                          <a:spcPts val="0"/>
                        </a:spcAft>
                      </a:pPr>
                      <a:r>
                        <a:rPr sz="1800" b="0" i="0">
                          <a:solidFill>
                            <a:srgbClr val="1F2933"/>
                          </a:solidFill>
                          <a:latin typeface="Calibri"/>
                        </a:rPr>
                        <a:t>3-hour evening outage</a:t>
                      </a:r>
                    </a:p>
                  </a:txBody>
                  <a:tcPr marL="109728" marR="109728" marT="36576" marB="36576" anchor="ctr">
                    <a:solidFill>
                      <a:srgbClr val="F3F4F6"/>
                    </a:solidFill>
                  </a:tcPr>
                </a:tc>
                <a:tc>
                  <a:txBody>
                    <a:bodyPr wrap="square"/>
                    <a:lstStyle/>
                    <a:p>
                      <a:pPr algn="l">
                        <a:spcAft>
                          <a:spcPts val="0"/>
                        </a:spcAft>
                      </a:pPr>
                      <a:r>
                        <a:rPr sz="1800" b="0" i="0">
                          <a:solidFill>
                            <a:srgbClr val="1F2933"/>
                          </a:solidFill>
                          <a:latin typeface="Calibri"/>
                        </a:rPr>
                        <a:t>12.12–12.53</a:t>
                      </a:r>
                    </a:p>
                  </a:txBody>
                  <a:tcPr marL="109728" marR="109728" marT="36576" marB="36576" anchor="ctr">
                    <a:solidFill>
                      <a:srgbClr val="F3F4F6"/>
                    </a:solidFill>
                  </a:tcPr>
                </a:tc>
                <a:tc>
                  <a:txBody>
                    <a:bodyPr wrap="square"/>
                    <a:lstStyle/>
                    <a:p>
                      <a:pPr algn="l">
                        <a:spcAft>
                          <a:spcPts val="0"/>
                        </a:spcAft>
                      </a:pPr>
                      <a:r>
                        <a:rPr sz="1800" b="0" i="0">
                          <a:solidFill>
                            <a:srgbClr val="1F2933"/>
                          </a:solidFill>
                          <a:latin typeface="Calibri"/>
                        </a:rPr>
                        <a:t>33 %</a:t>
                      </a:r>
                    </a:p>
                  </a:txBody>
                  <a:tcPr marL="109728" marR="109728" marT="36576" marB="36576" anchor="ctr">
                    <a:solidFill>
                      <a:srgbClr val="F3F4F6"/>
                    </a:solidFill>
                  </a:tcPr>
                </a:tc>
                <a:tc>
                  <a:txBody>
                    <a:bodyPr wrap="square"/>
                    <a:lstStyle/>
                    <a:p>
                      <a:pPr algn="l">
                        <a:spcAft>
                          <a:spcPts val="0"/>
                        </a:spcAft>
                      </a:pPr>
                      <a:r>
                        <a:rPr sz="1800" b="0" i="0">
                          <a:solidFill>
                            <a:srgbClr val="1F2933"/>
                          </a:solidFill>
                          <a:latin typeface="Calibri"/>
                        </a:rPr>
                        <a:t>100 %</a:t>
                      </a:r>
                    </a:p>
                  </a:txBody>
                  <a:tcPr marL="109728" marR="109728" marT="36576" marB="36576" anchor="ctr">
                    <a:solidFill>
                      <a:srgbClr val="F3F4F6"/>
                    </a:solidFill>
                  </a:tcPr>
                </a:tc>
                <a:tc>
                  <a:txBody>
                    <a:bodyPr wrap="square"/>
                    <a:lstStyle/>
                    <a:p>
                      <a:pPr algn="l">
                        <a:spcAft>
                          <a:spcPts val="0"/>
                        </a:spcAft>
                      </a:pPr>
                      <a:r>
                        <a:rPr sz="1800" b="1" i="0">
                          <a:solidFill>
                            <a:srgbClr val="15803D"/>
                          </a:solidFill>
                          <a:latin typeface="Calibri"/>
                        </a:rPr>
                        <a:t>Pass · islanded in 1 s</a:t>
                      </a:r>
                    </a:p>
                  </a:txBody>
                  <a:tcPr marL="109728" marR="109728" marT="36576" marB="36576" anchor="ctr">
                    <a:solidFill>
                      <a:srgbClr val="F3F4F6"/>
                    </a:solidFill>
                  </a:tcPr>
                </a:tc>
              </a:tr>
              <a:tr h="713232">
                <a:tc>
                  <a:txBody>
                    <a:bodyPr wrap="square"/>
                    <a:lstStyle/>
                    <a:p>
                      <a:pPr algn="l">
                        <a:spcAft>
                          <a:spcPts val="0"/>
                        </a:spcAft>
                      </a:pPr>
                      <a:r>
                        <a:rPr sz="1800" b="1" i="0">
                          <a:solidFill>
                            <a:srgbClr val="1F2933"/>
                          </a:solidFill>
                          <a:latin typeface="Calibri"/>
                        </a:rPr>
                        <a:t>S3 Low-battery outage</a:t>
                      </a:r>
                    </a:p>
                  </a:txBody>
                  <a:tcPr marL="109728" marR="109728" marT="36576" marB="36576" anchor="ctr">
                    <a:solidFill>
                      <a:srgbClr val="FFFFFF"/>
                    </a:solidFill>
                  </a:tcPr>
                </a:tc>
                <a:tc>
                  <a:txBody>
                    <a:bodyPr wrap="square"/>
                    <a:lstStyle/>
                    <a:p>
                      <a:pPr algn="l">
                        <a:spcAft>
                          <a:spcPts val="0"/>
                        </a:spcAft>
                      </a:pPr>
                      <a:r>
                        <a:rPr sz="1800" b="0" i="0">
                          <a:solidFill>
                            <a:srgbClr val="1F2933"/>
                          </a:solidFill>
                          <a:latin typeface="Calibri"/>
                        </a:rPr>
                        <a:t>Outage that starts with a weak battery</a:t>
                      </a:r>
                    </a:p>
                  </a:txBody>
                  <a:tcPr marL="109728" marR="109728" marT="36576" marB="36576" anchor="ctr">
                    <a:solidFill>
                      <a:srgbClr val="FFFFFF"/>
                    </a:solidFill>
                  </a:tcPr>
                </a:tc>
                <a:tc>
                  <a:txBody>
                    <a:bodyPr wrap="square"/>
                    <a:lstStyle/>
                    <a:p>
                      <a:pPr algn="l">
                        <a:spcAft>
                          <a:spcPts val="0"/>
                        </a:spcAft>
                      </a:pPr>
                      <a:r>
                        <a:rPr sz="1800" b="0" i="0">
                          <a:solidFill>
                            <a:srgbClr val="1F2933"/>
                          </a:solidFill>
                          <a:latin typeface="Calibri"/>
                        </a:rPr>
                        <a:t>12.00–12.27</a:t>
                      </a:r>
                    </a:p>
                  </a:txBody>
                  <a:tcPr marL="109728" marR="109728" marT="36576" marB="36576" anchor="ctr">
                    <a:solidFill>
                      <a:srgbClr val="FFFFFF"/>
                    </a:solidFill>
                  </a:tcPr>
                </a:tc>
                <a:tc>
                  <a:txBody>
                    <a:bodyPr wrap="square"/>
                    <a:lstStyle/>
                    <a:p>
                      <a:pPr algn="l">
                        <a:spcAft>
                          <a:spcPts val="0"/>
                        </a:spcAft>
                      </a:pPr>
                      <a:r>
                        <a:rPr sz="1800" b="0" i="0">
                          <a:solidFill>
                            <a:srgbClr val="1F2933"/>
                          </a:solidFill>
                          <a:latin typeface="Calibri"/>
                        </a:rPr>
                        <a:t>22 %</a:t>
                      </a:r>
                    </a:p>
                  </a:txBody>
                  <a:tcPr marL="109728" marR="109728" marT="36576" marB="36576" anchor="ctr">
                    <a:solidFill>
                      <a:srgbClr val="FFFFFF"/>
                    </a:solidFill>
                  </a:tcPr>
                </a:tc>
                <a:tc>
                  <a:txBody>
                    <a:bodyPr wrap="square"/>
                    <a:lstStyle/>
                    <a:p>
                      <a:pPr algn="l">
                        <a:spcAft>
                          <a:spcPts val="0"/>
                        </a:spcAft>
                      </a:pPr>
                      <a:r>
                        <a:rPr sz="1800" b="0" i="0">
                          <a:solidFill>
                            <a:srgbClr val="1F2933"/>
                          </a:solidFill>
                          <a:latin typeface="Calibri"/>
                        </a:rPr>
                        <a:t>100 %</a:t>
                      </a:r>
                    </a:p>
                  </a:txBody>
                  <a:tcPr marL="109728" marR="109728" marT="36576" marB="36576" anchor="ctr">
                    <a:solidFill>
                      <a:srgbClr val="FFFFFF"/>
                    </a:solidFill>
                  </a:tcPr>
                </a:tc>
                <a:tc>
                  <a:txBody>
                    <a:bodyPr wrap="square"/>
                    <a:lstStyle/>
                    <a:p>
                      <a:pPr algn="l">
                        <a:spcAft>
                          <a:spcPts val="0"/>
                        </a:spcAft>
                      </a:pPr>
                      <a:r>
                        <a:rPr sz="1800" b="1" i="0">
                          <a:solidFill>
                            <a:srgbClr val="15803D"/>
                          </a:solidFill>
                          <a:latin typeface="Calibri"/>
                        </a:rPr>
                        <a:t>Pass</a:t>
                      </a:r>
                    </a:p>
                  </a:txBody>
                  <a:tcPr marL="109728" marR="109728" marT="36576" marB="36576" anchor="ctr">
                    <a:solidFill>
                      <a:srgbClr val="FFFFFF"/>
                    </a:solidFill>
                  </a:tcPr>
                </a:tc>
              </a:tr>
              <a:tr h="713232">
                <a:tc>
                  <a:txBody>
                    <a:bodyPr wrap="square"/>
                    <a:lstStyle/>
                    <a:p>
                      <a:pPr algn="l">
                        <a:spcAft>
                          <a:spcPts val="0"/>
                        </a:spcAft>
                      </a:pPr>
                      <a:r>
                        <a:rPr sz="1800" b="1" i="0">
                          <a:solidFill>
                            <a:srgbClr val="1F2933"/>
                          </a:solidFill>
                          <a:latin typeface="Calibri"/>
                        </a:rPr>
                        <a:t>S4 Bad card</a:t>
                      </a:r>
                    </a:p>
                  </a:txBody>
                  <a:tcPr marL="109728" marR="109728" marT="36576" marB="36576" anchor="ctr">
                    <a:solidFill>
                      <a:srgbClr val="F3F4F6"/>
                    </a:solidFill>
                  </a:tcPr>
                </a:tc>
                <a:tc>
                  <a:txBody>
                    <a:bodyPr wrap="square"/>
                    <a:lstStyle/>
                    <a:p>
                      <a:pPr algn="l">
                        <a:spcAft>
                          <a:spcPts val="0"/>
                        </a:spcAft>
                      </a:pPr>
                      <a:r>
                        <a:rPr sz="1800" b="0" i="0">
                          <a:solidFill>
                            <a:srgbClr val="1F2933"/>
                          </a:solidFill>
                          <a:latin typeface="Calibri"/>
                        </a:rPr>
                        <a:t>Invalid RFID taps → card lockout</a:t>
                      </a:r>
                    </a:p>
                  </a:txBody>
                  <a:tcPr marL="109728" marR="109728" marT="36576" marB="36576" anchor="ctr">
                    <a:solidFill>
                      <a:srgbClr val="F3F4F6"/>
                    </a:solidFill>
                  </a:tcPr>
                </a:tc>
                <a:tc>
                  <a:txBody>
                    <a:bodyPr wrap="square"/>
                    <a:lstStyle/>
                    <a:p>
                      <a:pPr algn="l">
                        <a:spcAft>
                          <a:spcPts val="0"/>
                        </a:spcAft>
                      </a:pPr>
                      <a:r>
                        <a:rPr sz="1800" b="0" i="0">
                          <a:solidFill>
                            <a:srgbClr val="1F2933"/>
                          </a:solidFill>
                          <a:latin typeface="Calibri"/>
                        </a:rPr>
                        <a:t>12.47–12.73</a:t>
                      </a:r>
                    </a:p>
                  </a:txBody>
                  <a:tcPr marL="109728" marR="109728" marT="36576" marB="36576" anchor="ctr">
                    <a:solidFill>
                      <a:srgbClr val="F3F4F6"/>
                    </a:solidFill>
                  </a:tcPr>
                </a:tc>
                <a:tc>
                  <a:txBody>
                    <a:bodyPr wrap="square"/>
                    <a:lstStyle/>
                    <a:p>
                      <a:pPr algn="l">
                        <a:spcAft>
                          <a:spcPts val="0"/>
                        </a:spcAft>
                      </a:pPr>
                      <a:r>
                        <a:rPr sz="1800" b="0" i="0">
                          <a:solidFill>
                            <a:srgbClr val="1F2933"/>
                          </a:solidFill>
                          <a:latin typeface="Calibri"/>
                        </a:rPr>
                        <a:t>70 %</a:t>
                      </a:r>
                    </a:p>
                  </a:txBody>
                  <a:tcPr marL="109728" marR="109728" marT="36576" marB="36576" anchor="ctr">
                    <a:solidFill>
                      <a:srgbClr val="F3F4F6"/>
                    </a:solidFill>
                  </a:tcPr>
                </a:tc>
                <a:tc>
                  <a:txBody>
                    <a:bodyPr wrap="square"/>
                    <a:lstStyle/>
                    <a:p>
                      <a:pPr algn="l">
                        <a:spcAft>
                          <a:spcPts val="0"/>
                        </a:spcAft>
                      </a:pPr>
                      <a:r>
                        <a:rPr sz="1800" b="0" i="0">
                          <a:solidFill>
                            <a:srgbClr val="1F2933"/>
                          </a:solidFill>
                          <a:latin typeface="Calibri"/>
                        </a:rPr>
                        <a:t>100 %</a:t>
                      </a:r>
                    </a:p>
                  </a:txBody>
                  <a:tcPr marL="109728" marR="109728" marT="36576" marB="36576" anchor="ctr">
                    <a:solidFill>
                      <a:srgbClr val="F3F4F6"/>
                    </a:solidFill>
                  </a:tcPr>
                </a:tc>
                <a:tc>
                  <a:txBody>
                    <a:bodyPr wrap="square"/>
                    <a:lstStyle/>
                    <a:p>
                      <a:pPr algn="l">
                        <a:spcAft>
                          <a:spcPts val="0"/>
                        </a:spcAft>
                      </a:pPr>
                      <a:r>
                        <a:rPr sz="1800" b="1" i="0">
                          <a:solidFill>
                            <a:srgbClr val="15803D"/>
                          </a:solidFill>
                          <a:latin typeface="Calibri"/>
                        </a:rPr>
                        <a:t>Pass</a:t>
                      </a:r>
                    </a:p>
                  </a:txBody>
                  <a:tcPr marL="109728" marR="109728" marT="36576" marB="36576" anchor="ctr">
                    <a:solidFill>
                      <a:srgbClr val="F3F4F6"/>
                    </a:solidFill>
                  </a:tcPr>
                </a:tc>
              </a:tr>
              <a:tr h="713232">
                <a:tc>
                  <a:txBody>
                    <a:bodyPr wrap="square"/>
                    <a:lstStyle/>
                    <a:p>
                      <a:pPr algn="l">
                        <a:spcAft>
                          <a:spcPts val="0"/>
                        </a:spcAft>
                      </a:pPr>
                      <a:r>
                        <a:rPr sz="1800" b="1" i="0">
                          <a:solidFill>
                            <a:srgbClr val="1F2933"/>
                          </a:solidFill>
                          <a:latin typeface="Calibri"/>
                        </a:rPr>
                        <a:t>S5 Zero credit</a:t>
                      </a:r>
                    </a:p>
                  </a:txBody>
                  <a:tcPr marL="109728" marR="109728" marT="36576" marB="36576" anchor="ctr">
                    <a:solidFill>
                      <a:srgbClr val="FFFFFF"/>
                    </a:solidFill>
                  </a:tcPr>
                </a:tc>
                <a:tc>
                  <a:txBody>
                    <a:bodyPr wrap="square"/>
                    <a:lstStyle/>
                    <a:p>
                      <a:pPr algn="l">
                        <a:spcAft>
                          <a:spcPts val="0"/>
                        </a:spcAft>
                      </a:pPr>
                      <a:r>
                        <a:rPr sz="1800" b="0" i="0">
                          <a:solidFill>
                            <a:srgbClr val="1F2933"/>
                          </a:solidFill>
                          <a:latin typeface="Calibri"/>
                        </a:rPr>
                        <a:t>A household runs out of prepaid credit</a:t>
                      </a:r>
                    </a:p>
                  </a:txBody>
                  <a:tcPr marL="109728" marR="109728" marT="36576" marB="36576" anchor="ctr">
                    <a:solidFill>
                      <a:srgbClr val="FFFFFF"/>
                    </a:solidFill>
                  </a:tcPr>
                </a:tc>
                <a:tc>
                  <a:txBody>
                    <a:bodyPr wrap="square"/>
                    <a:lstStyle/>
                    <a:p>
                      <a:pPr algn="l">
                        <a:spcAft>
                          <a:spcPts val="0"/>
                        </a:spcAft>
                      </a:pPr>
                      <a:r>
                        <a:rPr sz="1800" b="0" i="0">
                          <a:solidFill>
                            <a:srgbClr val="1F2933"/>
                          </a:solidFill>
                          <a:latin typeface="Calibri"/>
                        </a:rPr>
                        <a:t>12.20–12.50</a:t>
                      </a:r>
                    </a:p>
                  </a:txBody>
                  <a:tcPr marL="109728" marR="109728" marT="36576" marB="36576" anchor="ctr">
                    <a:solidFill>
                      <a:srgbClr val="FFFFFF"/>
                    </a:solidFill>
                  </a:tcPr>
                </a:tc>
                <a:tc>
                  <a:txBody>
                    <a:bodyPr wrap="square"/>
                    <a:lstStyle/>
                    <a:p>
                      <a:pPr algn="l">
                        <a:spcAft>
                          <a:spcPts val="0"/>
                        </a:spcAft>
                      </a:pPr>
                      <a:r>
                        <a:rPr sz="1800" b="0" i="0">
                          <a:solidFill>
                            <a:srgbClr val="1F2933"/>
                          </a:solidFill>
                          <a:latin typeface="Calibri"/>
                        </a:rPr>
                        <a:t>40 %</a:t>
                      </a:r>
                    </a:p>
                  </a:txBody>
                  <a:tcPr marL="109728" marR="109728" marT="36576" marB="36576" anchor="ctr">
                    <a:solidFill>
                      <a:srgbClr val="FFFFFF"/>
                    </a:solidFill>
                  </a:tcPr>
                </a:tc>
                <a:tc>
                  <a:txBody>
                    <a:bodyPr wrap="square"/>
                    <a:lstStyle/>
                    <a:p>
                      <a:pPr algn="l">
                        <a:spcAft>
                          <a:spcPts val="0"/>
                        </a:spcAft>
                      </a:pPr>
                      <a:r>
                        <a:rPr sz="1800" b="0" i="0">
                          <a:solidFill>
                            <a:srgbClr val="1F2933"/>
                          </a:solidFill>
                          <a:latin typeface="Calibri"/>
                        </a:rPr>
                        <a:t>100 %</a:t>
                      </a:r>
                    </a:p>
                  </a:txBody>
                  <a:tcPr marL="109728" marR="109728" marT="36576" marB="36576" anchor="ctr">
                    <a:solidFill>
                      <a:srgbClr val="FFFFFF"/>
                    </a:solidFill>
                  </a:tcPr>
                </a:tc>
                <a:tc>
                  <a:txBody>
                    <a:bodyPr wrap="square"/>
                    <a:lstStyle/>
                    <a:p>
                      <a:pPr algn="l">
                        <a:spcAft>
                          <a:spcPts val="0"/>
                        </a:spcAft>
                      </a:pPr>
                      <a:r>
                        <a:rPr sz="1800" b="1" i="0">
                          <a:solidFill>
                            <a:srgbClr val="15803D"/>
                          </a:solidFill>
                          <a:latin typeface="Calibri"/>
                        </a:rPr>
                        <a:t>Pass</a:t>
                      </a:r>
                    </a:p>
                  </a:txBody>
                  <a:tcPr marL="109728" marR="109728" marT="36576" marB="36576" anchor="ctr">
                    <a:solidFill>
                      <a:srgbClr val="FFFFFF"/>
                    </a:solidFill>
                  </a:tcPr>
                </a:tc>
              </a:tr>
              <a:tr h="713232">
                <a:tc>
                  <a:txBody>
                    <a:bodyPr wrap="square"/>
                    <a:lstStyle/>
                    <a:p>
                      <a:pPr algn="l">
                        <a:spcAft>
                          <a:spcPts val="0"/>
                        </a:spcAft>
                      </a:pPr>
                      <a:r>
                        <a:rPr sz="1800" b="1" i="0">
                          <a:solidFill>
                            <a:srgbClr val="1F2933"/>
                          </a:solidFill>
                          <a:latin typeface="Calibri"/>
                        </a:rPr>
                        <a:t>S6 Faulty house</a:t>
                      </a:r>
                    </a:p>
                  </a:txBody>
                  <a:tcPr marL="109728" marR="109728" marT="36576" marB="36576" anchor="ctr">
                    <a:solidFill>
                      <a:srgbClr val="F3F4F6"/>
                    </a:solidFill>
                  </a:tcPr>
                </a:tc>
                <a:tc>
                  <a:txBody>
                    <a:bodyPr wrap="square"/>
                    <a:lstStyle/>
                    <a:p>
                      <a:pPr algn="l">
                        <a:spcAft>
                          <a:spcPts val="0"/>
                        </a:spcAft>
                      </a:pPr>
                      <a:r>
                        <a:rPr sz="1800" b="0" i="0">
                          <a:solidFill>
                            <a:srgbClr val="1F2933"/>
                          </a:solidFill>
                          <a:latin typeface="Calibri"/>
                        </a:rPr>
                        <a:t>2.5 Ω fault inside House 3</a:t>
                      </a:r>
                    </a:p>
                  </a:txBody>
                  <a:tcPr marL="109728" marR="109728" marT="36576" marB="36576" anchor="ctr">
                    <a:solidFill>
                      <a:srgbClr val="F3F4F6"/>
                    </a:solidFill>
                  </a:tcPr>
                </a:tc>
                <a:tc>
                  <a:txBody>
                    <a:bodyPr wrap="square"/>
                    <a:lstStyle/>
                    <a:p>
                      <a:pPr algn="l">
                        <a:spcAft>
                          <a:spcPts val="0"/>
                        </a:spcAft>
                      </a:pPr>
                      <a:r>
                        <a:rPr sz="1800" b="0" i="0">
                          <a:solidFill>
                            <a:srgbClr val="1F2933"/>
                          </a:solidFill>
                          <a:latin typeface="Calibri"/>
                        </a:rPr>
                        <a:t>12.38–12.69</a:t>
                      </a:r>
                    </a:p>
                  </a:txBody>
                  <a:tcPr marL="109728" marR="109728" marT="36576" marB="36576" anchor="ctr">
                    <a:solidFill>
                      <a:srgbClr val="F3F4F6"/>
                    </a:solidFill>
                  </a:tcPr>
                </a:tc>
                <a:tc>
                  <a:txBody>
                    <a:bodyPr wrap="square"/>
                    <a:lstStyle/>
                    <a:p>
                      <a:pPr algn="l">
                        <a:spcAft>
                          <a:spcPts val="0"/>
                        </a:spcAft>
                      </a:pPr>
                      <a:r>
                        <a:rPr sz="1800" b="0" i="0">
                          <a:solidFill>
                            <a:srgbClr val="1F2933"/>
                          </a:solidFill>
                          <a:latin typeface="Calibri"/>
                        </a:rPr>
                        <a:t>70 %</a:t>
                      </a:r>
                    </a:p>
                  </a:txBody>
                  <a:tcPr marL="109728" marR="109728" marT="36576" marB="36576" anchor="ctr">
                    <a:solidFill>
                      <a:srgbClr val="F3F4F6"/>
                    </a:solidFill>
                  </a:tcPr>
                </a:tc>
                <a:tc>
                  <a:txBody>
                    <a:bodyPr wrap="square"/>
                    <a:lstStyle/>
                    <a:p>
                      <a:pPr algn="l">
                        <a:spcAft>
                          <a:spcPts val="0"/>
                        </a:spcAft>
                      </a:pPr>
                      <a:r>
                        <a:rPr sz="1800" b="0" i="0">
                          <a:solidFill>
                            <a:srgbClr val="1F2933"/>
                          </a:solidFill>
                          <a:latin typeface="Calibri"/>
                        </a:rPr>
                        <a:t>100 % healthy houses*</a:t>
                      </a:r>
                    </a:p>
                  </a:txBody>
                  <a:tcPr marL="109728" marR="109728" marT="36576" marB="36576" anchor="ctr">
                    <a:solidFill>
                      <a:srgbClr val="F3F4F6"/>
                    </a:solidFill>
                  </a:tcPr>
                </a:tc>
                <a:tc>
                  <a:txBody>
                    <a:bodyPr wrap="square"/>
                    <a:lstStyle/>
                    <a:p>
                      <a:pPr algn="l">
                        <a:spcAft>
                          <a:spcPts val="0"/>
                        </a:spcAft>
                      </a:pPr>
                      <a:r>
                        <a:rPr sz="1800" b="1" i="0">
                          <a:solidFill>
                            <a:srgbClr val="15803D"/>
                          </a:solidFill>
                          <a:latin typeface="Calibri"/>
                        </a:rPr>
                        <a:t>Pass · H3 isolated</a:t>
                      </a:r>
                    </a:p>
                  </a:txBody>
                  <a:tcPr marL="109728" marR="109728" marT="36576" marB="36576" anchor="ctr">
                    <a:solidFill>
                      <a:srgbClr val="F3F4F6"/>
                    </a:solidFill>
                  </a:tcPr>
                </a:tc>
              </a:tr>
              <a:tr h="713232">
                <a:tc>
                  <a:txBody>
                    <a:bodyPr wrap="square"/>
                    <a:lstStyle/>
                    <a:p>
                      <a:pPr algn="l">
                        <a:spcAft>
                          <a:spcPts val="0"/>
                        </a:spcAft>
                      </a:pPr>
                      <a:r>
                        <a:rPr sz="1800" b="1" i="0">
                          <a:solidFill>
                            <a:srgbClr val="1F2933"/>
                          </a:solidFill>
                          <a:latin typeface="Calibri"/>
                        </a:rPr>
                        <a:t>S7 Flapping grid</a:t>
                      </a:r>
                    </a:p>
                  </a:txBody>
                  <a:tcPr marL="109728" marR="109728" marT="36576" marB="36576" anchor="ctr">
                    <a:solidFill>
                      <a:srgbClr val="FFFFFF"/>
                    </a:solidFill>
                  </a:tcPr>
                </a:tc>
                <a:tc>
                  <a:txBody>
                    <a:bodyPr wrap="square"/>
                    <a:lstStyle/>
                    <a:p>
                      <a:pPr algn="l">
                        <a:spcAft>
                          <a:spcPts val="0"/>
                        </a:spcAft>
                      </a:pPr>
                      <a:r>
                        <a:rPr sz="1800" b="0" i="0">
                          <a:solidFill>
                            <a:srgbClr val="1F2933"/>
                          </a:solidFill>
                          <a:latin typeface="Calibri"/>
                        </a:rPr>
                        <a:t>Grid drops and returns repeatedly</a:t>
                      </a:r>
                    </a:p>
                  </a:txBody>
                  <a:tcPr marL="109728" marR="109728" marT="36576" marB="36576" anchor="ctr">
                    <a:solidFill>
                      <a:srgbClr val="FFFFFF"/>
                    </a:solidFill>
                  </a:tcPr>
                </a:tc>
                <a:tc>
                  <a:txBody>
                    <a:bodyPr wrap="square"/>
                    <a:lstStyle/>
                    <a:p>
                      <a:pPr algn="l">
                        <a:spcAft>
                          <a:spcPts val="0"/>
                        </a:spcAft>
                      </a:pPr>
                      <a:r>
                        <a:rPr sz="1800" b="0" i="0">
                          <a:solidFill>
                            <a:srgbClr val="1F2933"/>
                          </a:solidFill>
                          <a:latin typeface="Calibri"/>
                        </a:rPr>
                        <a:t>12.46–12.64</a:t>
                      </a:r>
                    </a:p>
                  </a:txBody>
                  <a:tcPr marL="109728" marR="109728" marT="36576" marB="36576" anchor="ctr">
                    <a:solidFill>
                      <a:srgbClr val="FFFFFF"/>
                    </a:solidFill>
                  </a:tcPr>
                </a:tc>
                <a:tc>
                  <a:txBody>
                    <a:bodyPr wrap="square"/>
                    <a:lstStyle/>
                    <a:p>
                      <a:pPr algn="l">
                        <a:spcAft>
                          <a:spcPts val="0"/>
                        </a:spcAft>
                      </a:pPr>
                      <a:r>
                        <a:rPr sz="1800" b="0" i="0">
                          <a:solidFill>
                            <a:srgbClr val="1F2933"/>
                          </a:solidFill>
                          <a:latin typeface="Calibri"/>
                        </a:rPr>
                        <a:t>70 %</a:t>
                      </a:r>
                    </a:p>
                  </a:txBody>
                  <a:tcPr marL="109728" marR="109728" marT="36576" marB="36576" anchor="ctr">
                    <a:solidFill>
                      <a:srgbClr val="FFFFFF"/>
                    </a:solidFill>
                  </a:tcPr>
                </a:tc>
                <a:tc>
                  <a:txBody>
                    <a:bodyPr wrap="square"/>
                    <a:lstStyle/>
                    <a:p>
                      <a:pPr algn="l">
                        <a:spcAft>
                          <a:spcPts val="0"/>
                        </a:spcAft>
                      </a:pPr>
                      <a:r>
                        <a:rPr sz="1800" b="0" i="0">
                          <a:solidFill>
                            <a:srgbClr val="1F2933"/>
                          </a:solidFill>
                          <a:latin typeface="Calibri"/>
                        </a:rPr>
                        <a:t>100 %</a:t>
                      </a:r>
                    </a:p>
                  </a:txBody>
                  <a:tcPr marL="109728" marR="109728" marT="36576" marB="36576" anchor="ctr">
                    <a:solidFill>
                      <a:srgbClr val="FFFFFF"/>
                    </a:solidFill>
                  </a:tcPr>
                </a:tc>
                <a:tc>
                  <a:txBody>
                    <a:bodyPr wrap="square"/>
                    <a:lstStyle/>
                    <a:p>
                      <a:pPr algn="l">
                        <a:spcAft>
                          <a:spcPts val="0"/>
                        </a:spcAft>
                      </a:pPr>
                      <a:r>
                        <a:rPr sz="1800" b="1" i="0">
                          <a:solidFill>
                            <a:srgbClr val="15803D"/>
                          </a:solidFill>
                          <a:latin typeface="Calibri"/>
                        </a:rPr>
                        <a:t>Pass · one clean reconnect</a:t>
                      </a:r>
                    </a:p>
                  </a:txBody>
                  <a:tcPr marL="109728" marR="109728" marT="36576" marB="36576" anchor="ctr">
                    <a:solidFill>
                      <a:srgbClr val="FFFFFF"/>
                    </a:solidFill>
                  </a:tcPr>
                </a:tc>
              </a:tr>
              <a:tr h="713232">
                <a:tc>
                  <a:txBody>
                    <a:bodyPr wrap="square"/>
                    <a:lstStyle/>
                    <a:p>
                      <a:pPr algn="l">
                        <a:spcAft>
                          <a:spcPts val="0"/>
                        </a:spcAft>
                      </a:pPr>
                      <a:r>
                        <a:rPr sz="1800" b="1" i="0">
                          <a:solidFill>
                            <a:srgbClr val="1F2933"/>
                          </a:solidFill>
                          <a:latin typeface="Calibri"/>
                        </a:rPr>
                        <a:t>S8 Full battery</a:t>
                      </a:r>
                    </a:p>
                  </a:txBody>
                  <a:tcPr marL="109728" marR="109728" marT="36576" marB="36576" anchor="ctr">
                    <a:solidFill>
                      <a:srgbClr val="F3F4F6"/>
                    </a:solidFill>
                  </a:tcPr>
                </a:tc>
                <a:tc>
                  <a:txBody>
                    <a:bodyPr wrap="square"/>
                    <a:lstStyle/>
                    <a:p>
                      <a:pPr algn="l">
                        <a:spcAft>
                          <a:spcPts val="0"/>
                        </a:spcAft>
                      </a:pPr>
                      <a:r>
                        <a:rPr sz="1800" b="0" i="0">
                          <a:solidFill>
                            <a:srgbClr val="1F2933"/>
                          </a:solidFill>
                          <a:latin typeface="Calibri"/>
                        </a:rPr>
                        <a:t>Battery full with solar surplus</a:t>
                      </a:r>
                    </a:p>
                  </a:txBody>
                  <a:tcPr marL="109728" marR="109728" marT="36576" marB="36576" anchor="ctr">
                    <a:solidFill>
                      <a:srgbClr val="F3F4F6"/>
                    </a:solidFill>
                  </a:tcPr>
                </a:tc>
                <a:tc>
                  <a:txBody>
                    <a:bodyPr wrap="square"/>
                    <a:lstStyle/>
                    <a:p>
                      <a:pPr algn="l">
                        <a:spcAft>
                          <a:spcPts val="0"/>
                        </a:spcAft>
                      </a:pPr>
                      <a:r>
                        <a:rPr sz="1800" b="0" i="0">
                          <a:solidFill>
                            <a:srgbClr val="1F2933"/>
                          </a:solidFill>
                          <a:latin typeface="Calibri"/>
                        </a:rPr>
                        <a:t>12.69–14.20</a:t>
                      </a:r>
                    </a:p>
                  </a:txBody>
                  <a:tcPr marL="109728" marR="109728" marT="36576" marB="36576" anchor="ctr">
                    <a:solidFill>
                      <a:srgbClr val="F3F4F6"/>
                    </a:solidFill>
                  </a:tcPr>
                </a:tc>
                <a:tc>
                  <a:txBody>
                    <a:bodyPr wrap="square"/>
                    <a:lstStyle/>
                    <a:p>
                      <a:pPr algn="l">
                        <a:spcAft>
                          <a:spcPts val="0"/>
                        </a:spcAft>
                      </a:pPr>
                      <a:r>
                        <a:rPr sz="1800" b="0" i="0">
                          <a:solidFill>
                            <a:srgbClr val="1F2933"/>
                          </a:solidFill>
                          <a:latin typeface="Calibri"/>
                        </a:rPr>
                        <a:t>93 %</a:t>
                      </a:r>
                    </a:p>
                  </a:txBody>
                  <a:tcPr marL="109728" marR="109728" marT="36576" marB="36576" anchor="ctr">
                    <a:solidFill>
                      <a:srgbClr val="F3F4F6"/>
                    </a:solidFill>
                  </a:tcPr>
                </a:tc>
                <a:tc>
                  <a:txBody>
                    <a:bodyPr wrap="square"/>
                    <a:lstStyle/>
                    <a:p>
                      <a:pPr algn="l">
                        <a:spcAft>
                          <a:spcPts val="0"/>
                        </a:spcAft>
                      </a:pPr>
                      <a:r>
                        <a:rPr sz="1800" b="0" i="0">
                          <a:solidFill>
                            <a:srgbClr val="1F2933"/>
                          </a:solidFill>
                          <a:latin typeface="Calibri"/>
                        </a:rPr>
                        <a:t>100 %</a:t>
                      </a:r>
                    </a:p>
                  </a:txBody>
                  <a:tcPr marL="109728" marR="109728" marT="36576" marB="36576" anchor="ctr">
                    <a:solidFill>
                      <a:srgbClr val="F3F4F6"/>
                    </a:solidFill>
                  </a:tcPr>
                </a:tc>
                <a:tc>
                  <a:txBody>
                    <a:bodyPr wrap="square"/>
                    <a:lstStyle/>
                    <a:p>
                      <a:pPr algn="l">
                        <a:spcAft>
                          <a:spcPts val="0"/>
                        </a:spcAft>
                      </a:pPr>
                      <a:r>
                        <a:rPr sz="1800" b="1" i="0">
                          <a:solidFill>
                            <a:srgbClr val="15803D"/>
                          </a:solidFill>
                          <a:latin typeface="Calibri"/>
                        </a:rPr>
                        <a:t>Pass · solar curtailed</a:t>
                      </a:r>
                    </a:p>
                  </a:txBody>
                  <a:tcPr marL="109728" marR="109728" marT="36576" marB="36576" anchor="ctr">
                    <a:solidFill>
                      <a:srgbClr val="F3F4F6"/>
                    </a:solidFill>
                  </a:tcPr>
                </a:tc>
              </a:tr>
            </a:tbl>
          </a:graphicData>
        </a:graphic>
      </p:graphicFrame>
      <p:sp>
        <p:nvSpPr>
          <p:cNvPr id="12" name="TextBox 11"/>
          <p:cNvSpPr txBox="1"/>
          <p:nvPr/>
        </p:nvSpPr>
        <p:spPr>
          <a:xfrm>
            <a:off x="548640" y="9052560"/>
            <a:ext cx="17190720" cy="731520"/>
          </a:xfrm>
          <a:prstGeom prst="rect">
            <a:avLst/>
          </a:prstGeom>
          <a:noFill/>
        </p:spPr>
        <p:txBody>
          <a:bodyPr wrap="square" lIns="0" rIns="0" tIns="0" bIns="0" anchor="t">
            <a:noAutofit/>
          </a:bodyPr>
          <a:lstStyle/>
          <a:p>
            <a:pPr algn="l">
              <a:spcAft>
                <a:spcPts val="600"/>
              </a:spcAft>
            </a:pPr>
            <a:r>
              <a:rPr sz="2000" b="0" i="0">
                <a:solidFill>
                  <a:srgbClr val="4B5563"/>
                </a:solidFill>
                <a:latin typeface="Calibri"/>
              </a:rPr>
              <a:t>*House 3 is tripped and locked out on purpose to protect the bus; the other houses are unaffected. Pass rules: bus stays within 11.0–14.6 V, critical loads fully served, no relay chatter.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8640" y="1325880"/>
            <a:ext cx="17190720" cy="868680"/>
          </a:xfrm>
          <a:prstGeom prst="rect">
            <a:avLst/>
          </a:prstGeom>
        </p:spPr>
        <p:txBody>
          <a:bodyPr lIns="0" tIns="0" rIns="0" bIns="0" rtlCol="0" anchor="t" wrap="square">
            <a:spAutoFit/>
          </a:bodyPr>
          <a:lstStyle/>
          <a:p>
            <a:pPr algn="l">
              <a:lnSpc>
                <a:spcPts val="7279"/>
              </a:lnSpc>
            </a:pPr>
            <a:r>
              <a:rPr lang="en-US" sz="4400" b="1">
                <a:solidFill>
                  <a:srgbClr val="000000"/>
                </a:solidFill>
                <a:latin typeface="Canva Sans Bold"/>
                <a:ea typeface="Canva Sans Bold"/>
                <a:cs typeface="Canva Sans Bold"/>
                <a:sym typeface="Canva Sans Bold"/>
              </a:rPr>
              <a:t>Technical approach: prepaid metering &amp; P2P trading</a:t>
            </a:r>
          </a:p>
        </p:txBody>
      </p:sp>
      <p:grpSp>
        <p:nvGrpSpPr>
          <p:cNvPr id="3" name="Group 3"/>
          <p:cNvGrpSpPr/>
          <p:nvPr/>
        </p:nvGrpSpPr>
        <p:grpSpPr>
          <a:xfrm>
            <a:off x="535200" y="-81549"/>
            <a:ext cx="17503283" cy="1576346"/>
            <a:chOff x="0" y="0"/>
            <a:chExt cx="23337711" cy="2101794"/>
          </a:xfrm>
        </p:grpSpPr>
        <p:grpSp>
          <p:nvGrpSpPr>
            <p:cNvPr id="4" name="Group 4"/>
            <p:cNvGrpSpPr/>
            <p:nvPr/>
          </p:nvGrpSpPr>
          <p:grpSpPr>
            <a:xfrm>
              <a:off x="0" y="0"/>
              <a:ext cx="2390534" cy="2101794"/>
              <a:chOff x="0" y="0"/>
              <a:chExt cx="2451880" cy="2155730"/>
            </a:xfrm>
          </p:grpSpPr>
          <p:sp>
            <p:nvSpPr>
              <p:cNvPr id="5" name="Freeform 5"/>
              <p:cNvSpPr/>
              <p:nvPr/>
            </p:nvSpPr>
            <p:spPr>
              <a:xfrm>
                <a:off x="0" y="0"/>
                <a:ext cx="2451818" cy="2155743"/>
              </a:xfrm>
              <a:custGeom>
                <a:avLst/>
                <a:gdLst/>
                <a:ahLst/>
                <a:cxnLst/>
                <a:rect l="l" t="t" r="r" b="b"/>
                <a:pathLst>
                  <a:path w="2451818" h="2155743">
                    <a:moveTo>
                      <a:pt x="0" y="0"/>
                    </a:moveTo>
                    <a:lnTo>
                      <a:pt x="2451818" y="0"/>
                    </a:lnTo>
                    <a:lnTo>
                      <a:pt x="2451818" y="2155743"/>
                    </a:lnTo>
                    <a:lnTo>
                      <a:pt x="0" y="2155743"/>
                    </a:lnTo>
                    <a:lnTo>
                      <a:pt x="0" y="0"/>
                    </a:lnTo>
                    <a:close/>
                  </a:path>
                </a:pathLst>
              </a:custGeom>
              <a:blipFill>
                <a:blip r:embed="rId2"/>
                <a:stretch>
                  <a:fillRect l="-43229" r="-67848" b="-8030"/>
                </a:stretch>
              </a:blipFill>
            </p:spPr>
          </p:sp>
        </p:grpSp>
        <p:grpSp>
          <p:nvGrpSpPr>
            <p:cNvPr id="6" name="Group 6"/>
            <p:cNvGrpSpPr/>
            <p:nvPr/>
          </p:nvGrpSpPr>
          <p:grpSpPr>
            <a:xfrm>
              <a:off x="18545475" y="247188"/>
              <a:ext cx="1586845" cy="1627422"/>
              <a:chOff x="0" y="0"/>
              <a:chExt cx="1808366" cy="1854606"/>
            </a:xfrm>
          </p:grpSpPr>
          <p:sp>
            <p:nvSpPr>
              <p:cNvPr id="7" name="Freeform 7"/>
              <p:cNvSpPr/>
              <p:nvPr/>
            </p:nvSpPr>
            <p:spPr>
              <a:xfrm>
                <a:off x="0" y="0"/>
                <a:ext cx="1808353" cy="1854581"/>
              </a:xfrm>
              <a:custGeom>
                <a:avLst/>
                <a:gdLst/>
                <a:ahLst/>
                <a:cxnLst/>
                <a:rect l="l" t="t" r="r" b="b"/>
                <a:pathLst>
                  <a:path w="1808353" h="1854581">
                    <a:moveTo>
                      <a:pt x="0" y="0"/>
                    </a:moveTo>
                    <a:lnTo>
                      <a:pt x="1808353" y="0"/>
                    </a:lnTo>
                    <a:lnTo>
                      <a:pt x="1808353" y="1854581"/>
                    </a:lnTo>
                    <a:lnTo>
                      <a:pt x="0" y="1854581"/>
                    </a:lnTo>
                    <a:lnTo>
                      <a:pt x="0" y="0"/>
                    </a:lnTo>
                    <a:close/>
                  </a:path>
                </a:pathLst>
              </a:custGeom>
              <a:blipFill>
                <a:blip r:embed="rId3"/>
                <a:stretch>
                  <a:fillRect l="-63953" r="-63953" b="-1"/>
                </a:stretch>
              </a:blipFill>
            </p:spPr>
          </p:sp>
        </p:grpSp>
        <p:grpSp>
          <p:nvGrpSpPr>
            <p:cNvPr id="8" name="Group 8"/>
            <p:cNvGrpSpPr/>
            <p:nvPr/>
          </p:nvGrpSpPr>
          <p:grpSpPr>
            <a:xfrm>
              <a:off x="20344893" y="291523"/>
              <a:ext cx="2992818" cy="1380820"/>
              <a:chOff x="0" y="0"/>
              <a:chExt cx="2992818" cy="1380820"/>
            </a:xfrm>
          </p:grpSpPr>
          <p:sp>
            <p:nvSpPr>
              <p:cNvPr id="9" name="Freeform 9"/>
              <p:cNvSpPr/>
              <p:nvPr/>
            </p:nvSpPr>
            <p:spPr>
              <a:xfrm>
                <a:off x="0" y="0"/>
                <a:ext cx="2992882" cy="1380871"/>
              </a:xfrm>
              <a:custGeom>
                <a:avLst/>
                <a:gdLst/>
                <a:ahLst/>
                <a:cxnLst/>
                <a:rect l="l" t="t" r="r" b="b"/>
                <a:pathLst>
                  <a:path w="2992882" h="1380871">
                    <a:moveTo>
                      <a:pt x="0" y="0"/>
                    </a:moveTo>
                    <a:lnTo>
                      <a:pt x="2992882" y="0"/>
                    </a:lnTo>
                    <a:lnTo>
                      <a:pt x="2992882" y="1380871"/>
                    </a:lnTo>
                    <a:lnTo>
                      <a:pt x="0" y="1380871"/>
                    </a:lnTo>
                    <a:lnTo>
                      <a:pt x="0" y="0"/>
                    </a:lnTo>
                    <a:close/>
                  </a:path>
                </a:pathLst>
              </a:custGeom>
              <a:blipFill>
                <a:blip r:embed="rId4"/>
                <a:stretch>
                  <a:fillRect l="-1264" r="-1261" b="3"/>
                </a:stretch>
              </a:blipFill>
            </p:spPr>
          </p:sp>
        </p:grpSp>
        <p:sp>
          <p:nvSpPr>
            <p:cNvPr id="10" name="TextBox 10"/>
            <p:cNvSpPr txBox="1"/>
            <p:nvPr/>
          </p:nvSpPr>
          <p:spPr>
            <a:xfrm>
              <a:off x="3986137" y="60414"/>
              <a:ext cx="14984527" cy="1814195"/>
            </a:xfrm>
            <a:prstGeom prst="rect">
              <a:avLst/>
            </a:prstGeom>
          </p:spPr>
          <p:txBody>
            <a:bodyPr lIns="0" tIns="0" rIns="0" bIns="0" rtlCol="0" anchor="t">
              <a:spAutoFit/>
            </a:bodyPr>
            <a:lstStyle/>
            <a:p>
              <a:pPr algn="ctr">
                <a:lnSpc>
                  <a:spcPts val="6160"/>
                </a:lnSpc>
              </a:pPr>
              <a:r>
                <a:rPr lang="en-US" sz="4400">
                  <a:solidFill>
                    <a:srgbClr val="692B39"/>
                  </a:solidFill>
                  <a:latin typeface="Times New Roman"/>
                  <a:ea typeface="Times New Roman"/>
                  <a:cs typeface="Times New Roman"/>
                  <a:sym typeface="Times New Roman"/>
                </a:rPr>
                <a:t>Walchand College of Engineering, Sangli</a:t>
              </a:r>
            </a:p>
            <a:p>
              <a:pPr algn="ctr">
                <a:lnSpc>
                  <a:spcPts val="4759"/>
                </a:lnSpc>
              </a:pPr>
              <a:r>
                <a:rPr lang="en-US" sz="3399">
                  <a:solidFill>
                    <a:srgbClr val="692B39"/>
                  </a:solidFill>
                  <a:latin typeface="Times New Roman"/>
                  <a:ea typeface="Times New Roman"/>
                  <a:cs typeface="Times New Roman"/>
                  <a:sym typeface="Times New Roman"/>
                </a:rPr>
                <a:t>A Goverment-Aided Autonomous Institute</a:t>
              </a:r>
            </a:p>
          </p:txBody>
        </p:sp>
      </p:grpSp>
      <p:sp>
        <p:nvSpPr>
          <p:cNvPr id="11" name="Rounded Rectangle 10"/>
          <p:cNvSpPr/>
          <p:nvPr/>
        </p:nvSpPr>
        <p:spPr>
          <a:xfrm>
            <a:off x="548640" y="2468880"/>
            <a:ext cx="6949440" cy="1097280"/>
          </a:xfrm>
          <a:prstGeom prst="roundRect">
            <a:avLst>
              <a:gd name="adj" fmla="val 8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rIns="228600" tIns="54864" bIns="54864" wrap="square">
            <a:noAutofit/>
          </a:bodyPr>
          <a:lstStyle/>
          <a:p>
            <a:pPr algn="l">
              <a:spcAft>
                <a:spcPts val="0"/>
              </a:spcAft>
            </a:pPr>
            <a:r>
              <a:rPr sz="2300" b="1" i="0">
                <a:solidFill>
                  <a:srgbClr val="1F2933"/>
                </a:solidFill>
                <a:latin typeface="Calibri"/>
              </a:rPr>
              <a:t>1.  Tap RFID card</a:t>
            </a:r>
          </a:p>
          <a:p>
            <a:pPr algn="l">
              <a:spcAft>
                <a:spcPts val="400"/>
              </a:spcAft>
            </a:pPr>
            <a:r>
              <a:rPr sz="2000" b="0" i="0">
                <a:solidFill>
                  <a:srgbClr val="4B5563"/>
                </a:solidFill>
                <a:latin typeface="Calibri"/>
              </a:rPr>
              <a:t>at the house meter</a:t>
            </a:r>
          </a:p>
        </p:txBody>
      </p:sp>
      <p:cxnSp>
        <p:nvCxnSpPr>
          <p:cNvPr id="12" name="Connector 11"/>
          <p:cNvCxnSpPr/>
          <p:nvPr/>
        </p:nvCxnSpPr>
        <p:spPr>
          <a:xfrm>
            <a:off x="4023360" y="3566160"/>
            <a:ext cx="0" cy="365760"/>
          </a:xfrm>
          <a:prstGeom prst="line">
            <a:avLst/>
          </a:prstGeom>
          <a:ln w="3175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48640" y="3931920"/>
            <a:ext cx="6949440" cy="109728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rIns="228600" tIns="54864" bIns="54864" wrap="square">
            <a:noAutofit/>
          </a:bodyPr>
          <a:lstStyle/>
          <a:p>
            <a:pPr algn="l">
              <a:spcAft>
                <a:spcPts val="0"/>
              </a:spcAft>
            </a:pPr>
            <a:r>
              <a:rPr sz="2300" b="1" i="0">
                <a:solidFill>
                  <a:srgbClr val="1F2933"/>
                </a:solidFill>
                <a:latin typeface="Calibri"/>
              </a:rPr>
              <a:t>2.  ESP32 checks the card ID</a:t>
            </a:r>
          </a:p>
          <a:p>
            <a:pPr algn="l">
              <a:spcAft>
                <a:spcPts val="400"/>
              </a:spcAft>
            </a:pPr>
            <a:r>
              <a:rPr sz="2000" b="0" i="0">
                <a:solidFill>
                  <a:srgbClr val="4B5563"/>
                </a:solidFill>
                <a:latin typeface="Calibri"/>
              </a:rPr>
              <a:t>3 wrong taps → 60 s lockout</a:t>
            </a:r>
          </a:p>
        </p:txBody>
      </p:sp>
      <p:cxnSp>
        <p:nvCxnSpPr>
          <p:cNvPr id="14" name="Connector 13"/>
          <p:cNvCxnSpPr/>
          <p:nvPr/>
        </p:nvCxnSpPr>
        <p:spPr>
          <a:xfrm>
            <a:off x="4023360" y="5029200"/>
            <a:ext cx="0" cy="365760"/>
          </a:xfrm>
          <a:prstGeom prst="line">
            <a:avLst/>
          </a:prstGeom>
          <a:ln w="3175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48640" y="5394960"/>
            <a:ext cx="6949440" cy="1097280"/>
          </a:xfrm>
          <a:prstGeom prst="roundRect">
            <a:avLst>
              <a:gd name="adj" fmla="val 8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rIns="228600" tIns="54864" bIns="54864" wrap="square">
            <a:noAutofit/>
          </a:bodyPr>
          <a:lstStyle/>
          <a:p>
            <a:pPr algn="l">
              <a:spcAft>
                <a:spcPts val="0"/>
              </a:spcAft>
            </a:pPr>
            <a:r>
              <a:rPr sz="2300" b="1" i="0">
                <a:solidFill>
                  <a:srgbClr val="1F2933"/>
                </a:solidFill>
                <a:latin typeface="Calibri"/>
              </a:rPr>
              <a:t>3.  Valid card: credit added</a:t>
            </a:r>
          </a:p>
          <a:p>
            <a:pPr algn="l">
              <a:spcAft>
                <a:spcPts val="400"/>
              </a:spcAft>
            </a:pPr>
            <a:r>
              <a:rPr sz="2000" b="0" i="0">
                <a:solidFill>
                  <a:srgbClr val="4B5563"/>
                </a:solidFill>
                <a:latin typeface="Calibri"/>
              </a:rPr>
              <a:t>+20 Wh per top-up (bench scale)</a:t>
            </a:r>
          </a:p>
        </p:txBody>
      </p:sp>
      <p:cxnSp>
        <p:nvCxnSpPr>
          <p:cNvPr id="16" name="Connector 15"/>
          <p:cNvCxnSpPr/>
          <p:nvPr/>
        </p:nvCxnSpPr>
        <p:spPr>
          <a:xfrm>
            <a:off x="4023360" y="6492240"/>
            <a:ext cx="0" cy="365760"/>
          </a:xfrm>
          <a:prstGeom prst="line">
            <a:avLst/>
          </a:prstGeom>
          <a:ln w="3175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48640" y="6858000"/>
            <a:ext cx="6949440" cy="109728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rIns="228600" tIns="54864" bIns="54864" wrap="square">
            <a:noAutofit/>
          </a:bodyPr>
          <a:lstStyle/>
          <a:p>
            <a:pPr algn="l">
              <a:spcAft>
                <a:spcPts val="0"/>
              </a:spcAft>
            </a:pPr>
            <a:r>
              <a:rPr sz="2300" b="1" i="0">
                <a:solidFill>
                  <a:srgbClr val="1F2933"/>
                </a:solidFill>
                <a:latin typeface="Calibri"/>
              </a:rPr>
              <a:t>4.  Meter counts energy every second</a:t>
            </a:r>
          </a:p>
          <a:p>
            <a:pPr algn="l">
              <a:spcAft>
                <a:spcPts val="400"/>
              </a:spcAft>
            </a:pPr>
            <a:r>
              <a:rPr sz="2000" b="0" i="0">
                <a:solidFill>
                  <a:srgbClr val="4B5563"/>
                </a:solidFill>
                <a:latin typeface="Calibri"/>
              </a:rPr>
              <a:t>using debits credit, exporting earns it</a:t>
            </a:r>
          </a:p>
        </p:txBody>
      </p:sp>
      <p:cxnSp>
        <p:nvCxnSpPr>
          <p:cNvPr id="18" name="Connector 17"/>
          <p:cNvCxnSpPr/>
          <p:nvPr/>
        </p:nvCxnSpPr>
        <p:spPr>
          <a:xfrm>
            <a:off x="4023360" y="7955280"/>
            <a:ext cx="0" cy="365760"/>
          </a:xfrm>
          <a:prstGeom prst="line">
            <a:avLst/>
          </a:prstGeom>
          <a:ln w="3175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48640" y="8321040"/>
            <a:ext cx="6949440" cy="1097280"/>
          </a:xfrm>
          <a:prstGeom prst="roundRect">
            <a:avLst>
              <a:gd name="adj" fmla="val 8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rIns="228600" tIns="54864" bIns="54864" wrap="square">
            <a:noAutofit/>
          </a:bodyPr>
          <a:lstStyle/>
          <a:p>
            <a:pPr algn="l">
              <a:spcAft>
                <a:spcPts val="0"/>
              </a:spcAft>
            </a:pPr>
            <a:r>
              <a:rPr sz="2300" b="1" i="0">
                <a:solidFill>
                  <a:srgbClr val="1F2933"/>
                </a:solidFill>
                <a:latin typeface="Calibri"/>
              </a:rPr>
              <a:t>5.  Ledger on the Pi</a:t>
            </a:r>
          </a:p>
          <a:p>
            <a:pPr algn="l">
              <a:spcAft>
                <a:spcPts val="400"/>
              </a:spcAft>
            </a:pPr>
            <a:r>
              <a:rPr sz="2000" b="0" i="0">
                <a:solidFill>
                  <a:srgbClr val="4B5563"/>
                </a:solidFill>
                <a:latin typeface="Calibri"/>
              </a:rPr>
              <a:t>records who sold to whom</a:t>
            </a:r>
          </a:p>
        </p:txBody>
      </p:sp>
      <p:sp>
        <p:nvSpPr>
          <p:cNvPr id="20" name="TextBox 19"/>
          <p:cNvSpPr txBox="1"/>
          <p:nvPr/>
        </p:nvSpPr>
        <p:spPr>
          <a:xfrm>
            <a:off x="8229600" y="2423160"/>
            <a:ext cx="9509760" cy="548640"/>
          </a:xfrm>
          <a:prstGeom prst="rect">
            <a:avLst/>
          </a:prstGeom>
          <a:noFill/>
        </p:spPr>
        <p:txBody>
          <a:bodyPr wrap="square" lIns="0" rIns="0" tIns="0" bIns="0" anchor="t">
            <a:noAutofit/>
          </a:bodyPr>
          <a:lstStyle/>
          <a:p>
            <a:pPr algn="l">
              <a:spcAft>
                <a:spcPts val="600"/>
              </a:spcAft>
            </a:pPr>
            <a:r>
              <a:rPr sz="2600" b="1" i="0">
                <a:solidFill>
                  <a:srgbClr val="7A1F2B"/>
                </a:solidFill>
                <a:latin typeface="Calibri"/>
              </a:rPr>
              <a:t>Who sold to whom: simulated normal day (Wh)</a:t>
            </a:r>
          </a:p>
        </p:txBody>
      </p:sp>
      <p:graphicFrame>
        <p:nvGraphicFramePr>
          <p:cNvPr id="21" name="Table 20"/>
          <p:cNvGraphicFramePr>
            <a:graphicFrameLocks noGrp="1"/>
          </p:cNvGraphicFramePr>
          <p:nvPr/>
        </p:nvGraphicFramePr>
        <p:xfrm>
          <a:off x="8229600" y="3063240"/>
          <a:ext cx="9509760" cy="2560320"/>
        </p:xfrm>
        <a:graphic>
          <a:graphicData uri="http://schemas.openxmlformats.org/drawingml/2006/table">
            <a:tbl>
              <a:tblPr firstRow="0" bandRow="0"/>
              <a:tblGrid>
                <a:gridCol w="3108960"/>
                <a:gridCol w="2130552"/>
                <a:gridCol w="2130552"/>
                <a:gridCol w="2139696"/>
              </a:tblGrid>
              <a:tr h="640080">
                <a:tc>
                  <a:txBody>
                    <a:bodyPr wrap="square"/>
                    <a:lstStyle/>
                    <a:p>
                      <a:pPr algn="l">
                        <a:spcAft>
                          <a:spcPts val="0"/>
                        </a:spcAft>
                      </a:pPr>
                      <a:r>
                        <a:rPr sz="1900" b="1" i="0">
                          <a:solidFill>
                            <a:srgbClr val="FFFFFF"/>
                          </a:solidFill>
                          <a:latin typeface="Calibri"/>
                        </a:rPr>
                        <a:t>Seller ↓ / Buyer →</a:t>
                      </a:r>
                    </a:p>
                  </a:txBody>
                  <a:tcPr marL="109728" marR="109728" marT="36576" marB="36576" anchor="ctr">
                    <a:solidFill>
                      <a:srgbClr val="7A1F2B"/>
                    </a:solidFill>
                  </a:tcPr>
                </a:tc>
                <a:tc>
                  <a:txBody>
                    <a:bodyPr wrap="square"/>
                    <a:lstStyle/>
                    <a:p>
                      <a:pPr algn="l">
                        <a:spcAft>
                          <a:spcPts val="0"/>
                        </a:spcAft>
                      </a:pPr>
                      <a:r>
                        <a:rPr sz="1900" b="1" i="0">
                          <a:solidFill>
                            <a:srgbClr val="FFFFFF"/>
                          </a:solidFill>
                          <a:latin typeface="Calibri"/>
                        </a:rPr>
                        <a:t>House 1</a:t>
                      </a:r>
                    </a:p>
                  </a:txBody>
                  <a:tcPr marL="109728" marR="109728" marT="36576" marB="36576" anchor="ctr">
                    <a:solidFill>
                      <a:srgbClr val="7A1F2B"/>
                    </a:solidFill>
                  </a:tcPr>
                </a:tc>
                <a:tc>
                  <a:txBody>
                    <a:bodyPr wrap="square"/>
                    <a:lstStyle/>
                    <a:p>
                      <a:pPr algn="l">
                        <a:spcAft>
                          <a:spcPts val="0"/>
                        </a:spcAft>
                      </a:pPr>
                      <a:r>
                        <a:rPr sz="1900" b="1" i="0">
                          <a:solidFill>
                            <a:srgbClr val="FFFFFF"/>
                          </a:solidFill>
                          <a:latin typeface="Calibri"/>
                        </a:rPr>
                        <a:t>House 2</a:t>
                      </a:r>
                    </a:p>
                  </a:txBody>
                  <a:tcPr marL="109728" marR="109728" marT="36576" marB="36576" anchor="ctr">
                    <a:solidFill>
                      <a:srgbClr val="7A1F2B"/>
                    </a:solidFill>
                  </a:tcPr>
                </a:tc>
                <a:tc>
                  <a:txBody>
                    <a:bodyPr wrap="square"/>
                    <a:lstStyle/>
                    <a:p>
                      <a:pPr algn="l">
                        <a:spcAft>
                          <a:spcPts val="0"/>
                        </a:spcAft>
                      </a:pPr>
                      <a:r>
                        <a:rPr sz="1900" b="1" i="0">
                          <a:solidFill>
                            <a:srgbClr val="FFFFFF"/>
                          </a:solidFill>
                          <a:latin typeface="Calibri"/>
                        </a:rPr>
                        <a:t>House 3</a:t>
                      </a:r>
                    </a:p>
                  </a:txBody>
                  <a:tcPr marL="109728" marR="109728" marT="36576" marB="36576" anchor="ctr">
                    <a:solidFill>
                      <a:srgbClr val="7A1F2B"/>
                    </a:solidFill>
                  </a:tcPr>
                </a:tc>
              </a:tr>
              <a:tr h="640080">
                <a:tc>
                  <a:txBody>
                    <a:bodyPr wrap="square"/>
                    <a:lstStyle/>
                    <a:p>
                      <a:pPr algn="l">
                        <a:spcAft>
                          <a:spcPts val="0"/>
                        </a:spcAft>
                      </a:pPr>
                      <a:r>
                        <a:rPr sz="1900" b="1" i="0">
                          <a:solidFill>
                            <a:srgbClr val="1F2933"/>
                          </a:solidFill>
                          <a:latin typeface="Calibri"/>
                        </a:rPr>
                        <a:t>House 1</a:t>
                      </a:r>
                    </a:p>
                  </a:txBody>
                  <a:tcPr marL="109728" marR="109728" marT="36576" marB="36576" anchor="ctr">
                    <a:solidFill>
                      <a:srgbClr val="FFFFFF"/>
                    </a:solidFill>
                  </a:tcPr>
                </a:tc>
                <a:tc>
                  <a:txBody>
                    <a:bodyPr wrap="square"/>
                    <a:lstStyle/>
                    <a:p>
                      <a:pPr algn="l">
                        <a:spcAft>
                          <a:spcPts val="0"/>
                        </a:spcAft>
                      </a:pPr>
                      <a:r>
                        <a:rPr sz="1900" b="0" i="0">
                          <a:solidFill>
                            <a:srgbClr val="1F2933"/>
                          </a:solidFill>
                          <a:latin typeface="Calibri"/>
                        </a:rPr>
                        <a:t>–</a:t>
                      </a:r>
                    </a:p>
                  </a:txBody>
                  <a:tcPr marL="109728" marR="109728" marT="36576" marB="36576" anchor="ctr">
                    <a:solidFill>
                      <a:srgbClr val="FFFFFF"/>
                    </a:solidFill>
                  </a:tcPr>
                </a:tc>
                <a:tc>
                  <a:txBody>
                    <a:bodyPr wrap="square"/>
                    <a:lstStyle/>
                    <a:p>
                      <a:pPr algn="l">
                        <a:spcAft>
                          <a:spcPts val="0"/>
                        </a:spcAft>
                      </a:pPr>
                      <a:r>
                        <a:rPr sz="1900" b="0" i="0">
                          <a:solidFill>
                            <a:srgbClr val="1F2933"/>
                          </a:solidFill>
                          <a:latin typeface="Calibri"/>
                        </a:rPr>
                        <a:t>0.0</a:t>
                      </a:r>
                    </a:p>
                  </a:txBody>
                  <a:tcPr marL="109728" marR="109728" marT="36576" marB="36576" anchor="ctr">
                    <a:solidFill>
                      <a:srgbClr val="FFFFFF"/>
                    </a:solidFill>
                  </a:tcPr>
                </a:tc>
                <a:tc>
                  <a:txBody>
                    <a:bodyPr wrap="square"/>
                    <a:lstStyle/>
                    <a:p>
                      <a:pPr algn="l">
                        <a:spcAft>
                          <a:spcPts val="0"/>
                        </a:spcAft>
                      </a:pPr>
                      <a:r>
                        <a:rPr sz="1900" b="1" i="0">
                          <a:solidFill>
                            <a:srgbClr val="1F2933"/>
                          </a:solidFill>
                          <a:latin typeface="Calibri"/>
                        </a:rPr>
                        <a:t>8.6</a:t>
                      </a:r>
                    </a:p>
                  </a:txBody>
                  <a:tcPr marL="109728" marR="109728" marT="36576" marB="36576" anchor="ctr">
                    <a:solidFill>
                      <a:srgbClr val="FEF3C7"/>
                    </a:solidFill>
                  </a:tcPr>
                </a:tc>
              </a:tr>
              <a:tr h="640080">
                <a:tc>
                  <a:txBody>
                    <a:bodyPr wrap="square"/>
                    <a:lstStyle/>
                    <a:p>
                      <a:pPr algn="l">
                        <a:spcAft>
                          <a:spcPts val="0"/>
                        </a:spcAft>
                      </a:pPr>
                      <a:r>
                        <a:rPr sz="1900" b="1" i="0">
                          <a:solidFill>
                            <a:srgbClr val="1F2933"/>
                          </a:solidFill>
                          <a:latin typeface="Calibri"/>
                        </a:rPr>
                        <a:t>House 2</a:t>
                      </a:r>
                    </a:p>
                  </a:txBody>
                  <a:tcPr marL="109728" marR="109728" marT="36576" marB="36576" anchor="ctr">
                    <a:solidFill>
                      <a:srgbClr val="F3F4F6"/>
                    </a:solidFill>
                  </a:tcPr>
                </a:tc>
                <a:tc>
                  <a:txBody>
                    <a:bodyPr wrap="square"/>
                    <a:lstStyle/>
                    <a:p>
                      <a:pPr algn="l">
                        <a:spcAft>
                          <a:spcPts val="0"/>
                        </a:spcAft>
                      </a:pPr>
                      <a:r>
                        <a:rPr sz="1900" b="0" i="0">
                          <a:solidFill>
                            <a:srgbClr val="1F2933"/>
                          </a:solidFill>
                          <a:latin typeface="Calibri"/>
                        </a:rPr>
                        <a:t>0.0</a:t>
                      </a:r>
                    </a:p>
                  </a:txBody>
                  <a:tcPr marL="109728" marR="109728" marT="36576" marB="36576" anchor="ctr">
                    <a:solidFill>
                      <a:srgbClr val="F3F4F6"/>
                    </a:solidFill>
                  </a:tcPr>
                </a:tc>
                <a:tc>
                  <a:txBody>
                    <a:bodyPr wrap="square"/>
                    <a:lstStyle/>
                    <a:p>
                      <a:pPr algn="l">
                        <a:spcAft>
                          <a:spcPts val="0"/>
                        </a:spcAft>
                      </a:pPr>
                      <a:r>
                        <a:rPr sz="1900" b="0" i="0">
                          <a:solidFill>
                            <a:srgbClr val="1F2933"/>
                          </a:solidFill>
                          <a:latin typeface="Calibri"/>
                        </a:rPr>
                        <a:t>–</a:t>
                      </a:r>
                    </a:p>
                  </a:txBody>
                  <a:tcPr marL="109728" marR="109728" marT="36576" marB="36576" anchor="ctr">
                    <a:solidFill>
                      <a:srgbClr val="F3F4F6"/>
                    </a:solidFill>
                  </a:tcPr>
                </a:tc>
                <a:tc>
                  <a:txBody>
                    <a:bodyPr wrap="square"/>
                    <a:lstStyle/>
                    <a:p>
                      <a:pPr algn="l">
                        <a:spcAft>
                          <a:spcPts val="0"/>
                        </a:spcAft>
                      </a:pPr>
                      <a:r>
                        <a:rPr sz="1900" b="1" i="0">
                          <a:solidFill>
                            <a:srgbClr val="1F2933"/>
                          </a:solidFill>
                          <a:latin typeface="Calibri"/>
                        </a:rPr>
                        <a:t>7.2</a:t>
                      </a:r>
                    </a:p>
                  </a:txBody>
                  <a:tcPr marL="109728" marR="109728" marT="36576" marB="36576" anchor="ctr">
                    <a:solidFill>
                      <a:srgbClr val="FEF3C7"/>
                    </a:solidFill>
                  </a:tcPr>
                </a:tc>
              </a:tr>
              <a:tr h="640080">
                <a:tc>
                  <a:txBody>
                    <a:bodyPr wrap="square"/>
                    <a:lstStyle/>
                    <a:p>
                      <a:pPr algn="l">
                        <a:spcAft>
                          <a:spcPts val="0"/>
                        </a:spcAft>
                      </a:pPr>
                      <a:r>
                        <a:rPr sz="1900" b="1" i="0">
                          <a:solidFill>
                            <a:srgbClr val="1F2933"/>
                          </a:solidFill>
                          <a:latin typeface="Calibri"/>
                        </a:rPr>
                        <a:t>House 3</a:t>
                      </a:r>
                    </a:p>
                  </a:txBody>
                  <a:tcPr marL="109728" marR="109728" marT="36576" marB="36576" anchor="ctr">
                    <a:solidFill>
                      <a:srgbClr val="FFFFFF"/>
                    </a:solidFill>
                  </a:tcPr>
                </a:tc>
                <a:tc>
                  <a:txBody>
                    <a:bodyPr wrap="square"/>
                    <a:lstStyle/>
                    <a:p>
                      <a:pPr algn="l">
                        <a:spcAft>
                          <a:spcPts val="0"/>
                        </a:spcAft>
                      </a:pPr>
                      <a:r>
                        <a:rPr sz="1900" b="0" i="0">
                          <a:solidFill>
                            <a:srgbClr val="1F2933"/>
                          </a:solidFill>
                          <a:latin typeface="Calibri"/>
                        </a:rPr>
                        <a:t>0.0</a:t>
                      </a:r>
                    </a:p>
                  </a:txBody>
                  <a:tcPr marL="109728" marR="109728" marT="36576" marB="36576" anchor="ctr">
                    <a:solidFill>
                      <a:srgbClr val="FFFFFF"/>
                    </a:solidFill>
                  </a:tcPr>
                </a:tc>
                <a:tc>
                  <a:txBody>
                    <a:bodyPr wrap="square"/>
                    <a:lstStyle/>
                    <a:p>
                      <a:pPr algn="l">
                        <a:spcAft>
                          <a:spcPts val="0"/>
                        </a:spcAft>
                      </a:pPr>
                      <a:r>
                        <a:rPr sz="1900" b="0" i="0">
                          <a:solidFill>
                            <a:srgbClr val="1F2933"/>
                          </a:solidFill>
                          <a:latin typeface="Calibri"/>
                        </a:rPr>
                        <a:t>0.0</a:t>
                      </a:r>
                    </a:p>
                  </a:txBody>
                  <a:tcPr marL="109728" marR="109728" marT="36576" marB="36576" anchor="ctr">
                    <a:solidFill>
                      <a:srgbClr val="FFFFFF"/>
                    </a:solidFill>
                  </a:tcPr>
                </a:tc>
                <a:tc>
                  <a:txBody>
                    <a:bodyPr wrap="square"/>
                    <a:lstStyle/>
                    <a:p>
                      <a:pPr algn="l">
                        <a:spcAft>
                          <a:spcPts val="0"/>
                        </a:spcAft>
                      </a:pPr>
                      <a:r>
                        <a:rPr sz="1900" b="0" i="0">
                          <a:solidFill>
                            <a:srgbClr val="1F2933"/>
                          </a:solidFill>
                          <a:latin typeface="Calibri"/>
                        </a:rPr>
                        <a:t>–</a:t>
                      </a:r>
                    </a:p>
                  </a:txBody>
                  <a:tcPr marL="109728" marR="109728" marT="36576" marB="36576" anchor="ctr">
                    <a:solidFill>
                      <a:srgbClr val="FFFFFF"/>
                    </a:solidFill>
                  </a:tcPr>
                </a:tc>
              </a:tr>
            </a:tbl>
          </a:graphicData>
        </a:graphic>
      </p:graphicFrame>
      <p:sp>
        <p:nvSpPr>
          <p:cNvPr id="22" name="Rounded Rectangle 21"/>
          <p:cNvSpPr/>
          <p:nvPr/>
        </p:nvSpPr>
        <p:spPr>
          <a:xfrm>
            <a:off x="8229600" y="5852160"/>
            <a:ext cx="4572000" cy="1737360"/>
          </a:xfrm>
          <a:prstGeom prst="roundRect">
            <a:avLst>
              <a:gd name="adj" fmla="val 8000"/>
            </a:avLst>
          </a:prstGeom>
          <a:solidFill>
            <a:srgbClr val="E0F2EF"/>
          </a:solidFill>
          <a:ln>
            <a:noFill/>
          </a:ln>
          <a:effectLst/>
        </p:spPr>
        <p:style>
          <a:lnRef idx="1">
            <a:schemeClr val="accent1"/>
          </a:lnRef>
          <a:fillRef idx="3">
            <a:schemeClr val="accent1"/>
          </a:fillRef>
          <a:effectRef idx="2">
            <a:schemeClr val="accent1"/>
          </a:effectRef>
          <a:fontRef idx="minor">
            <a:schemeClr val="lt1"/>
          </a:fontRef>
        </p:style>
        <p:txBody>
          <a:bodyPr rtlCol="0" anchor="t" lIns="228600" rIns="228600" tIns="54864" bIns="54864" wrap="square">
            <a:noAutofit/>
          </a:bodyPr>
          <a:lstStyle/>
          <a:p>
            <a:pPr algn="l">
              <a:spcAft>
                <a:spcPts val="0"/>
              </a:spcAft>
            </a:pPr>
            <a:r>
              <a:rPr sz="4200" b="1" i="0">
                <a:solidFill>
                  <a:srgbClr val="0F766E"/>
                </a:solidFill>
                <a:latin typeface="Calibri"/>
              </a:rPr>
              <a:t>126.5 Wh</a:t>
            </a:r>
          </a:p>
          <a:p>
            <a:pPr algn="l">
              <a:spcAft>
                <a:spcPts val="400"/>
              </a:spcAft>
            </a:pPr>
            <a:r>
              <a:rPr sz="2000" b="0" i="0">
                <a:solidFill>
                  <a:srgbClr val="1F2933"/>
                </a:solidFill>
                <a:latin typeface="Calibri"/>
              </a:rPr>
              <a:t>solar surplus sent to battery / grid</a:t>
            </a:r>
          </a:p>
        </p:txBody>
      </p:sp>
      <p:sp>
        <p:nvSpPr>
          <p:cNvPr id="23" name="Rounded Rectangle 22"/>
          <p:cNvSpPr/>
          <p:nvPr/>
        </p:nvSpPr>
        <p:spPr>
          <a:xfrm>
            <a:off x="13167360" y="5852160"/>
            <a:ext cx="4572000" cy="173736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t" lIns="228600" rIns="228600" tIns="54864" bIns="54864" wrap="square">
            <a:noAutofit/>
          </a:bodyPr>
          <a:lstStyle/>
          <a:p>
            <a:pPr algn="l">
              <a:spcAft>
                <a:spcPts val="0"/>
              </a:spcAft>
            </a:pPr>
            <a:r>
              <a:rPr sz="4200" b="1" i="0">
                <a:solidFill>
                  <a:srgbClr val="1F2933"/>
                </a:solidFill>
                <a:latin typeface="Calibri"/>
              </a:rPr>
              <a:t>96.0 Wh</a:t>
            </a:r>
          </a:p>
          <a:p>
            <a:pPr algn="l">
              <a:spcAft>
                <a:spcPts val="400"/>
              </a:spcAft>
            </a:pPr>
            <a:r>
              <a:rPr sz="2000" b="0" i="0">
                <a:solidFill>
                  <a:srgbClr val="1F2933"/>
                </a:solidFill>
                <a:latin typeface="Calibri"/>
              </a:rPr>
              <a:t>demand met by battery / grid</a:t>
            </a:r>
          </a:p>
        </p:txBody>
      </p:sp>
      <p:sp>
        <p:nvSpPr>
          <p:cNvPr id="24" name="Rounded Rectangle 23"/>
          <p:cNvSpPr/>
          <p:nvPr/>
        </p:nvSpPr>
        <p:spPr>
          <a:xfrm>
            <a:off x="8229600" y="7863840"/>
            <a:ext cx="9509760" cy="1828800"/>
          </a:xfrm>
          <a:prstGeom prst="roundRect">
            <a:avLst>
              <a:gd name="adj" fmla="val 8000"/>
            </a:avLst>
          </a:prstGeom>
          <a:solidFill>
            <a:srgbClr val="F7ECEE"/>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54864" bIns="54864" wrap="square">
            <a:noAutofit/>
          </a:bodyPr>
          <a:lstStyle/>
          <a:p>
            <a:pPr algn="l">
              <a:spcAft>
                <a:spcPts val="600"/>
              </a:spcAft>
            </a:pPr>
            <a:r>
              <a:rPr sz="2100" b="1" i="0">
                <a:solidFill>
                  <a:srgbClr val="7A1F2B"/>
                </a:solidFill>
                <a:latin typeface="Calibri"/>
              </a:rPr>
              <a:t>Zero-credit rule: </a:t>
            </a:r>
            <a:r>
              <a:rPr sz="2100" b="0" i="0">
                <a:solidFill>
                  <a:srgbClr val="1F2933"/>
                </a:solidFill>
                <a:latin typeface="Calibri"/>
              </a:rPr>
              <a:t>flexible loads switch off, the critical load stays on. The balance may go negative and is recovered at the next top-up.</a:t>
            </a:r>
          </a:p>
          <a:p>
            <a:pPr algn="l">
              <a:spcAft>
                <a:spcPts val="400"/>
              </a:spcAft>
            </a:pPr>
            <a:r>
              <a:rPr sz="2100" b="1" i="0">
                <a:solidFill>
                  <a:srgbClr val="7A1F2B"/>
                </a:solidFill>
                <a:latin typeface="Calibri"/>
              </a:rPr>
              <a:t>Planned: </a:t>
            </a:r>
            <a:r>
              <a:rPr sz="2100" b="0" i="0">
                <a:solidFill>
                  <a:srgbClr val="1F2933"/>
                </a:solidFill>
                <a:latin typeface="Calibri"/>
              </a:rPr>
              <a:t>peer-to-peer price follows India's Time-of-Day tariff (cheaper in solar hours).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8640" y="1325880"/>
            <a:ext cx="17190720" cy="868680"/>
          </a:xfrm>
          <a:prstGeom prst="rect">
            <a:avLst/>
          </a:prstGeom>
        </p:spPr>
        <p:txBody>
          <a:bodyPr lIns="0" tIns="0" rIns="0" bIns="0" rtlCol="0" anchor="t" wrap="square">
            <a:spAutoFit/>
          </a:bodyPr>
          <a:lstStyle/>
          <a:p>
            <a:pPr algn="l">
              <a:lnSpc>
                <a:spcPts val="7279"/>
              </a:lnSpc>
            </a:pPr>
            <a:r>
              <a:rPr lang="en-US" sz="4400" b="1">
                <a:solidFill>
                  <a:srgbClr val="000000"/>
                </a:solidFill>
                <a:latin typeface="Canva Sans Bold"/>
                <a:ea typeface="Canva Sans Bold"/>
                <a:cs typeface="Canva Sans Bold"/>
                <a:sym typeface="Canva Sans Bold"/>
              </a:rPr>
              <a:t>Technical approach: monitoring dashboard</a:t>
            </a:r>
          </a:p>
        </p:txBody>
      </p:sp>
      <p:grpSp>
        <p:nvGrpSpPr>
          <p:cNvPr id="3" name="Group 3"/>
          <p:cNvGrpSpPr/>
          <p:nvPr/>
        </p:nvGrpSpPr>
        <p:grpSpPr>
          <a:xfrm>
            <a:off x="535200" y="-81549"/>
            <a:ext cx="17503283" cy="1576346"/>
            <a:chOff x="0" y="0"/>
            <a:chExt cx="23337711" cy="2101794"/>
          </a:xfrm>
        </p:grpSpPr>
        <p:grpSp>
          <p:nvGrpSpPr>
            <p:cNvPr id="4" name="Group 4"/>
            <p:cNvGrpSpPr/>
            <p:nvPr/>
          </p:nvGrpSpPr>
          <p:grpSpPr>
            <a:xfrm>
              <a:off x="0" y="0"/>
              <a:ext cx="2390534" cy="2101794"/>
              <a:chOff x="0" y="0"/>
              <a:chExt cx="2451880" cy="2155730"/>
            </a:xfrm>
          </p:grpSpPr>
          <p:sp>
            <p:nvSpPr>
              <p:cNvPr id="5" name="Freeform 5"/>
              <p:cNvSpPr/>
              <p:nvPr/>
            </p:nvSpPr>
            <p:spPr>
              <a:xfrm>
                <a:off x="0" y="0"/>
                <a:ext cx="2451818" cy="2155743"/>
              </a:xfrm>
              <a:custGeom>
                <a:avLst/>
                <a:gdLst/>
                <a:ahLst/>
                <a:cxnLst/>
                <a:rect l="l" t="t" r="r" b="b"/>
                <a:pathLst>
                  <a:path w="2451818" h="2155743">
                    <a:moveTo>
                      <a:pt x="0" y="0"/>
                    </a:moveTo>
                    <a:lnTo>
                      <a:pt x="2451818" y="0"/>
                    </a:lnTo>
                    <a:lnTo>
                      <a:pt x="2451818" y="2155743"/>
                    </a:lnTo>
                    <a:lnTo>
                      <a:pt x="0" y="2155743"/>
                    </a:lnTo>
                    <a:lnTo>
                      <a:pt x="0" y="0"/>
                    </a:lnTo>
                    <a:close/>
                  </a:path>
                </a:pathLst>
              </a:custGeom>
              <a:blipFill>
                <a:blip r:embed="rId2"/>
                <a:stretch>
                  <a:fillRect l="-43229" r="-67848" b="-8030"/>
                </a:stretch>
              </a:blipFill>
            </p:spPr>
          </p:sp>
        </p:grpSp>
        <p:grpSp>
          <p:nvGrpSpPr>
            <p:cNvPr id="6" name="Group 6"/>
            <p:cNvGrpSpPr/>
            <p:nvPr/>
          </p:nvGrpSpPr>
          <p:grpSpPr>
            <a:xfrm>
              <a:off x="18545475" y="247188"/>
              <a:ext cx="1586845" cy="1627422"/>
              <a:chOff x="0" y="0"/>
              <a:chExt cx="1808366" cy="1854606"/>
            </a:xfrm>
          </p:grpSpPr>
          <p:sp>
            <p:nvSpPr>
              <p:cNvPr id="7" name="Freeform 7"/>
              <p:cNvSpPr/>
              <p:nvPr/>
            </p:nvSpPr>
            <p:spPr>
              <a:xfrm>
                <a:off x="0" y="0"/>
                <a:ext cx="1808353" cy="1854581"/>
              </a:xfrm>
              <a:custGeom>
                <a:avLst/>
                <a:gdLst/>
                <a:ahLst/>
                <a:cxnLst/>
                <a:rect l="l" t="t" r="r" b="b"/>
                <a:pathLst>
                  <a:path w="1808353" h="1854581">
                    <a:moveTo>
                      <a:pt x="0" y="0"/>
                    </a:moveTo>
                    <a:lnTo>
                      <a:pt x="1808353" y="0"/>
                    </a:lnTo>
                    <a:lnTo>
                      <a:pt x="1808353" y="1854581"/>
                    </a:lnTo>
                    <a:lnTo>
                      <a:pt x="0" y="1854581"/>
                    </a:lnTo>
                    <a:lnTo>
                      <a:pt x="0" y="0"/>
                    </a:lnTo>
                    <a:close/>
                  </a:path>
                </a:pathLst>
              </a:custGeom>
              <a:blipFill>
                <a:blip r:embed="rId3"/>
                <a:stretch>
                  <a:fillRect l="-63953" r="-63953" b="-1"/>
                </a:stretch>
              </a:blipFill>
            </p:spPr>
          </p:sp>
        </p:grpSp>
        <p:grpSp>
          <p:nvGrpSpPr>
            <p:cNvPr id="8" name="Group 8"/>
            <p:cNvGrpSpPr/>
            <p:nvPr/>
          </p:nvGrpSpPr>
          <p:grpSpPr>
            <a:xfrm>
              <a:off x="20344893" y="291523"/>
              <a:ext cx="2992818" cy="1380820"/>
              <a:chOff x="0" y="0"/>
              <a:chExt cx="2992818" cy="1380820"/>
            </a:xfrm>
          </p:grpSpPr>
          <p:sp>
            <p:nvSpPr>
              <p:cNvPr id="9" name="Freeform 9"/>
              <p:cNvSpPr/>
              <p:nvPr/>
            </p:nvSpPr>
            <p:spPr>
              <a:xfrm>
                <a:off x="0" y="0"/>
                <a:ext cx="2992882" cy="1380871"/>
              </a:xfrm>
              <a:custGeom>
                <a:avLst/>
                <a:gdLst/>
                <a:ahLst/>
                <a:cxnLst/>
                <a:rect l="l" t="t" r="r" b="b"/>
                <a:pathLst>
                  <a:path w="2992882" h="1380871">
                    <a:moveTo>
                      <a:pt x="0" y="0"/>
                    </a:moveTo>
                    <a:lnTo>
                      <a:pt x="2992882" y="0"/>
                    </a:lnTo>
                    <a:lnTo>
                      <a:pt x="2992882" y="1380871"/>
                    </a:lnTo>
                    <a:lnTo>
                      <a:pt x="0" y="1380871"/>
                    </a:lnTo>
                    <a:lnTo>
                      <a:pt x="0" y="0"/>
                    </a:lnTo>
                    <a:close/>
                  </a:path>
                </a:pathLst>
              </a:custGeom>
              <a:blipFill>
                <a:blip r:embed="rId4"/>
                <a:stretch>
                  <a:fillRect l="-1264" r="-1261" b="3"/>
                </a:stretch>
              </a:blipFill>
            </p:spPr>
          </p:sp>
        </p:grpSp>
        <p:sp>
          <p:nvSpPr>
            <p:cNvPr id="10" name="TextBox 10"/>
            <p:cNvSpPr txBox="1"/>
            <p:nvPr/>
          </p:nvSpPr>
          <p:spPr>
            <a:xfrm>
              <a:off x="3986137" y="60414"/>
              <a:ext cx="14984527" cy="1814195"/>
            </a:xfrm>
            <a:prstGeom prst="rect">
              <a:avLst/>
            </a:prstGeom>
          </p:spPr>
          <p:txBody>
            <a:bodyPr lIns="0" tIns="0" rIns="0" bIns="0" rtlCol="0" anchor="t">
              <a:spAutoFit/>
            </a:bodyPr>
            <a:lstStyle/>
            <a:p>
              <a:pPr algn="ctr">
                <a:lnSpc>
                  <a:spcPts val="6160"/>
                </a:lnSpc>
              </a:pPr>
              <a:r>
                <a:rPr lang="en-US" sz="4400">
                  <a:solidFill>
                    <a:srgbClr val="692B39"/>
                  </a:solidFill>
                  <a:latin typeface="Times New Roman"/>
                  <a:ea typeface="Times New Roman"/>
                  <a:cs typeface="Times New Roman"/>
                  <a:sym typeface="Times New Roman"/>
                </a:rPr>
                <a:t>Walchand College of Engineering, Sangli</a:t>
              </a:r>
            </a:p>
            <a:p>
              <a:pPr algn="ctr">
                <a:lnSpc>
                  <a:spcPts val="4759"/>
                </a:lnSpc>
              </a:pPr>
              <a:r>
                <a:rPr lang="en-US" sz="3399">
                  <a:solidFill>
                    <a:srgbClr val="692B39"/>
                  </a:solidFill>
                  <a:latin typeface="Times New Roman"/>
                  <a:ea typeface="Times New Roman"/>
                  <a:cs typeface="Times New Roman"/>
                  <a:sym typeface="Times New Roman"/>
                </a:rPr>
                <a:t>A Goverment-Aided Autonomous Institute</a:t>
              </a:r>
            </a:p>
          </p:txBody>
        </p:sp>
      </p:grpSp>
      <p:sp>
        <p:nvSpPr>
          <p:cNvPr id="11" name="Rounded Rectangle 10"/>
          <p:cNvSpPr/>
          <p:nvPr/>
        </p:nvSpPr>
        <p:spPr>
          <a:xfrm>
            <a:off x="548640" y="2468880"/>
            <a:ext cx="11338560" cy="7223760"/>
          </a:xfrm>
          <a:prstGeom prst="roundRect">
            <a:avLst>
              <a:gd name="adj" fmla="val 3000"/>
            </a:avLst>
          </a:prstGeom>
          <a:solidFill>
            <a:srgbClr val="FFFFFF"/>
          </a:solidFill>
          <a:ln w="19050">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54864" bIns="54864"/>
          <a:lstStyle/>
          <a:p>
            <a:pPr algn="ctr"/>
          </a:p>
        </p:txBody>
      </p:sp>
      <p:sp>
        <p:nvSpPr>
          <p:cNvPr id="12" name="Rounded Rectangle 11"/>
          <p:cNvSpPr/>
          <p:nvPr/>
        </p:nvSpPr>
        <p:spPr>
          <a:xfrm>
            <a:off x="548640" y="2468880"/>
            <a:ext cx="11338560" cy="640080"/>
          </a:xfrm>
          <a:prstGeom prst="roundRect">
            <a:avLst>
              <a:gd name="adj" fmla="val 2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rIns="228600" tIns="54864" bIns="54864" wrap="square">
            <a:noAutofit/>
          </a:bodyPr>
          <a:lstStyle/>
          <a:p>
            <a:pPr algn="l">
              <a:spcAft>
                <a:spcPts val="400"/>
              </a:spcAft>
            </a:pPr>
            <a:r>
              <a:rPr sz="2100" b="1" i="0">
                <a:solidFill>
                  <a:srgbClr val="1F2933"/>
                </a:solidFill>
                <a:latin typeface="Calibri"/>
              </a:rPr>
              <a:t>Community Microgrid · live</a:t>
            </a:r>
          </a:p>
        </p:txBody>
      </p:sp>
      <p:sp>
        <p:nvSpPr>
          <p:cNvPr id="13" name="Rounded Rectangle 12"/>
          <p:cNvSpPr/>
          <p:nvPr/>
        </p:nvSpPr>
        <p:spPr>
          <a:xfrm>
            <a:off x="9692640" y="2578608"/>
            <a:ext cx="2011680" cy="420624"/>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54864" bIns="54864" wrap="square">
            <a:noAutofit/>
          </a:bodyPr>
          <a:lstStyle/>
          <a:p>
            <a:pPr algn="ctr">
              <a:spcAft>
                <a:spcPts val="400"/>
              </a:spcAft>
            </a:pPr>
            <a:r>
              <a:rPr sz="1800" b="1" i="0">
                <a:solidFill>
                  <a:srgbClr val="1F2933"/>
                </a:solidFill>
                <a:latin typeface="Calibri"/>
              </a:rPr>
              <a:t>ISLANDED</a:t>
            </a:r>
          </a:p>
        </p:txBody>
      </p:sp>
      <p:sp>
        <p:nvSpPr>
          <p:cNvPr id="14" name="Rounded Rectangle 13"/>
          <p:cNvSpPr/>
          <p:nvPr/>
        </p:nvSpPr>
        <p:spPr>
          <a:xfrm>
            <a:off x="777240" y="3291840"/>
            <a:ext cx="2560320" cy="1325880"/>
          </a:xfrm>
          <a:prstGeom prst="roundRect">
            <a:avLst>
              <a:gd name="adj" fmla="val 8000"/>
            </a:avLst>
          </a:prstGeom>
          <a:solidFill>
            <a:srgbClr val="E0F2EF"/>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54864" bIns="54864" wrap="square">
            <a:noAutofit/>
          </a:bodyPr>
          <a:lstStyle/>
          <a:p>
            <a:pPr algn="l">
              <a:spcAft>
                <a:spcPts val="0"/>
              </a:spcAft>
            </a:pPr>
            <a:r>
              <a:rPr sz="1800" b="0" i="0">
                <a:solidFill>
                  <a:srgbClr val="4B5563"/>
                </a:solidFill>
                <a:latin typeface="Calibri"/>
              </a:rPr>
              <a:t>Bus voltage</a:t>
            </a:r>
          </a:p>
          <a:p>
            <a:pPr algn="l">
              <a:spcAft>
                <a:spcPts val="0"/>
              </a:spcAft>
            </a:pPr>
            <a:r>
              <a:rPr sz="3500" b="1" i="0">
                <a:solidFill>
                  <a:srgbClr val="0F766E"/>
                </a:solidFill>
                <a:latin typeface="Calibri"/>
              </a:rPr>
              <a:t>12.3 V</a:t>
            </a:r>
          </a:p>
        </p:txBody>
      </p:sp>
      <p:sp>
        <p:nvSpPr>
          <p:cNvPr id="15" name="Rounded Rectangle 14"/>
          <p:cNvSpPr/>
          <p:nvPr/>
        </p:nvSpPr>
        <p:spPr>
          <a:xfrm>
            <a:off x="3520440" y="3291840"/>
            <a:ext cx="2560320" cy="1325880"/>
          </a:xfrm>
          <a:prstGeom prst="roundRect">
            <a:avLst>
              <a:gd name="adj" fmla="val 8000"/>
            </a:avLst>
          </a:prstGeom>
          <a:solidFill>
            <a:srgbClr val="E0F2EF"/>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54864" bIns="54864" wrap="square">
            <a:noAutofit/>
          </a:bodyPr>
          <a:lstStyle/>
          <a:p>
            <a:pPr algn="l">
              <a:spcAft>
                <a:spcPts val="0"/>
              </a:spcAft>
            </a:pPr>
            <a:r>
              <a:rPr sz="1800" b="0" i="0">
                <a:solidFill>
                  <a:srgbClr val="4B5563"/>
                </a:solidFill>
                <a:latin typeface="Calibri"/>
              </a:rPr>
              <a:t>Battery SOC</a:t>
            </a:r>
          </a:p>
          <a:p>
            <a:pPr algn="l">
              <a:spcAft>
                <a:spcPts val="0"/>
              </a:spcAft>
            </a:pPr>
            <a:r>
              <a:rPr sz="3500" b="1" i="0">
                <a:solidFill>
                  <a:srgbClr val="0F766E"/>
                </a:solidFill>
                <a:latin typeface="Calibri"/>
              </a:rPr>
              <a:t>61 %</a:t>
            </a:r>
          </a:p>
        </p:txBody>
      </p:sp>
      <p:sp>
        <p:nvSpPr>
          <p:cNvPr id="16" name="Rounded Rectangle 15"/>
          <p:cNvSpPr/>
          <p:nvPr/>
        </p:nvSpPr>
        <p:spPr>
          <a:xfrm>
            <a:off x="6263640" y="3291840"/>
            <a:ext cx="2560320" cy="1325880"/>
          </a:xfrm>
          <a:prstGeom prst="roundRect">
            <a:avLst>
              <a:gd name="adj" fmla="val 8000"/>
            </a:avLst>
          </a:prstGeom>
          <a:solidFill>
            <a:srgbClr val="E0F2EF"/>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54864" bIns="54864" wrap="square">
            <a:noAutofit/>
          </a:bodyPr>
          <a:lstStyle/>
          <a:p>
            <a:pPr algn="l">
              <a:spcAft>
                <a:spcPts val="0"/>
              </a:spcAft>
            </a:pPr>
            <a:r>
              <a:rPr sz="1800" b="0" i="0">
                <a:solidFill>
                  <a:srgbClr val="4B5563"/>
                </a:solidFill>
                <a:latin typeface="Calibri"/>
              </a:rPr>
              <a:t>Solar now</a:t>
            </a:r>
          </a:p>
          <a:p>
            <a:pPr algn="l">
              <a:spcAft>
                <a:spcPts val="0"/>
              </a:spcAft>
            </a:pPr>
            <a:r>
              <a:rPr sz="3500" b="1" i="0">
                <a:solidFill>
                  <a:srgbClr val="0F766E"/>
                </a:solidFill>
                <a:latin typeface="Calibri"/>
              </a:rPr>
              <a:t>9.8 W</a:t>
            </a:r>
          </a:p>
        </p:txBody>
      </p:sp>
      <p:sp>
        <p:nvSpPr>
          <p:cNvPr id="17" name="Rounded Rectangle 16"/>
          <p:cNvSpPr/>
          <p:nvPr/>
        </p:nvSpPr>
        <p:spPr>
          <a:xfrm>
            <a:off x="9006840" y="3291840"/>
            <a:ext cx="2560320" cy="1325880"/>
          </a:xfrm>
          <a:prstGeom prst="roundRect">
            <a:avLst>
              <a:gd name="adj" fmla="val 8000"/>
            </a:avLst>
          </a:prstGeom>
          <a:solidFill>
            <a:srgbClr val="F7ECEE"/>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54864" bIns="54864" wrap="square">
            <a:noAutofit/>
          </a:bodyPr>
          <a:lstStyle/>
          <a:p>
            <a:pPr algn="l">
              <a:spcAft>
                <a:spcPts val="0"/>
              </a:spcAft>
            </a:pPr>
            <a:r>
              <a:rPr sz="1800" b="0" i="0">
                <a:solidFill>
                  <a:srgbClr val="4B5563"/>
                </a:solidFill>
                <a:latin typeface="Calibri"/>
              </a:rPr>
              <a:t>Grid</a:t>
            </a:r>
          </a:p>
          <a:p>
            <a:pPr algn="l">
              <a:spcAft>
                <a:spcPts val="0"/>
              </a:spcAft>
            </a:pPr>
            <a:r>
              <a:rPr sz="3500" b="1" i="0">
                <a:solidFill>
                  <a:srgbClr val="7A1F2B"/>
                </a:solidFill>
                <a:latin typeface="Calibri"/>
              </a:rPr>
              <a:t>OFF</a:t>
            </a:r>
          </a:p>
        </p:txBody>
      </p:sp>
      <p:sp>
        <p:nvSpPr>
          <p:cNvPr id="18" name="Rounded Rectangle 17"/>
          <p:cNvSpPr/>
          <p:nvPr/>
        </p:nvSpPr>
        <p:spPr>
          <a:xfrm>
            <a:off x="777240" y="4800600"/>
            <a:ext cx="3474720" cy="219456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54864" bIns="54864" wrap="square">
            <a:noAutofit/>
          </a:bodyPr>
          <a:lstStyle/>
          <a:p>
            <a:pPr algn="l">
              <a:spcAft>
                <a:spcPts val="200"/>
              </a:spcAft>
            </a:pPr>
            <a:r>
              <a:rPr sz="2200" b="1" i="0">
                <a:solidFill>
                  <a:srgbClr val="1F2933"/>
                </a:solidFill>
                <a:latin typeface="Calibri"/>
              </a:rPr>
              <a:t>House 1</a:t>
            </a:r>
          </a:p>
          <a:p>
            <a:pPr algn="l">
              <a:spcAft>
                <a:spcPts val="200"/>
              </a:spcAft>
            </a:pPr>
            <a:r>
              <a:rPr sz="1900" b="0" i="0">
                <a:solidFill>
                  <a:srgbClr val="4B5563"/>
                </a:solidFill>
                <a:latin typeface="Calibri"/>
              </a:rPr>
              <a:t>Net: </a:t>
            </a:r>
            <a:r>
              <a:rPr sz="1900" b="1" i="0">
                <a:solidFill>
                  <a:srgbClr val="1F2933"/>
                </a:solidFill>
                <a:latin typeface="Calibri"/>
              </a:rPr>
              <a:t>−2.1 W (selling)</a:t>
            </a:r>
          </a:p>
          <a:p>
            <a:pPr algn="l">
              <a:spcAft>
                <a:spcPts val="200"/>
              </a:spcAft>
            </a:pPr>
            <a:r>
              <a:rPr sz="1900" b="0" i="0">
                <a:solidFill>
                  <a:srgbClr val="4B5563"/>
                </a:solidFill>
                <a:latin typeface="Calibri"/>
              </a:rPr>
              <a:t>Credit: </a:t>
            </a:r>
            <a:r>
              <a:rPr sz="1900" b="1" i="0">
                <a:solidFill>
                  <a:srgbClr val="1F2933"/>
                </a:solidFill>
                <a:latin typeface="Calibri"/>
              </a:rPr>
              <a:t>42 Wh</a:t>
            </a:r>
          </a:p>
          <a:p>
            <a:pPr algn="l">
              <a:spcAft>
                <a:spcPts val="400"/>
              </a:spcAft>
            </a:pPr>
            <a:r>
              <a:rPr sz="1800" b="1" i="0">
                <a:solidFill>
                  <a:srgbClr val="15803D"/>
                </a:solidFill>
                <a:latin typeface="Calibri"/>
              </a:rPr>
              <a:t>Critical ON · Flexible ON</a:t>
            </a:r>
          </a:p>
        </p:txBody>
      </p:sp>
      <p:sp>
        <p:nvSpPr>
          <p:cNvPr id="19" name="Rounded Rectangle 18"/>
          <p:cNvSpPr/>
          <p:nvPr/>
        </p:nvSpPr>
        <p:spPr>
          <a:xfrm>
            <a:off x="4434840" y="4800600"/>
            <a:ext cx="3474720" cy="219456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54864" bIns="54864" wrap="square">
            <a:noAutofit/>
          </a:bodyPr>
          <a:lstStyle/>
          <a:p>
            <a:pPr algn="l">
              <a:spcAft>
                <a:spcPts val="200"/>
              </a:spcAft>
            </a:pPr>
            <a:r>
              <a:rPr sz="2200" b="1" i="0">
                <a:solidFill>
                  <a:srgbClr val="1F2933"/>
                </a:solidFill>
                <a:latin typeface="Calibri"/>
              </a:rPr>
              <a:t>House 2</a:t>
            </a:r>
          </a:p>
          <a:p>
            <a:pPr algn="l">
              <a:spcAft>
                <a:spcPts val="200"/>
              </a:spcAft>
            </a:pPr>
            <a:r>
              <a:rPr sz="1900" b="0" i="0">
                <a:solidFill>
                  <a:srgbClr val="4B5563"/>
                </a:solidFill>
                <a:latin typeface="Calibri"/>
              </a:rPr>
              <a:t>Net: </a:t>
            </a:r>
            <a:r>
              <a:rPr sz="1900" b="1" i="0">
                <a:solidFill>
                  <a:srgbClr val="1F2933"/>
                </a:solidFill>
                <a:latin typeface="Calibri"/>
              </a:rPr>
              <a:t>−1.4 W (selling)</a:t>
            </a:r>
          </a:p>
          <a:p>
            <a:pPr algn="l">
              <a:spcAft>
                <a:spcPts val="200"/>
              </a:spcAft>
            </a:pPr>
            <a:r>
              <a:rPr sz="1900" b="0" i="0">
                <a:solidFill>
                  <a:srgbClr val="4B5563"/>
                </a:solidFill>
                <a:latin typeface="Calibri"/>
              </a:rPr>
              <a:t>Credit: </a:t>
            </a:r>
            <a:r>
              <a:rPr sz="1900" b="1" i="0">
                <a:solidFill>
                  <a:srgbClr val="1F2933"/>
                </a:solidFill>
                <a:latin typeface="Calibri"/>
              </a:rPr>
              <a:t>38 Wh</a:t>
            </a:r>
          </a:p>
          <a:p>
            <a:pPr algn="l">
              <a:spcAft>
                <a:spcPts val="400"/>
              </a:spcAft>
            </a:pPr>
            <a:r>
              <a:rPr sz="1800" b="1" i="0">
                <a:solidFill>
                  <a:srgbClr val="15803D"/>
                </a:solidFill>
                <a:latin typeface="Calibri"/>
              </a:rPr>
              <a:t>Critical ON · Flexible ON</a:t>
            </a:r>
          </a:p>
        </p:txBody>
      </p:sp>
      <p:sp>
        <p:nvSpPr>
          <p:cNvPr id="20" name="Rounded Rectangle 19"/>
          <p:cNvSpPr/>
          <p:nvPr/>
        </p:nvSpPr>
        <p:spPr>
          <a:xfrm>
            <a:off x="8092440" y="4800600"/>
            <a:ext cx="3474720" cy="219456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54864" bIns="54864" wrap="square">
            <a:noAutofit/>
          </a:bodyPr>
          <a:lstStyle/>
          <a:p>
            <a:pPr algn="l">
              <a:spcAft>
                <a:spcPts val="200"/>
              </a:spcAft>
            </a:pPr>
            <a:r>
              <a:rPr sz="2200" b="1" i="0">
                <a:solidFill>
                  <a:srgbClr val="1F2933"/>
                </a:solidFill>
                <a:latin typeface="Calibri"/>
              </a:rPr>
              <a:t>House 3</a:t>
            </a:r>
          </a:p>
          <a:p>
            <a:pPr algn="l">
              <a:spcAft>
                <a:spcPts val="200"/>
              </a:spcAft>
            </a:pPr>
            <a:r>
              <a:rPr sz="1900" b="0" i="0">
                <a:solidFill>
                  <a:srgbClr val="4B5563"/>
                </a:solidFill>
                <a:latin typeface="Calibri"/>
              </a:rPr>
              <a:t>Net: </a:t>
            </a:r>
            <a:r>
              <a:rPr sz="1900" b="1" i="0">
                <a:solidFill>
                  <a:srgbClr val="1F2933"/>
                </a:solidFill>
                <a:latin typeface="Calibri"/>
              </a:rPr>
              <a:t>+1.5 W (buying)</a:t>
            </a:r>
          </a:p>
          <a:p>
            <a:pPr algn="l">
              <a:spcAft>
                <a:spcPts val="200"/>
              </a:spcAft>
            </a:pPr>
            <a:r>
              <a:rPr sz="1900" b="0" i="0">
                <a:solidFill>
                  <a:srgbClr val="4B5563"/>
                </a:solidFill>
                <a:latin typeface="Calibri"/>
              </a:rPr>
              <a:t>Credit: </a:t>
            </a:r>
            <a:r>
              <a:rPr sz="1900" b="1" i="0">
                <a:solidFill>
                  <a:srgbClr val="1F2933"/>
                </a:solidFill>
                <a:latin typeface="Calibri"/>
              </a:rPr>
              <a:t>4 Wh</a:t>
            </a:r>
          </a:p>
          <a:p>
            <a:pPr algn="l">
              <a:spcAft>
                <a:spcPts val="400"/>
              </a:spcAft>
            </a:pPr>
            <a:r>
              <a:rPr sz="1800" b="1" i="0">
                <a:solidFill>
                  <a:srgbClr val="B45309"/>
                </a:solidFill>
                <a:latin typeface="Calibri"/>
              </a:rPr>
              <a:t>Critical ON · Flexible SHED</a:t>
            </a:r>
          </a:p>
        </p:txBody>
      </p:sp>
      <p:sp>
        <p:nvSpPr>
          <p:cNvPr id="21" name="Rounded Rectangle 20"/>
          <p:cNvSpPr/>
          <p:nvPr/>
        </p:nvSpPr>
        <p:spPr>
          <a:xfrm>
            <a:off x="777240" y="7178040"/>
            <a:ext cx="6400800" cy="2331720"/>
          </a:xfrm>
          <a:prstGeom prst="roundRect">
            <a:avLst>
              <a:gd name="adj" fmla="val 8000"/>
            </a:avLst>
          </a:prstGeom>
          <a:solidFill>
            <a:srgbClr val="FFFFFF"/>
          </a:solidFill>
          <a:ln w="19050">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t" lIns="182880" rIns="182880" tIns="54864" bIns="54864" wrap="square">
            <a:noAutofit/>
          </a:bodyPr>
          <a:lstStyle/>
          <a:p>
            <a:pPr algn="l">
              <a:spcAft>
                <a:spcPts val="400"/>
              </a:spcAft>
            </a:pPr>
            <a:r>
              <a:rPr sz="1800" b="0" i="0">
                <a:solidFill>
                  <a:srgbClr val="4B5563"/>
                </a:solidFill>
                <a:latin typeface="Calibri"/>
              </a:rPr>
              <a:t>Battery SOC, last 8 h</a:t>
            </a:r>
          </a:p>
        </p:txBody>
      </p:sp>
      <p:sp>
        <p:nvSpPr>
          <p:cNvPr id="22" name="Freeform 21"/>
          <p:cNvSpPr/>
          <p:nvPr/>
        </p:nvSpPr>
        <p:spPr>
          <a:xfrm>
            <a:off x="1005840" y="7898587"/>
            <a:ext cx="5943600" cy="1283817"/>
          </a:xfrm>
          <a:custGeom>
            <a:avLst/>
            <a:gdLst/>
            <a:ahLst/>
            <a:cxnLst/>
            <a:rect l="l" t="t" r="r" b="b"/>
            <a:pathLst>
              <a:path w="5943600" h="1283817">
                <a:moveTo>
                  <a:pt x="0" y="0"/>
                </a:moveTo>
                <a:lnTo>
                  <a:pt x="742950" y="0"/>
                </a:lnTo>
                <a:lnTo>
                  <a:pt x="1485900" y="164592"/>
                </a:lnTo>
                <a:lnTo>
                  <a:pt x="2228850" y="658368"/>
                </a:lnTo>
                <a:lnTo>
                  <a:pt x="2971799" y="1053389"/>
                </a:lnTo>
                <a:lnTo>
                  <a:pt x="3714750" y="1250899"/>
                </a:lnTo>
                <a:lnTo>
                  <a:pt x="4086225" y="1283817"/>
                </a:lnTo>
                <a:lnTo>
                  <a:pt x="4457700" y="1250899"/>
                </a:lnTo>
                <a:lnTo>
                  <a:pt x="5200650" y="1185062"/>
                </a:lnTo>
                <a:lnTo>
                  <a:pt x="5943600" y="1119225"/>
                </a:lnTo>
              </a:path>
            </a:pathLst>
          </a:custGeom>
          <a:noFill/>
          <a:ln w="381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360920" y="7178040"/>
            <a:ext cx="4297680" cy="2331720"/>
          </a:xfrm>
          <a:prstGeom prst="roundRect">
            <a:avLst>
              <a:gd name="adj" fmla="val 8000"/>
            </a:avLst>
          </a:prstGeom>
          <a:solidFill>
            <a:srgbClr val="FFFFFF"/>
          </a:solidFill>
          <a:ln w="19050">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t" lIns="182880" rIns="182880" tIns="54864" bIns="54864" wrap="square">
            <a:noAutofit/>
          </a:bodyPr>
          <a:lstStyle/>
          <a:p>
            <a:pPr algn="l">
              <a:spcAft>
                <a:spcPts val="400"/>
              </a:spcAft>
            </a:pPr>
            <a:r>
              <a:rPr sz="1800" b="0" i="0">
                <a:solidFill>
                  <a:srgbClr val="4B5563"/>
                </a:solidFill>
                <a:latin typeface="Calibri"/>
              </a:rPr>
              <a:t>Alerts</a:t>
            </a:r>
          </a:p>
          <a:p>
            <a:pPr algn="l">
              <a:spcAft>
                <a:spcPts val="200"/>
              </a:spcAft>
            </a:pPr>
            <a:r>
              <a:rPr sz="1800" b="0" i="0">
                <a:solidFill>
                  <a:srgbClr val="1F2933"/>
                </a:solidFill>
                <a:latin typeface="Calibri"/>
              </a:rPr>
              <a:t>18:00  Grid lost → islanded</a:t>
            </a:r>
          </a:p>
          <a:p>
            <a:pPr algn="l">
              <a:spcAft>
                <a:spcPts val="200"/>
              </a:spcAft>
            </a:pPr>
            <a:r>
              <a:rPr sz="1800" b="0" i="0">
                <a:solidFill>
                  <a:srgbClr val="1F2933"/>
                </a:solidFill>
                <a:latin typeface="Calibri"/>
              </a:rPr>
              <a:t>19:24  House 3 flexible load shed</a:t>
            </a:r>
          </a:p>
          <a:p>
            <a:pPr algn="l">
              <a:spcAft>
                <a:spcPts val="200"/>
              </a:spcAft>
            </a:pPr>
            <a:r>
              <a:rPr sz="1800" b="0" i="0">
                <a:solidFill>
                  <a:srgbClr val="1F2933"/>
                </a:solidFill>
                <a:latin typeface="Calibri"/>
              </a:rPr>
              <a:t>21:00  Grid stable → reconnected</a:t>
            </a:r>
          </a:p>
        </p:txBody>
      </p:sp>
      <p:sp>
        <p:nvSpPr>
          <p:cNvPr id="24" name="TextBox 23"/>
          <p:cNvSpPr txBox="1"/>
          <p:nvPr/>
        </p:nvSpPr>
        <p:spPr>
          <a:xfrm>
            <a:off x="548640" y="9710928"/>
            <a:ext cx="11338560" cy="365760"/>
          </a:xfrm>
          <a:prstGeom prst="rect">
            <a:avLst/>
          </a:prstGeom>
          <a:noFill/>
        </p:spPr>
        <p:txBody>
          <a:bodyPr wrap="square" lIns="0" rIns="0" tIns="0" bIns="0" anchor="t">
            <a:noAutofit/>
          </a:bodyPr>
          <a:lstStyle/>
          <a:p>
            <a:pPr algn="l">
              <a:spcAft>
                <a:spcPts val="600"/>
              </a:spcAft>
            </a:pPr>
            <a:r>
              <a:rPr sz="1800" b="0" i="0">
                <a:solidFill>
                  <a:srgbClr val="4B5563"/>
                </a:solidFill>
                <a:latin typeface="Calibri"/>
              </a:rPr>
              <a:t>Design mock-up: layout planned, values illustrative (not built yet)</a:t>
            </a:r>
          </a:p>
        </p:txBody>
      </p:sp>
      <p:sp>
        <p:nvSpPr>
          <p:cNvPr id="25" name="TextBox 24"/>
          <p:cNvSpPr txBox="1"/>
          <p:nvPr/>
        </p:nvSpPr>
        <p:spPr>
          <a:xfrm>
            <a:off x="12435840" y="2468880"/>
            <a:ext cx="5303520" cy="548640"/>
          </a:xfrm>
          <a:prstGeom prst="rect">
            <a:avLst/>
          </a:prstGeom>
          <a:noFill/>
        </p:spPr>
        <p:txBody>
          <a:bodyPr wrap="square" lIns="0" rIns="0" tIns="0" bIns="0" anchor="t">
            <a:noAutofit/>
          </a:bodyPr>
          <a:lstStyle/>
          <a:p>
            <a:pPr algn="l">
              <a:spcAft>
                <a:spcPts val="600"/>
              </a:spcAft>
            </a:pPr>
            <a:r>
              <a:rPr sz="2800" b="1" i="0">
                <a:solidFill>
                  <a:srgbClr val="7A1F2B"/>
                </a:solidFill>
                <a:latin typeface="Calibri"/>
              </a:rPr>
              <a:t>What it shows</a:t>
            </a:r>
          </a:p>
        </p:txBody>
      </p:sp>
      <p:sp>
        <p:nvSpPr>
          <p:cNvPr id="26" name="TextBox 25"/>
          <p:cNvSpPr txBox="1"/>
          <p:nvPr/>
        </p:nvSpPr>
        <p:spPr>
          <a:xfrm>
            <a:off x="12435840" y="3063240"/>
            <a:ext cx="5303520" cy="3291840"/>
          </a:xfrm>
          <a:prstGeom prst="rect">
            <a:avLst/>
          </a:prstGeom>
          <a:noFill/>
        </p:spPr>
        <p:txBody>
          <a:bodyPr wrap="square" lIns="0" rIns="0" tIns="0" bIns="0" anchor="t">
            <a:noAutofit/>
          </a:bodyPr>
          <a:lstStyle/>
          <a:p>
            <a:pPr algn="l" marL="274320" indent="-228600">
              <a:spcAft>
                <a:spcPts val="800"/>
              </a:spcAft>
              <a:buChar char="•"/>
            </a:pPr>
            <a:r>
              <a:rPr sz="2200" b="0" i="0">
                <a:solidFill>
                  <a:srgbClr val="1F2933"/>
                </a:solidFill>
                <a:latin typeface="Calibri"/>
              </a:rPr>
              <a:t>Mode and grid status at a glance</a:t>
            </a:r>
          </a:p>
          <a:p>
            <a:pPr algn="l" marL="274320" indent="-228600">
              <a:spcAft>
                <a:spcPts val="800"/>
              </a:spcAft>
              <a:buChar char="•"/>
            </a:pPr>
            <a:r>
              <a:rPr sz="2200" b="0" i="0">
                <a:solidFill>
                  <a:srgbClr val="1F2933"/>
                </a:solidFill>
                <a:latin typeface="Calibri"/>
              </a:rPr>
              <a:t>Bus voltage, battery SOC, solar power</a:t>
            </a:r>
          </a:p>
          <a:p>
            <a:pPr algn="l" marL="274320" indent="-228600">
              <a:spcAft>
                <a:spcPts val="800"/>
              </a:spcAft>
              <a:buChar char="•"/>
            </a:pPr>
            <a:r>
              <a:rPr sz="2200" b="0" i="0">
                <a:solidFill>
                  <a:srgbClr val="1F2933"/>
                </a:solidFill>
                <a:latin typeface="Calibri"/>
              </a:rPr>
              <a:t>Per house: power, credit, load status</a:t>
            </a:r>
          </a:p>
          <a:p>
            <a:pPr algn="l" marL="274320" indent="-228600">
              <a:spcAft>
                <a:spcPts val="800"/>
              </a:spcAft>
              <a:buChar char="•"/>
            </a:pPr>
            <a:r>
              <a:rPr sz="2200" b="0" i="0">
                <a:solidFill>
                  <a:srgbClr val="1F2933"/>
                </a:solidFill>
                <a:latin typeface="Calibri"/>
              </a:rPr>
              <a:t>Trades and alerts log</a:t>
            </a:r>
          </a:p>
        </p:txBody>
      </p:sp>
      <p:sp>
        <p:nvSpPr>
          <p:cNvPr id="27" name="TextBox 26"/>
          <p:cNvSpPr txBox="1"/>
          <p:nvPr/>
        </p:nvSpPr>
        <p:spPr>
          <a:xfrm>
            <a:off x="12435840" y="6400800"/>
            <a:ext cx="5303520" cy="548640"/>
          </a:xfrm>
          <a:prstGeom prst="rect">
            <a:avLst/>
          </a:prstGeom>
          <a:noFill/>
        </p:spPr>
        <p:txBody>
          <a:bodyPr wrap="square" lIns="0" rIns="0" tIns="0" bIns="0" anchor="t">
            <a:noAutofit/>
          </a:bodyPr>
          <a:lstStyle/>
          <a:p>
            <a:pPr algn="l">
              <a:spcAft>
                <a:spcPts val="600"/>
              </a:spcAft>
            </a:pPr>
            <a:r>
              <a:rPr sz="2800" b="1" i="0">
                <a:solidFill>
                  <a:srgbClr val="7A1F2B"/>
                </a:solidFill>
                <a:latin typeface="Calibri"/>
              </a:rPr>
              <a:t>Data path</a:t>
            </a:r>
          </a:p>
        </p:txBody>
      </p:sp>
      <p:sp>
        <p:nvSpPr>
          <p:cNvPr id="28" name="Rounded Rectangle 27"/>
          <p:cNvSpPr/>
          <p:nvPr/>
        </p:nvSpPr>
        <p:spPr>
          <a:xfrm>
            <a:off x="12435840" y="6995160"/>
            <a:ext cx="5303520" cy="65836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tIns="54864" bIns="54864" wrap="square">
            <a:noAutofit/>
          </a:bodyPr>
          <a:lstStyle/>
          <a:p>
            <a:pPr algn="ctr">
              <a:spcAft>
                <a:spcPts val="400"/>
              </a:spcAft>
            </a:pPr>
            <a:r>
              <a:rPr sz="2100" b="1" i="0">
                <a:solidFill>
                  <a:srgbClr val="1F2933"/>
                </a:solidFill>
                <a:latin typeface="Calibri"/>
              </a:rPr>
              <a:t>ESP32 meters</a:t>
            </a:r>
          </a:p>
        </p:txBody>
      </p:sp>
      <p:cxnSp>
        <p:nvCxnSpPr>
          <p:cNvPr id="29" name="Connector 28"/>
          <p:cNvCxnSpPr/>
          <p:nvPr/>
        </p:nvCxnSpPr>
        <p:spPr>
          <a:xfrm>
            <a:off x="15087600" y="7653527"/>
            <a:ext cx="0" cy="301752"/>
          </a:xfrm>
          <a:prstGeom prst="line">
            <a:avLst/>
          </a:prstGeom>
          <a:ln w="2540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12435840" y="7955280"/>
            <a:ext cx="5303520" cy="65836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tIns="54864" bIns="54864" wrap="square">
            <a:noAutofit/>
          </a:bodyPr>
          <a:lstStyle/>
          <a:p>
            <a:pPr algn="ctr">
              <a:spcAft>
                <a:spcPts val="400"/>
              </a:spcAft>
            </a:pPr>
            <a:r>
              <a:rPr sz="2100" b="1" i="0">
                <a:solidFill>
                  <a:srgbClr val="1F2933"/>
                </a:solidFill>
                <a:latin typeface="Calibri"/>
              </a:rPr>
              <a:t>MQTT broker (Pi)</a:t>
            </a:r>
          </a:p>
        </p:txBody>
      </p:sp>
      <p:cxnSp>
        <p:nvCxnSpPr>
          <p:cNvPr id="31" name="Connector 30"/>
          <p:cNvCxnSpPr/>
          <p:nvPr/>
        </p:nvCxnSpPr>
        <p:spPr>
          <a:xfrm>
            <a:off x="15087600" y="8613648"/>
            <a:ext cx="0" cy="301752"/>
          </a:xfrm>
          <a:prstGeom prst="line">
            <a:avLst/>
          </a:prstGeom>
          <a:ln w="2540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12435840" y="8915400"/>
            <a:ext cx="5303520" cy="658368"/>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tIns="54864" bIns="54864" wrap="square">
            <a:noAutofit/>
          </a:bodyPr>
          <a:lstStyle/>
          <a:p>
            <a:pPr algn="ctr">
              <a:spcAft>
                <a:spcPts val="400"/>
              </a:spcAft>
            </a:pPr>
            <a:r>
              <a:rPr sz="2100" b="1" i="0">
                <a:solidFill>
                  <a:srgbClr val="1F2933"/>
                </a:solidFill>
                <a:latin typeface="Calibri"/>
              </a:rPr>
              <a:t>Database + web page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8640" y="1325880"/>
            <a:ext cx="17190720" cy="868680"/>
          </a:xfrm>
          <a:prstGeom prst="rect">
            <a:avLst/>
          </a:prstGeom>
        </p:spPr>
        <p:txBody>
          <a:bodyPr lIns="0" tIns="0" rIns="0" bIns="0" rtlCol="0" anchor="t" wrap="square">
            <a:spAutoFit/>
          </a:bodyPr>
          <a:lstStyle/>
          <a:p>
            <a:pPr algn="l">
              <a:lnSpc>
                <a:spcPts val="7279"/>
              </a:lnSpc>
            </a:pPr>
            <a:r>
              <a:rPr lang="en-US" sz="4400" b="1">
                <a:solidFill>
                  <a:srgbClr val="000000"/>
                </a:solidFill>
                <a:latin typeface="Canva Sans Bold"/>
                <a:ea typeface="Canva Sans Bold"/>
                <a:cs typeface="Canva Sans Bold"/>
                <a:sym typeface="Canva Sans Bold"/>
              </a:rPr>
              <a:t>Technical approach: AI/ML energy manager</a:t>
            </a:r>
          </a:p>
        </p:txBody>
      </p:sp>
      <p:grpSp>
        <p:nvGrpSpPr>
          <p:cNvPr id="3" name="Group 3"/>
          <p:cNvGrpSpPr/>
          <p:nvPr/>
        </p:nvGrpSpPr>
        <p:grpSpPr>
          <a:xfrm>
            <a:off x="535200" y="-81549"/>
            <a:ext cx="17503283" cy="1576346"/>
            <a:chOff x="0" y="0"/>
            <a:chExt cx="23337711" cy="2101794"/>
          </a:xfrm>
        </p:grpSpPr>
        <p:grpSp>
          <p:nvGrpSpPr>
            <p:cNvPr id="4" name="Group 4"/>
            <p:cNvGrpSpPr/>
            <p:nvPr/>
          </p:nvGrpSpPr>
          <p:grpSpPr>
            <a:xfrm>
              <a:off x="0" y="0"/>
              <a:ext cx="2390534" cy="2101794"/>
              <a:chOff x="0" y="0"/>
              <a:chExt cx="2451880" cy="2155730"/>
            </a:xfrm>
          </p:grpSpPr>
          <p:sp>
            <p:nvSpPr>
              <p:cNvPr id="5" name="Freeform 5"/>
              <p:cNvSpPr/>
              <p:nvPr/>
            </p:nvSpPr>
            <p:spPr>
              <a:xfrm>
                <a:off x="0" y="0"/>
                <a:ext cx="2451818" cy="2155743"/>
              </a:xfrm>
              <a:custGeom>
                <a:avLst/>
                <a:gdLst/>
                <a:ahLst/>
                <a:cxnLst/>
                <a:rect l="l" t="t" r="r" b="b"/>
                <a:pathLst>
                  <a:path w="2451818" h="2155743">
                    <a:moveTo>
                      <a:pt x="0" y="0"/>
                    </a:moveTo>
                    <a:lnTo>
                      <a:pt x="2451818" y="0"/>
                    </a:lnTo>
                    <a:lnTo>
                      <a:pt x="2451818" y="2155743"/>
                    </a:lnTo>
                    <a:lnTo>
                      <a:pt x="0" y="2155743"/>
                    </a:lnTo>
                    <a:lnTo>
                      <a:pt x="0" y="0"/>
                    </a:lnTo>
                    <a:close/>
                  </a:path>
                </a:pathLst>
              </a:custGeom>
              <a:blipFill>
                <a:blip r:embed="rId2"/>
                <a:stretch>
                  <a:fillRect l="-43229" r="-67848" b="-8030"/>
                </a:stretch>
              </a:blipFill>
            </p:spPr>
          </p:sp>
        </p:grpSp>
        <p:grpSp>
          <p:nvGrpSpPr>
            <p:cNvPr id="6" name="Group 6"/>
            <p:cNvGrpSpPr/>
            <p:nvPr/>
          </p:nvGrpSpPr>
          <p:grpSpPr>
            <a:xfrm>
              <a:off x="18545475" y="247188"/>
              <a:ext cx="1586845" cy="1627422"/>
              <a:chOff x="0" y="0"/>
              <a:chExt cx="1808366" cy="1854606"/>
            </a:xfrm>
          </p:grpSpPr>
          <p:sp>
            <p:nvSpPr>
              <p:cNvPr id="7" name="Freeform 7"/>
              <p:cNvSpPr/>
              <p:nvPr/>
            </p:nvSpPr>
            <p:spPr>
              <a:xfrm>
                <a:off x="0" y="0"/>
                <a:ext cx="1808353" cy="1854581"/>
              </a:xfrm>
              <a:custGeom>
                <a:avLst/>
                <a:gdLst/>
                <a:ahLst/>
                <a:cxnLst/>
                <a:rect l="l" t="t" r="r" b="b"/>
                <a:pathLst>
                  <a:path w="1808353" h="1854581">
                    <a:moveTo>
                      <a:pt x="0" y="0"/>
                    </a:moveTo>
                    <a:lnTo>
                      <a:pt x="1808353" y="0"/>
                    </a:lnTo>
                    <a:lnTo>
                      <a:pt x="1808353" y="1854581"/>
                    </a:lnTo>
                    <a:lnTo>
                      <a:pt x="0" y="1854581"/>
                    </a:lnTo>
                    <a:lnTo>
                      <a:pt x="0" y="0"/>
                    </a:lnTo>
                    <a:close/>
                  </a:path>
                </a:pathLst>
              </a:custGeom>
              <a:blipFill>
                <a:blip r:embed="rId3"/>
                <a:stretch>
                  <a:fillRect l="-63953" r="-63953" b="-1"/>
                </a:stretch>
              </a:blipFill>
            </p:spPr>
          </p:sp>
        </p:grpSp>
        <p:grpSp>
          <p:nvGrpSpPr>
            <p:cNvPr id="8" name="Group 8"/>
            <p:cNvGrpSpPr/>
            <p:nvPr/>
          </p:nvGrpSpPr>
          <p:grpSpPr>
            <a:xfrm>
              <a:off x="20344893" y="291523"/>
              <a:ext cx="2992818" cy="1380820"/>
              <a:chOff x="0" y="0"/>
              <a:chExt cx="2992818" cy="1380820"/>
            </a:xfrm>
          </p:grpSpPr>
          <p:sp>
            <p:nvSpPr>
              <p:cNvPr id="9" name="Freeform 9"/>
              <p:cNvSpPr/>
              <p:nvPr/>
            </p:nvSpPr>
            <p:spPr>
              <a:xfrm>
                <a:off x="0" y="0"/>
                <a:ext cx="2992882" cy="1380871"/>
              </a:xfrm>
              <a:custGeom>
                <a:avLst/>
                <a:gdLst/>
                <a:ahLst/>
                <a:cxnLst/>
                <a:rect l="l" t="t" r="r" b="b"/>
                <a:pathLst>
                  <a:path w="2992882" h="1380871">
                    <a:moveTo>
                      <a:pt x="0" y="0"/>
                    </a:moveTo>
                    <a:lnTo>
                      <a:pt x="2992882" y="0"/>
                    </a:lnTo>
                    <a:lnTo>
                      <a:pt x="2992882" y="1380871"/>
                    </a:lnTo>
                    <a:lnTo>
                      <a:pt x="0" y="1380871"/>
                    </a:lnTo>
                    <a:lnTo>
                      <a:pt x="0" y="0"/>
                    </a:lnTo>
                    <a:close/>
                  </a:path>
                </a:pathLst>
              </a:custGeom>
              <a:blipFill>
                <a:blip r:embed="rId4"/>
                <a:stretch>
                  <a:fillRect l="-1264" r="-1261" b="3"/>
                </a:stretch>
              </a:blipFill>
            </p:spPr>
          </p:sp>
        </p:grpSp>
        <p:sp>
          <p:nvSpPr>
            <p:cNvPr id="10" name="TextBox 10"/>
            <p:cNvSpPr txBox="1"/>
            <p:nvPr/>
          </p:nvSpPr>
          <p:spPr>
            <a:xfrm>
              <a:off x="3986137" y="60414"/>
              <a:ext cx="14984527" cy="1814195"/>
            </a:xfrm>
            <a:prstGeom prst="rect">
              <a:avLst/>
            </a:prstGeom>
          </p:spPr>
          <p:txBody>
            <a:bodyPr lIns="0" tIns="0" rIns="0" bIns="0" rtlCol="0" anchor="t">
              <a:spAutoFit/>
            </a:bodyPr>
            <a:lstStyle/>
            <a:p>
              <a:pPr algn="ctr">
                <a:lnSpc>
                  <a:spcPts val="6160"/>
                </a:lnSpc>
              </a:pPr>
              <a:r>
                <a:rPr lang="en-US" sz="4400">
                  <a:solidFill>
                    <a:srgbClr val="692B39"/>
                  </a:solidFill>
                  <a:latin typeface="Times New Roman"/>
                  <a:ea typeface="Times New Roman"/>
                  <a:cs typeface="Times New Roman"/>
                  <a:sym typeface="Times New Roman"/>
                </a:rPr>
                <a:t>Walchand College of Engineering, Sangli</a:t>
              </a:r>
            </a:p>
            <a:p>
              <a:pPr algn="ctr">
                <a:lnSpc>
                  <a:spcPts val="4759"/>
                </a:lnSpc>
              </a:pPr>
              <a:r>
                <a:rPr lang="en-US" sz="3399">
                  <a:solidFill>
                    <a:srgbClr val="692B39"/>
                  </a:solidFill>
                  <a:latin typeface="Times New Roman"/>
                  <a:ea typeface="Times New Roman"/>
                  <a:cs typeface="Times New Roman"/>
                  <a:sym typeface="Times New Roman"/>
                </a:rPr>
                <a:t>A Goverment-Aided Autonomous Institute</a:t>
              </a:r>
            </a:p>
          </p:txBody>
        </p:sp>
      </p:grpSp>
      <p:sp>
        <p:nvSpPr>
          <p:cNvPr id="11" name="Rounded Rectangle 10"/>
          <p:cNvSpPr/>
          <p:nvPr/>
        </p:nvSpPr>
        <p:spPr>
          <a:xfrm>
            <a:off x="548640" y="2468880"/>
            <a:ext cx="5120640" cy="361188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t" lIns="274320" rIns="274320" tIns="54864" bIns="54864" wrap="square">
            <a:noAutofit/>
          </a:bodyPr>
          <a:lstStyle/>
          <a:p>
            <a:pPr algn="l">
              <a:spcAft>
                <a:spcPts val="600"/>
              </a:spcAft>
            </a:pPr>
            <a:r>
              <a:rPr sz="2600" b="1" i="0">
                <a:solidFill>
                  <a:srgbClr val="7A1F2B"/>
                </a:solidFill>
                <a:latin typeface="Calibri"/>
              </a:rPr>
              <a:t>Inputs</a:t>
            </a:r>
          </a:p>
          <a:p>
            <a:pPr algn="l" marL="274320" indent="-228600">
              <a:spcAft>
                <a:spcPts val="400"/>
              </a:spcAft>
              <a:buChar char="•"/>
            </a:pPr>
            <a:r>
              <a:rPr sz="2100" b="0" i="0">
                <a:solidFill>
                  <a:srgbClr val="1F2933"/>
                </a:solidFill>
                <a:latin typeface="Calibri"/>
              </a:rPr>
              <a:t>Grid available?</a:t>
            </a:r>
          </a:p>
          <a:p>
            <a:pPr algn="l" marL="274320" indent="-228600">
              <a:spcAft>
                <a:spcPts val="400"/>
              </a:spcAft>
              <a:buChar char="•"/>
            </a:pPr>
            <a:r>
              <a:rPr sz="2100" b="0" i="0">
                <a:solidFill>
                  <a:srgbClr val="1F2933"/>
                </a:solidFill>
                <a:latin typeface="Calibri"/>
              </a:rPr>
              <a:t>Buy / sell price (Time-of-Day)</a:t>
            </a:r>
          </a:p>
          <a:p>
            <a:pPr algn="l" marL="274320" indent="-228600">
              <a:spcAft>
                <a:spcPts val="400"/>
              </a:spcAft>
              <a:buChar char="•"/>
            </a:pPr>
            <a:r>
              <a:rPr sz="2100" b="0" i="0">
                <a:solidFill>
                  <a:srgbClr val="1F2933"/>
                </a:solidFill>
                <a:latin typeface="Calibri"/>
              </a:rPr>
              <a:t>Solar power, critical &amp; flexible load</a:t>
            </a:r>
          </a:p>
          <a:p>
            <a:pPr algn="l" marL="274320" indent="-228600">
              <a:spcAft>
                <a:spcPts val="400"/>
              </a:spcAft>
              <a:buChar char="•"/>
            </a:pPr>
            <a:r>
              <a:rPr sz="2100" b="0" i="0">
                <a:solidFill>
                  <a:srgbClr val="1F2933"/>
                </a:solidFill>
                <a:latin typeface="Calibri"/>
              </a:rPr>
              <a:t>Battery SOC, household credit</a:t>
            </a:r>
          </a:p>
        </p:txBody>
      </p:sp>
      <p:cxnSp>
        <p:nvCxnSpPr>
          <p:cNvPr id="12" name="Connector 11"/>
          <p:cNvCxnSpPr/>
          <p:nvPr/>
        </p:nvCxnSpPr>
        <p:spPr>
          <a:xfrm>
            <a:off x="5669280" y="4274820"/>
            <a:ext cx="822960" cy="0"/>
          </a:xfrm>
          <a:prstGeom prst="line">
            <a:avLst/>
          </a:prstGeom>
          <a:ln w="3810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492240" y="2468880"/>
            <a:ext cx="5120640" cy="3611880"/>
          </a:xfrm>
          <a:prstGeom prst="roundRect">
            <a:avLst>
              <a:gd name="adj" fmla="val 8000"/>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tIns="54864" bIns="54864" wrap="square">
            <a:noAutofit/>
          </a:bodyPr>
          <a:lstStyle/>
          <a:p>
            <a:pPr algn="ctr">
              <a:spcAft>
                <a:spcPts val="800"/>
              </a:spcAft>
            </a:pPr>
            <a:r>
              <a:rPr sz="3000" b="1" i="0">
                <a:solidFill>
                  <a:srgbClr val="FFFFFF"/>
                </a:solidFill>
                <a:latin typeface="Calibri"/>
              </a:rPr>
              <a:t>AI energy manager</a:t>
            </a:r>
          </a:p>
          <a:p>
            <a:pPr algn="ctr">
              <a:spcAft>
                <a:spcPts val="1000"/>
              </a:spcAft>
            </a:pPr>
            <a:r>
              <a:rPr sz="2100" b="0" i="0">
                <a:solidFill>
                  <a:srgbClr val="FFFFFF"/>
                </a:solidFill>
                <a:latin typeface="Calibri"/>
              </a:rPr>
              <a:t>runs on the Raspberry Pi, talks to the controller over MQTT</a:t>
            </a:r>
          </a:p>
          <a:p>
            <a:pPr algn="ctr">
              <a:spcAft>
                <a:spcPts val="400"/>
              </a:spcAft>
            </a:pPr>
            <a:r>
              <a:rPr sz="2100" b="1" i="0">
                <a:solidFill>
                  <a:srgbClr val="FEF3C7"/>
                </a:solidFill>
                <a:latin typeface="Calibri"/>
              </a:rPr>
              <a:t>Hard rule: never cuts a critical load</a:t>
            </a:r>
          </a:p>
        </p:txBody>
      </p:sp>
      <p:cxnSp>
        <p:nvCxnSpPr>
          <p:cNvPr id="14" name="Connector 13"/>
          <p:cNvCxnSpPr/>
          <p:nvPr/>
        </p:nvCxnSpPr>
        <p:spPr>
          <a:xfrm>
            <a:off x="11612880" y="4274820"/>
            <a:ext cx="822960" cy="0"/>
          </a:xfrm>
          <a:prstGeom prst="line">
            <a:avLst/>
          </a:prstGeom>
          <a:ln w="38100">
            <a:solidFill>
              <a:srgbClr val="4B55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12435840" y="2468880"/>
            <a:ext cx="5303520" cy="361188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t" lIns="274320" rIns="274320" tIns="54864" bIns="54864" wrap="square">
            <a:noAutofit/>
          </a:bodyPr>
          <a:lstStyle/>
          <a:p>
            <a:pPr algn="l">
              <a:spcAft>
                <a:spcPts val="600"/>
              </a:spcAft>
            </a:pPr>
            <a:r>
              <a:rPr sz="2600" b="1" i="0">
                <a:solidFill>
                  <a:srgbClr val="7A1F2B"/>
                </a:solidFill>
                <a:latin typeface="Calibri"/>
              </a:rPr>
              <a:t>Outputs (suggestions)</a:t>
            </a:r>
          </a:p>
          <a:p>
            <a:pPr algn="l" marL="274320" indent="-228600">
              <a:spcAft>
                <a:spcPts val="400"/>
              </a:spcAft>
              <a:buChar char="•"/>
            </a:pPr>
            <a:r>
              <a:rPr sz="2100" b="0" i="0">
                <a:solidFill>
                  <a:srgbClr val="1F2933"/>
                </a:solidFill>
                <a:latin typeface="Calibri"/>
              </a:rPr>
              <a:t>Battery charge / discharge set-point</a:t>
            </a:r>
          </a:p>
          <a:p>
            <a:pPr algn="l" marL="274320" indent="-228600">
              <a:spcAft>
                <a:spcPts val="400"/>
              </a:spcAft>
              <a:buChar char="•"/>
            </a:pPr>
            <a:r>
              <a:rPr sz="2100" b="0" i="0">
                <a:solidFill>
                  <a:srgbClr val="1F2933"/>
                </a:solidFill>
                <a:latin typeface="Calibri"/>
              </a:rPr>
              <a:t>Which flexible loads to shed</a:t>
            </a:r>
          </a:p>
          <a:p>
            <a:pPr algn="l" marL="274320" indent="-228600">
              <a:spcAft>
                <a:spcPts val="400"/>
              </a:spcAft>
              <a:buChar char="•"/>
            </a:pPr>
            <a:r>
              <a:rPr sz="2100" b="0" i="0">
                <a:solidFill>
                  <a:srgbClr val="1F2933"/>
                </a:solidFill>
                <a:latin typeface="Calibri"/>
              </a:rPr>
              <a:t>Solar curtailment</a:t>
            </a:r>
          </a:p>
          <a:p>
            <a:pPr algn="l" marL="274320" indent="-228600">
              <a:spcAft>
                <a:spcPts val="400"/>
              </a:spcAft>
              <a:buChar char="•"/>
            </a:pPr>
            <a:r>
              <a:rPr sz="2100" b="0" i="0">
                <a:solidFill>
                  <a:srgbClr val="1F2933"/>
                </a:solidFill>
                <a:latin typeface="Calibri"/>
              </a:rPr>
              <a:t>P2P trades and price</a:t>
            </a:r>
          </a:p>
        </p:txBody>
      </p:sp>
      <p:sp>
        <p:nvSpPr>
          <p:cNvPr id="16" name="TextBox 15"/>
          <p:cNvSpPr txBox="1"/>
          <p:nvPr/>
        </p:nvSpPr>
        <p:spPr>
          <a:xfrm>
            <a:off x="548640" y="6400800"/>
            <a:ext cx="9692640" cy="548640"/>
          </a:xfrm>
          <a:prstGeom prst="rect">
            <a:avLst/>
          </a:prstGeom>
          <a:noFill/>
        </p:spPr>
        <p:txBody>
          <a:bodyPr wrap="square" lIns="0" rIns="0" tIns="0" bIns="0" anchor="t">
            <a:noAutofit/>
          </a:bodyPr>
          <a:lstStyle/>
          <a:p>
            <a:pPr algn="l">
              <a:spcAft>
                <a:spcPts val="600"/>
              </a:spcAft>
            </a:pPr>
            <a:r>
              <a:rPr sz="2600" b="1" i="0">
                <a:solidFill>
                  <a:srgbClr val="7A1F2B"/>
                </a:solidFill>
                <a:latin typeface="Calibri"/>
              </a:rPr>
              <a:t>Approach ladder: simple first, smarter later</a:t>
            </a:r>
          </a:p>
        </p:txBody>
      </p:sp>
      <p:sp>
        <p:nvSpPr>
          <p:cNvPr id="17" name="Rounded Rectangle 16"/>
          <p:cNvSpPr/>
          <p:nvPr/>
        </p:nvSpPr>
        <p:spPr>
          <a:xfrm>
            <a:off x="548640" y="8503919"/>
            <a:ext cx="2286000" cy="1188720"/>
          </a:xfrm>
          <a:prstGeom prst="roundRect">
            <a:avLst>
              <a:gd name="adj" fmla="val 8000"/>
            </a:avLst>
          </a:prstGeom>
          <a:solidFill>
            <a:srgbClr val="E0F2EF"/>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54864" bIns="54864" wrap="square">
            <a:noAutofit/>
          </a:bodyPr>
          <a:lstStyle/>
          <a:p>
            <a:pPr algn="l">
              <a:spcAft>
                <a:spcPts val="0"/>
              </a:spcAft>
            </a:pPr>
            <a:r>
              <a:rPr sz="2600" b="1" i="0">
                <a:solidFill>
                  <a:srgbClr val="0F766E"/>
                </a:solidFill>
                <a:latin typeface="Calibri"/>
              </a:rPr>
              <a:t>1</a:t>
            </a:r>
          </a:p>
          <a:p>
            <a:pPr algn="l">
              <a:spcAft>
                <a:spcPts val="400"/>
              </a:spcAft>
            </a:pPr>
            <a:r>
              <a:rPr sz="1900" b="1" i="0">
                <a:solidFill>
                  <a:srgbClr val="1F2933"/>
                </a:solidFill>
                <a:latin typeface="Calibri"/>
              </a:rPr>
              <a:t>Rule-based baseline</a:t>
            </a:r>
          </a:p>
        </p:txBody>
      </p:sp>
      <p:sp>
        <p:nvSpPr>
          <p:cNvPr id="18" name="Rounded Rectangle 17"/>
          <p:cNvSpPr/>
          <p:nvPr/>
        </p:nvSpPr>
        <p:spPr>
          <a:xfrm>
            <a:off x="2999232" y="8046719"/>
            <a:ext cx="2286000" cy="1645920"/>
          </a:xfrm>
          <a:prstGeom prst="roundRect">
            <a:avLst>
              <a:gd name="adj" fmla="val 8000"/>
            </a:avLst>
          </a:prstGeom>
          <a:solidFill>
            <a:srgbClr val="E0F2EF"/>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54864" bIns="54864" wrap="square">
            <a:noAutofit/>
          </a:bodyPr>
          <a:lstStyle/>
          <a:p>
            <a:pPr algn="l">
              <a:spcAft>
                <a:spcPts val="0"/>
              </a:spcAft>
            </a:pPr>
            <a:r>
              <a:rPr sz="2600" b="1" i="0">
                <a:solidFill>
                  <a:srgbClr val="0F766E"/>
                </a:solidFill>
                <a:latin typeface="Calibri"/>
              </a:rPr>
              <a:t>2</a:t>
            </a:r>
          </a:p>
          <a:p>
            <a:pPr algn="l">
              <a:spcAft>
                <a:spcPts val="400"/>
              </a:spcAft>
            </a:pPr>
            <a:r>
              <a:rPr sz="1900" b="1" i="0">
                <a:solidFill>
                  <a:srgbClr val="1F2933"/>
                </a:solidFill>
                <a:latin typeface="Calibri"/>
              </a:rPr>
              <a:t>MPC: optimise the next hours</a:t>
            </a:r>
          </a:p>
        </p:txBody>
      </p:sp>
      <p:sp>
        <p:nvSpPr>
          <p:cNvPr id="19" name="Rounded Rectangle 18"/>
          <p:cNvSpPr/>
          <p:nvPr/>
        </p:nvSpPr>
        <p:spPr>
          <a:xfrm>
            <a:off x="5449824" y="7589520"/>
            <a:ext cx="2286000" cy="2103120"/>
          </a:xfrm>
          <a:prstGeom prst="roundRect">
            <a:avLst>
              <a:gd name="adj" fmla="val 8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54864" bIns="54864" wrap="square">
            <a:noAutofit/>
          </a:bodyPr>
          <a:lstStyle/>
          <a:p>
            <a:pPr algn="l">
              <a:spcAft>
                <a:spcPts val="0"/>
              </a:spcAft>
            </a:pPr>
            <a:r>
              <a:rPr sz="2600" b="1" i="0">
                <a:solidFill>
                  <a:srgbClr val="0F766E"/>
                </a:solidFill>
                <a:latin typeface="Calibri"/>
              </a:rPr>
              <a:t>3</a:t>
            </a:r>
          </a:p>
          <a:p>
            <a:pPr algn="l">
              <a:spcAft>
                <a:spcPts val="400"/>
              </a:spcAft>
            </a:pPr>
            <a:r>
              <a:rPr sz="1900" b="1" i="0">
                <a:solidFill>
                  <a:srgbClr val="1F2933"/>
                </a:solidFill>
                <a:latin typeface="Calibri"/>
              </a:rPr>
              <a:t>Forecast solar &amp; load (LightGBM / LSTM)</a:t>
            </a:r>
          </a:p>
        </p:txBody>
      </p:sp>
      <p:sp>
        <p:nvSpPr>
          <p:cNvPr id="20" name="Rounded Rectangle 19"/>
          <p:cNvSpPr/>
          <p:nvPr/>
        </p:nvSpPr>
        <p:spPr>
          <a:xfrm>
            <a:off x="7900416" y="7132320"/>
            <a:ext cx="2286000" cy="256032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54864" bIns="54864" wrap="square">
            <a:noAutofit/>
          </a:bodyPr>
          <a:lstStyle/>
          <a:p>
            <a:pPr algn="l">
              <a:spcAft>
                <a:spcPts val="0"/>
              </a:spcAft>
            </a:pPr>
            <a:r>
              <a:rPr sz="2600" b="1" i="0">
                <a:solidFill>
                  <a:srgbClr val="0F766E"/>
                </a:solidFill>
                <a:latin typeface="Calibri"/>
              </a:rPr>
              <a:t>4</a:t>
            </a:r>
          </a:p>
          <a:p>
            <a:pPr algn="l">
              <a:spcAft>
                <a:spcPts val="400"/>
              </a:spcAft>
            </a:pPr>
            <a:r>
              <a:rPr sz="1900" b="1" i="0">
                <a:solidFill>
                  <a:srgbClr val="1F2933"/>
                </a:solidFill>
                <a:latin typeface="Calibri"/>
              </a:rPr>
              <a:t>Reinforcement learning (stretch)</a:t>
            </a:r>
          </a:p>
        </p:txBody>
      </p:sp>
      <p:sp>
        <p:nvSpPr>
          <p:cNvPr id="21" name="Rounded Rectangle 20"/>
          <p:cNvSpPr/>
          <p:nvPr/>
        </p:nvSpPr>
        <p:spPr>
          <a:xfrm>
            <a:off x="10607040" y="6400800"/>
            <a:ext cx="7132320" cy="3291840"/>
          </a:xfrm>
          <a:prstGeom prst="roundRect">
            <a:avLst>
              <a:gd name="adj" fmla="val 8000"/>
            </a:avLst>
          </a:prstGeom>
          <a:solidFill>
            <a:srgbClr val="FFFFFF"/>
          </a:solidFill>
          <a:ln w="19050">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t" lIns="274320" rIns="274320" tIns="54864" bIns="54864" wrap="square">
            <a:noAutofit/>
          </a:bodyPr>
          <a:lstStyle/>
          <a:p>
            <a:pPr algn="l">
              <a:spcAft>
                <a:spcPts val="400"/>
              </a:spcAft>
            </a:pPr>
            <a:r>
              <a:rPr sz="2300" b="1" i="0">
                <a:solidFill>
                  <a:srgbClr val="7A1F2B"/>
                </a:solidFill>
                <a:latin typeface="Calibri"/>
              </a:rPr>
              <a:t>Ranked objectives</a:t>
            </a:r>
          </a:p>
          <a:p>
            <a:pPr algn="l">
              <a:spcAft>
                <a:spcPts val="1000"/>
              </a:spcAft>
            </a:pPr>
            <a:r>
              <a:rPr sz="2000" b="0" i="0">
                <a:solidFill>
                  <a:srgbClr val="1F2933"/>
                </a:solidFill>
                <a:latin typeface="Calibri"/>
              </a:rPr>
              <a:t>1. Critical loads always served  2. Keep an outage reserve  3. Lower cost  4. Fairness</a:t>
            </a:r>
          </a:p>
          <a:p>
            <a:pPr algn="l">
              <a:spcAft>
                <a:spcPts val="400"/>
              </a:spcAft>
            </a:pPr>
            <a:r>
              <a:rPr sz="2300" b="1" i="0">
                <a:solidFill>
                  <a:srgbClr val="7A1F2B"/>
                </a:solidFill>
                <a:latin typeface="Calibri"/>
              </a:rPr>
              <a:t>How we will measure it</a:t>
            </a:r>
          </a:p>
          <a:p>
            <a:pPr algn="l">
              <a:spcAft>
                <a:spcPts val="400"/>
              </a:spcAft>
            </a:pPr>
            <a:r>
              <a:rPr sz="2000" b="0" i="0">
                <a:solidFill>
                  <a:srgbClr val="1F2933"/>
                </a:solidFill>
                <a:latin typeface="Calibri"/>
              </a:rPr>
              <a:t>Cost saved, self-sufficiency, unserved critical energy (must be 0), fairness between houses. Trained and tested on digital-twin data first.</a:t>
            </a:r>
          </a:p>
        </p:txBody>
      </p:sp>
      <p:sp>
        <p:nvSpPr>
          <p:cNvPr id="22" name="TextBox 21"/>
          <p:cNvSpPr txBox="1"/>
          <p:nvPr/>
        </p:nvSpPr>
        <p:spPr>
          <a:xfrm>
            <a:off x="548640" y="9710928"/>
            <a:ext cx="17190720" cy="365760"/>
          </a:xfrm>
          <a:prstGeom prst="rect">
            <a:avLst/>
          </a:prstGeom>
          <a:noFill/>
        </p:spPr>
        <p:txBody>
          <a:bodyPr wrap="square" lIns="0" rIns="0" tIns="0" bIns="0" anchor="t">
            <a:noAutofit/>
          </a:bodyPr>
          <a:lstStyle/>
          <a:p>
            <a:pPr algn="l">
              <a:spcAft>
                <a:spcPts val="600"/>
              </a:spcAft>
            </a:pPr>
            <a:r>
              <a:rPr sz="1800" b="0" i="0">
                <a:solidFill>
                  <a:srgbClr val="4B5563"/>
                </a:solidFill>
                <a:latin typeface="Calibri"/>
              </a:rPr>
              <a:t>Status: planned. The simulation already exports the data format the manager will use.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8640" y="1325880"/>
            <a:ext cx="17190720" cy="868680"/>
          </a:xfrm>
          <a:prstGeom prst="rect">
            <a:avLst/>
          </a:prstGeom>
        </p:spPr>
        <p:txBody>
          <a:bodyPr lIns="0" tIns="0" rIns="0" bIns="0" rtlCol="0" anchor="t" wrap="square">
            <a:spAutoFit/>
          </a:bodyPr>
          <a:lstStyle/>
          <a:p>
            <a:pPr algn="l">
              <a:lnSpc>
                <a:spcPts val="7279"/>
              </a:lnSpc>
            </a:pPr>
            <a:r>
              <a:rPr lang="en-US" sz="4400" b="1">
                <a:solidFill>
                  <a:srgbClr val="000000"/>
                </a:solidFill>
                <a:latin typeface="Canva Sans Bold"/>
                <a:ea typeface="Canva Sans Bold"/>
                <a:cs typeface="Canva Sans Bold"/>
                <a:sym typeface="Canva Sans Bold"/>
              </a:rPr>
              <a:t>Technical approach: status &amp; build plan</a:t>
            </a:r>
          </a:p>
        </p:txBody>
      </p:sp>
      <p:grpSp>
        <p:nvGrpSpPr>
          <p:cNvPr id="3" name="Group 3"/>
          <p:cNvGrpSpPr/>
          <p:nvPr/>
        </p:nvGrpSpPr>
        <p:grpSpPr>
          <a:xfrm>
            <a:off x="535200" y="-81549"/>
            <a:ext cx="17503283" cy="1576346"/>
            <a:chOff x="0" y="0"/>
            <a:chExt cx="23337711" cy="2101794"/>
          </a:xfrm>
        </p:grpSpPr>
        <p:grpSp>
          <p:nvGrpSpPr>
            <p:cNvPr id="4" name="Group 4"/>
            <p:cNvGrpSpPr/>
            <p:nvPr/>
          </p:nvGrpSpPr>
          <p:grpSpPr>
            <a:xfrm>
              <a:off x="0" y="0"/>
              <a:ext cx="2390534" cy="2101794"/>
              <a:chOff x="0" y="0"/>
              <a:chExt cx="2451880" cy="2155730"/>
            </a:xfrm>
          </p:grpSpPr>
          <p:sp>
            <p:nvSpPr>
              <p:cNvPr id="5" name="Freeform 5"/>
              <p:cNvSpPr/>
              <p:nvPr/>
            </p:nvSpPr>
            <p:spPr>
              <a:xfrm>
                <a:off x="0" y="0"/>
                <a:ext cx="2451818" cy="2155743"/>
              </a:xfrm>
              <a:custGeom>
                <a:avLst/>
                <a:gdLst/>
                <a:ahLst/>
                <a:cxnLst/>
                <a:rect l="l" t="t" r="r" b="b"/>
                <a:pathLst>
                  <a:path w="2451818" h="2155743">
                    <a:moveTo>
                      <a:pt x="0" y="0"/>
                    </a:moveTo>
                    <a:lnTo>
                      <a:pt x="2451818" y="0"/>
                    </a:lnTo>
                    <a:lnTo>
                      <a:pt x="2451818" y="2155743"/>
                    </a:lnTo>
                    <a:lnTo>
                      <a:pt x="0" y="2155743"/>
                    </a:lnTo>
                    <a:lnTo>
                      <a:pt x="0" y="0"/>
                    </a:lnTo>
                    <a:close/>
                  </a:path>
                </a:pathLst>
              </a:custGeom>
              <a:blipFill>
                <a:blip r:embed="rId2"/>
                <a:stretch>
                  <a:fillRect l="-43229" r="-67848" b="-8030"/>
                </a:stretch>
              </a:blipFill>
            </p:spPr>
          </p:sp>
        </p:grpSp>
        <p:grpSp>
          <p:nvGrpSpPr>
            <p:cNvPr id="6" name="Group 6"/>
            <p:cNvGrpSpPr/>
            <p:nvPr/>
          </p:nvGrpSpPr>
          <p:grpSpPr>
            <a:xfrm>
              <a:off x="18545475" y="247188"/>
              <a:ext cx="1586845" cy="1627422"/>
              <a:chOff x="0" y="0"/>
              <a:chExt cx="1808366" cy="1854606"/>
            </a:xfrm>
          </p:grpSpPr>
          <p:sp>
            <p:nvSpPr>
              <p:cNvPr id="7" name="Freeform 7"/>
              <p:cNvSpPr/>
              <p:nvPr/>
            </p:nvSpPr>
            <p:spPr>
              <a:xfrm>
                <a:off x="0" y="0"/>
                <a:ext cx="1808353" cy="1854581"/>
              </a:xfrm>
              <a:custGeom>
                <a:avLst/>
                <a:gdLst/>
                <a:ahLst/>
                <a:cxnLst/>
                <a:rect l="l" t="t" r="r" b="b"/>
                <a:pathLst>
                  <a:path w="1808353" h="1854581">
                    <a:moveTo>
                      <a:pt x="0" y="0"/>
                    </a:moveTo>
                    <a:lnTo>
                      <a:pt x="1808353" y="0"/>
                    </a:lnTo>
                    <a:lnTo>
                      <a:pt x="1808353" y="1854581"/>
                    </a:lnTo>
                    <a:lnTo>
                      <a:pt x="0" y="1854581"/>
                    </a:lnTo>
                    <a:lnTo>
                      <a:pt x="0" y="0"/>
                    </a:lnTo>
                    <a:close/>
                  </a:path>
                </a:pathLst>
              </a:custGeom>
              <a:blipFill>
                <a:blip r:embed="rId3"/>
                <a:stretch>
                  <a:fillRect l="-63953" r="-63953" b="-1"/>
                </a:stretch>
              </a:blipFill>
            </p:spPr>
          </p:sp>
        </p:grpSp>
        <p:grpSp>
          <p:nvGrpSpPr>
            <p:cNvPr id="8" name="Group 8"/>
            <p:cNvGrpSpPr/>
            <p:nvPr/>
          </p:nvGrpSpPr>
          <p:grpSpPr>
            <a:xfrm>
              <a:off x="20344893" y="291523"/>
              <a:ext cx="2992818" cy="1380820"/>
              <a:chOff x="0" y="0"/>
              <a:chExt cx="2992818" cy="1380820"/>
            </a:xfrm>
          </p:grpSpPr>
          <p:sp>
            <p:nvSpPr>
              <p:cNvPr id="9" name="Freeform 9"/>
              <p:cNvSpPr/>
              <p:nvPr/>
            </p:nvSpPr>
            <p:spPr>
              <a:xfrm>
                <a:off x="0" y="0"/>
                <a:ext cx="2992882" cy="1380871"/>
              </a:xfrm>
              <a:custGeom>
                <a:avLst/>
                <a:gdLst/>
                <a:ahLst/>
                <a:cxnLst/>
                <a:rect l="l" t="t" r="r" b="b"/>
                <a:pathLst>
                  <a:path w="2992882" h="1380871">
                    <a:moveTo>
                      <a:pt x="0" y="0"/>
                    </a:moveTo>
                    <a:lnTo>
                      <a:pt x="2992882" y="0"/>
                    </a:lnTo>
                    <a:lnTo>
                      <a:pt x="2992882" y="1380871"/>
                    </a:lnTo>
                    <a:lnTo>
                      <a:pt x="0" y="1380871"/>
                    </a:lnTo>
                    <a:lnTo>
                      <a:pt x="0" y="0"/>
                    </a:lnTo>
                    <a:close/>
                  </a:path>
                </a:pathLst>
              </a:custGeom>
              <a:blipFill>
                <a:blip r:embed="rId4"/>
                <a:stretch>
                  <a:fillRect l="-1264" r="-1261" b="3"/>
                </a:stretch>
              </a:blipFill>
            </p:spPr>
          </p:sp>
        </p:grpSp>
        <p:sp>
          <p:nvSpPr>
            <p:cNvPr id="10" name="TextBox 10"/>
            <p:cNvSpPr txBox="1"/>
            <p:nvPr/>
          </p:nvSpPr>
          <p:spPr>
            <a:xfrm>
              <a:off x="3986137" y="60414"/>
              <a:ext cx="14984527" cy="1814195"/>
            </a:xfrm>
            <a:prstGeom prst="rect">
              <a:avLst/>
            </a:prstGeom>
          </p:spPr>
          <p:txBody>
            <a:bodyPr lIns="0" tIns="0" rIns="0" bIns="0" rtlCol="0" anchor="t">
              <a:spAutoFit/>
            </a:bodyPr>
            <a:lstStyle/>
            <a:p>
              <a:pPr algn="ctr">
                <a:lnSpc>
                  <a:spcPts val="6160"/>
                </a:lnSpc>
              </a:pPr>
              <a:r>
                <a:rPr lang="en-US" sz="4400">
                  <a:solidFill>
                    <a:srgbClr val="692B39"/>
                  </a:solidFill>
                  <a:latin typeface="Times New Roman"/>
                  <a:ea typeface="Times New Roman"/>
                  <a:cs typeface="Times New Roman"/>
                  <a:sym typeface="Times New Roman"/>
                </a:rPr>
                <a:t>Walchand College of Engineering, Sangli</a:t>
              </a:r>
            </a:p>
            <a:p>
              <a:pPr algn="ctr">
                <a:lnSpc>
                  <a:spcPts val="4759"/>
                </a:lnSpc>
              </a:pPr>
              <a:r>
                <a:rPr lang="en-US" sz="3399">
                  <a:solidFill>
                    <a:srgbClr val="692B39"/>
                  </a:solidFill>
                  <a:latin typeface="Times New Roman"/>
                  <a:ea typeface="Times New Roman"/>
                  <a:cs typeface="Times New Roman"/>
                  <a:sym typeface="Times New Roman"/>
                </a:rPr>
                <a:t>A Goverment-Aided Autonomous Institute</a:t>
              </a:r>
            </a:p>
          </p:txBody>
        </p:sp>
      </p:grpSp>
      <p:sp>
        <p:nvSpPr>
          <p:cNvPr id="11" name="Rounded Rectangle 10"/>
          <p:cNvSpPr/>
          <p:nvPr/>
        </p:nvSpPr>
        <p:spPr>
          <a:xfrm>
            <a:off x="548640" y="2468880"/>
            <a:ext cx="8229600" cy="3657600"/>
          </a:xfrm>
          <a:prstGeom prst="roundRect">
            <a:avLst>
              <a:gd name="adj" fmla="val 8000"/>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t" lIns="274320" rIns="274320" tIns="54864" bIns="54864" wrap="square">
            <a:noAutofit/>
          </a:bodyPr>
          <a:lstStyle/>
          <a:p>
            <a:pPr algn="l">
              <a:spcAft>
                <a:spcPts val="600"/>
              </a:spcAft>
            </a:pPr>
            <a:r>
              <a:rPr sz="2600" b="1" i="0">
                <a:solidFill>
                  <a:srgbClr val="15803D"/>
                </a:solidFill>
                <a:latin typeface="Calibri"/>
              </a:rPr>
              <a:t>Verified in simulation</a:t>
            </a:r>
          </a:p>
          <a:p>
            <a:pPr algn="l" marL="274320" indent="-228600">
              <a:spcAft>
                <a:spcPts val="400"/>
              </a:spcAft>
              <a:buChar char="•"/>
            </a:pPr>
            <a:r>
              <a:rPr sz="2100" b="0" i="0">
                <a:solidFill>
                  <a:srgbClr val="1F2933"/>
                </a:solidFill>
                <a:latin typeface="Calibri"/>
              </a:rPr>
              <a:t>Unit tests 5/5, incl. adding a 4th house with no code change</a:t>
            </a:r>
          </a:p>
          <a:p>
            <a:pPr algn="l" marL="274320" indent="-228600">
              <a:spcAft>
                <a:spcPts val="400"/>
              </a:spcAft>
              <a:buChar char="•"/>
            </a:pPr>
            <a:r>
              <a:rPr sz="2100" b="0" i="0">
                <a:solidFill>
                  <a:srgbClr val="1F2933"/>
                </a:solidFill>
                <a:latin typeface="Calibri"/>
              </a:rPr>
              <a:t>Scenarios 8/8 and Monte Carlo 40/40</a:t>
            </a:r>
          </a:p>
          <a:p>
            <a:pPr algn="l" marL="274320" indent="-228600">
              <a:spcAft>
                <a:spcPts val="400"/>
              </a:spcAft>
              <a:buChar char="•"/>
            </a:pPr>
            <a:r>
              <a:rPr sz="2100" b="0" i="0">
                <a:solidFill>
                  <a:srgbClr val="1F2933"/>
                </a:solidFill>
                <a:latin typeface="Calibri"/>
              </a:rPr>
              <a:t>Firmware logic = model (0 mismatches)</a:t>
            </a:r>
          </a:p>
          <a:p>
            <a:pPr algn="l" marL="274320" indent="-228600">
              <a:spcAft>
                <a:spcPts val="400"/>
              </a:spcAft>
              <a:buChar char="•"/>
            </a:pPr>
            <a:r>
              <a:rPr sz="2100" b="0" i="0">
                <a:solidFill>
                  <a:srgbClr val="1F2933"/>
                </a:solidFill>
                <a:latin typeface="Calibri"/>
              </a:rPr>
              <a:t>MATLAB ↔ ESP32 serial link tested on a real board</a:t>
            </a:r>
          </a:p>
        </p:txBody>
      </p:sp>
      <p:sp>
        <p:nvSpPr>
          <p:cNvPr id="12" name="Rounded Rectangle 11"/>
          <p:cNvSpPr/>
          <p:nvPr/>
        </p:nvSpPr>
        <p:spPr>
          <a:xfrm>
            <a:off x="548640" y="6355080"/>
            <a:ext cx="8229600" cy="3337560"/>
          </a:xfrm>
          <a:prstGeom prst="roundRect">
            <a:avLst>
              <a:gd name="adj" fmla="val 8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t" lIns="274320" rIns="274320" tIns="54864" bIns="54864" wrap="square">
            <a:noAutofit/>
          </a:bodyPr>
          <a:lstStyle/>
          <a:p>
            <a:pPr algn="l">
              <a:spcAft>
                <a:spcPts val="600"/>
              </a:spcAft>
            </a:pPr>
            <a:r>
              <a:rPr sz="2600" b="1" i="0">
                <a:solidFill>
                  <a:srgbClr val="B45309"/>
                </a:solidFill>
                <a:latin typeface="Calibri"/>
              </a:rPr>
              <a:t>Not yet verified</a:t>
            </a:r>
          </a:p>
          <a:p>
            <a:pPr algn="l" marL="274320" indent="-228600">
              <a:spcAft>
                <a:spcPts val="400"/>
              </a:spcAft>
              <a:buChar char="•"/>
            </a:pPr>
            <a:r>
              <a:rPr sz="2100" b="0" i="0">
                <a:solidFill>
                  <a:srgbClr val="1F2933"/>
                </a:solidFill>
                <a:latin typeface="Calibri"/>
              </a:rPr>
              <a:t>Full firmware build and flash on the ESP32</a:t>
            </a:r>
          </a:p>
          <a:p>
            <a:pPr algn="l" marL="274320" indent="-228600">
              <a:spcAft>
                <a:spcPts val="400"/>
              </a:spcAft>
              <a:buChar char="•"/>
            </a:pPr>
            <a:r>
              <a:rPr sz="2100" b="0" i="0">
                <a:solidFill>
                  <a:srgbClr val="1F2933"/>
                </a:solidFill>
                <a:latin typeface="Calibri"/>
              </a:rPr>
              <a:t>Bench values for battery, panel and SMPS (now assumed)</a:t>
            </a:r>
          </a:p>
          <a:p>
            <a:pPr algn="l" marL="274320" indent="-228600">
              <a:spcAft>
                <a:spcPts val="400"/>
              </a:spcAft>
              <a:buChar char="•"/>
            </a:pPr>
            <a:r>
              <a:rPr sz="2100" b="0" i="0">
                <a:solidFill>
                  <a:srgbClr val="1F2933"/>
                </a:solidFill>
                <a:latin typeface="Calibri"/>
              </a:rPr>
              <a:t>Wi-Fi/MQTT to the Pi, dashboard, AI manager</a:t>
            </a:r>
          </a:p>
          <a:p>
            <a:pPr algn="l" marL="274320" indent="-228600">
              <a:spcAft>
                <a:spcPts val="400"/>
              </a:spcAft>
              <a:buChar char="•"/>
            </a:pPr>
            <a:r>
              <a:rPr sz="2100" b="0" i="0">
                <a:solidFill>
                  <a:srgbClr val="1F2933"/>
                </a:solidFill>
                <a:latin typeface="Calibri"/>
              </a:rPr>
              <a:t>Stuck-relay and frozen-sensor faults</a:t>
            </a:r>
          </a:p>
        </p:txBody>
      </p:sp>
      <p:sp>
        <p:nvSpPr>
          <p:cNvPr id="13" name="TextBox 12"/>
          <p:cNvSpPr txBox="1"/>
          <p:nvPr/>
        </p:nvSpPr>
        <p:spPr>
          <a:xfrm>
            <a:off x="9418320" y="2423160"/>
            <a:ext cx="8321040" cy="548640"/>
          </a:xfrm>
          <a:prstGeom prst="rect">
            <a:avLst/>
          </a:prstGeom>
          <a:noFill/>
        </p:spPr>
        <p:txBody>
          <a:bodyPr wrap="square" lIns="0" rIns="0" tIns="0" bIns="0" anchor="t">
            <a:noAutofit/>
          </a:bodyPr>
          <a:lstStyle/>
          <a:p>
            <a:pPr algn="l">
              <a:spcAft>
                <a:spcPts val="600"/>
              </a:spcAft>
            </a:pPr>
            <a:r>
              <a:rPr sz="2600" b="1" i="0">
                <a:solidFill>
                  <a:srgbClr val="7A1F2B"/>
                </a:solidFill>
                <a:latin typeface="Calibri"/>
              </a:rPr>
              <a:t>Build plan, one block at a time</a:t>
            </a:r>
          </a:p>
        </p:txBody>
      </p:sp>
      <p:sp>
        <p:nvSpPr>
          <p:cNvPr id="14" name="Oval 13"/>
          <p:cNvSpPr/>
          <p:nvPr/>
        </p:nvSpPr>
        <p:spPr>
          <a:xfrm>
            <a:off x="9418320" y="3246120"/>
            <a:ext cx="731520" cy="73152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54864" bIns="54864" wrap="square">
            <a:noAutofit/>
          </a:bodyPr>
          <a:lstStyle/>
          <a:p>
            <a:pPr algn="ctr">
              <a:spcAft>
                <a:spcPts val="400"/>
              </a:spcAft>
            </a:pPr>
            <a:r>
              <a:rPr sz="2300" b="1" i="0">
                <a:solidFill>
                  <a:srgbClr val="FFFFFF"/>
                </a:solidFill>
                <a:latin typeface="Calibri"/>
              </a:rPr>
              <a:t>1</a:t>
            </a:r>
          </a:p>
        </p:txBody>
      </p:sp>
      <p:cxnSp>
        <p:nvCxnSpPr>
          <p:cNvPr id="15" name="Connector 14"/>
          <p:cNvCxnSpPr/>
          <p:nvPr/>
        </p:nvCxnSpPr>
        <p:spPr>
          <a:xfrm>
            <a:off x="9784080" y="3977639"/>
            <a:ext cx="0" cy="594361"/>
          </a:xfrm>
          <a:prstGeom prst="line">
            <a:avLst/>
          </a:prstGeom>
          <a:ln w="25400">
            <a:solidFill>
              <a:srgbClr val="D1D5D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0424160" y="3182112"/>
            <a:ext cx="7315200" cy="1097280"/>
          </a:xfrm>
          <a:prstGeom prst="rect">
            <a:avLst/>
          </a:prstGeom>
          <a:noFill/>
        </p:spPr>
        <p:txBody>
          <a:bodyPr wrap="square" lIns="0" rIns="0" tIns="0" bIns="0" anchor="t">
            <a:noAutofit/>
          </a:bodyPr>
          <a:lstStyle/>
          <a:p>
            <a:pPr algn="l">
              <a:spcAft>
                <a:spcPts val="0"/>
              </a:spcAft>
            </a:pPr>
            <a:r>
              <a:rPr sz="2300" b="1" i="0">
                <a:solidFill>
                  <a:srgbClr val="1F2933"/>
                </a:solidFill>
                <a:latin typeface="Calibri"/>
              </a:rPr>
              <a:t>MATLAB plant ↔ real ESP32 over USB</a:t>
            </a:r>
          </a:p>
          <a:p>
            <a:pPr algn="l">
              <a:spcAft>
                <a:spcPts val="600"/>
              </a:spcAft>
            </a:pPr>
            <a:r>
              <a:rPr sz="2000" b="0" i="0">
                <a:solidFill>
                  <a:srgbClr val="4B5563"/>
                </a:solidFill>
                <a:latin typeface="Calibri"/>
              </a:rPr>
              <a:t>hardware-in-the-loop</a:t>
            </a:r>
          </a:p>
        </p:txBody>
      </p:sp>
      <p:sp>
        <p:nvSpPr>
          <p:cNvPr id="17" name="Oval 16"/>
          <p:cNvSpPr/>
          <p:nvPr/>
        </p:nvSpPr>
        <p:spPr>
          <a:xfrm>
            <a:off x="9418320" y="4572000"/>
            <a:ext cx="731520" cy="73152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54864" bIns="54864" wrap="square">
            <a:noAutofit/>
          </a:bodyPr>
          <a:lstStyle/>
          <a:p>
            <a:pPr algn="ctr">
              <a:spcAft>
                <a:spcPts val="400"/>
              </a:spcAft>
            </a:pPr>
            <a:r>
              <a:rPr sz="2300" b="1" i="0">
                <a:solidFill>
                  <a:srgbClr val="FFFFFF"/>
                </a:solidFill>
                <a:latin typeface="Calibri"/>
              </a:rPr>
              <a:t>2</a:t>
            </a:r>
          </a:p>
        </p:txBody>
      </p:sp>
      <p:cxnSp>
        <p:nvCxnSpPr>
          <p:cNvPr id="18" name="Connector 17"/>
          <p:cNvCxnSpPr/>
          <p:nvPr/>
        </p:nvCxnSpPr>
        <p:spPr>
          <a:xfrm>
            <a:off x="9784080" y="5303520"/>
            <a:ext cx="0" cy="594359"/>
          </a:xfrm>
          <a:prstGeom prst="line">
            <a:avLst/>
          </a:prstGeom>
          <a:ln w="25400">
            <a:solidFill>
              <a:srgbClr val="D1D5DB"/>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10424160" y="4507992"/>
            <a:ext cx="7315200" cy="1097280"/>
          </a:xfrm>
          <a:prstGeom prst="rect">
            <a:avLst/>
          </a:prstGeom>
          <a:noFill/>
        </p:spPr>
        <p:txBody>
          <a:bodyPr wrap="square" lIns="0" rIns="0" tIns="0" bIns="0" anchor="t">
            <a:noAutofit/>
          </a:bodyPr>
          <a:lstStyle/>
          <a:p>
            <a:pPr algn="l">
              <a:spcAft>
                <a:spcPts val="0"/>
              </a:spcAft>
            </a:pPr>
            <a:r>
              <a:rPr sz="2300" b="1" i="0">
                <a:solidFill>
                  <a:srgbClr val="1F2933"/>
                </a:solidFill>
                <a:latin typeface="Calibri"/>
              </a:rPr>
              <a:t>One real house</a:t>
            </a:r>
          </a:p>
          <a:p>
            <a:pPr algn="l">
              <a:spcAft>
                <a:spcPts val="600"/>
              </a:spcAft>
            </a:pPr>
            <a:r>
              <a:rPr sz="2000" b="0" i="0">
                <a:solidFill>
                  <a:srgbClr val="4B5563"/>
                </a:solidFill>
                <a:latin typeface="Calibri"/>
              </a:rPr>
              <a:t>INA219 + relay + RFID meter</a:t>
            </a:r>
          </a:p>
        </p:txBody>
      </p:sp>
      <p:sp>
        <p:nvSpPr>
          <p:cNvPr id="20" name="Oval 19"/>
          <p:cNvSpPr/>
          <p:nvPr/>
        </p:nvSpPr>
        <p:spPr>
          <a:xfrm>
            <a:off x="9418320" y="5897880"/>
            <a:ext cx="731520" cy="73152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54864" bIns="54864" wrap="square">
            <a:noAutofit/>
          </a:bodyPr>
          <a:lstStyle/>
          <a:p>
            <a:pPr algn="ctr">
              <a:spcAft>
                <a:spcPts val="400"/>
              </a:spcAft>
            </a:pPr>
            <a:r>
              <a:rPr sz="2300" b="1" i="0">
                <a:solidFill>
                  <a:srgbClr val="FFFFFF"/>
                </a:solidFill>
                <a:latin typeface="Calibri"/>
              </a:rPr>
              <a:t>3</a:t>
            </a:r>
          </a:p>
        </p:txBody>
      </p:sp>
      <p:cxnSp>
        <p:nvCxnSpPr>
          <p:cNvPr id="21" name="Connector 20"/>
          <p:cNvCxnSpPr/>
          <p:nvPr/>
        </p:nvCxnSpPr>
        <p:spPr>
          <a:xfrm>
            <a:off x="9784080" y="6629400"/>
            <a:ext cx="0" cy="594360"/>
          </a:xfrm>
          <a:prstGeom prst="line">
            <a:avLst/>
          </a:prstGeom>
          <a:ln w="25400">
            <a:solidFill>
              <a:srgbClr val="D1D5DB"/>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0424160" y="5833872"/>
            <a:ext cx="7315200" cy="1097280"/>
          </a:xfrm>
          <a:prstGeom prst="rect">
            <a:avLst/>
          </a:prstGeom>
          <a:noFill/>
        </p:spPr>
        <p:txBody>
          <a:bodyPr wrap="square" lIns="0" rIns="0" tIns="0" bIns="0" anchor="t">
            <a:noAutofit/>
          </a:bodyPr>
          <a:lstStyle/>
          <a:p>
            <a:pPr algn="l">
              <a:spcAft>
                <a:spcPts val="0"/>
              </a:spcAft>
            </a:pPr>
            <a:r>
              <a:rPr sz="2300" b="1" i="0">
                <a:solidFill>
                  <a:srgbClr val="1F2933"/>
                </a:solidFill>
                <a:latin typeface="Calibri"/>
              </a:rPr>
              <a:t>Battery + grid switch</a:t>
            </a:r>
          </a:p>
          <a:p>
            <a:pPr algn="l">
              <a:spcAft>
                <a:spcPts val="600"/>
              </a:spcAft>
            </a:pPr>
            <a:r>
              <a:rPr sz="2000" b="0" i="0">
                <a:solidFill>
                  <a:srgbClr val="4B5563"/>
                </a:solidFill>
                <a:latin typeface="Calibri"/>
              </a:rPr>
              <a:t>real islanding on the bench</a:t>
            </a:r>
          </a:p>
        </p:txBody>
      </p:sp>
      <p:sp>
        <p:nvSpPr>
          <p:cNvPr id="23" name="Oval 22"/>
          <p:cNvSpPr/>
          <p:nvPr/>
        </p:nvSpPr>
        <p:spPr>
          <a:xfrm>
            <a:off x="9418320" y="7223760"/>
            <a:ext cx="731520" cy="73152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54864" bIns="54864" wrap="square">
            <a:noAutofit/>
          </a:bodyPr>
          <a:lstStyle/>
          <a:p>
            <a:pPr algn="ctr">
              <a:spcAft>
                <a:spcPts val="400"/>
              </a:spcAft>
            </a:pPr>
            <a:r>
              <a:rPr sz="2300" b="1" i="0">
                <a:solidFill>
                  <a:srgbClr val="FFFFFF"/>
                </a:solidFill>
                <a:latin typeface="Calibri"/>
              </a:rPr>
              <a:t>4</a:t>
            </a:r>
          </a:p>
        </p:txBody>
      </p:sp>
      <p:cxnSp>
        <p:nvCxnSpPr>
          <p:cNvPr id="24" name="Connector 23"/>
          <p:cNvCxnSpPr/>
          <p:nvPr/>
        </p:nvCxnSpPr>
        <p:spPr>
          <a:xfrm>
            <a:off x="9784080" y="7955279"/>
            <a:ext cx="0" cy="594361"/>
          </a:xfrm>
          <a:prstGeom prst="line">
            <a:avLst/>
          </a:prstGeom>
          <a:ln w="25400">
            <a:solidFill>
              <a:srgbClr val="D1D5DB"/>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0424160" y="7159752"/>
            <a:ext cx="7315200" cy="1097280"/>
          </a:xfrm>
          <a:prstGeom prst="rect">
            <a:avLst/>
          </a:prstGeom>
          <a:noFill/>
        </p:spPr>
        <p:txBody>
          <a:bodyPr wrap="square" lIns="0" rIns="0" tIns="0" bIns="0" anchor="t">
            <a:noAutofit/>
          </a:bodyPr>
          <a:lstStyle/>
          <a:p>
            <a:pPr algn="l">
              <a:spcAft>
                <a:spcPts val="0"/>
              </a:spcAft>
            </a:pPr>
            <a:r>
              <a:rPr sz="2300" b="1" i="0">
                <a:solidFill>
                  <a:srgbClr val="1F2933"/>
                </a:solidFill>
                <a:latin typeface="Calibri"/>
              </a:rPr>
              <a:t>Raspberry Pi</a:t>
            </a:r>
          </a:p>
          <a:p>
            <a:pPr algn="l">
              <a:spcAft>
                <a:spcPts val="600"/>
              </a:spcAft>
            </a:pPr>
            <a:r>
              <a:rPr sz="2000" b="0" i="0">
                <a:solidFill>
                  <a:srgbClr val="4B5563"/>
                </a:solidFill>
                <a:latin typeface="Calibri"/>
              </a:rPr>
              <a:t>MQTT, ledger, dashboard</a:t>
            </a:r>
          </a:p>
        </p:txBody>
      </p:sp>
      <p:sp>
        <p:nvSpPr>
          <p:cNvPr id="26" name="Oval 25"/>
          <p:cNvSpPr/>
          <p:nvPr/>
        </p:nvSpPr>
        <p:spPr>
          <a:xfrm>
            <a:off x="9418320" y="8549640"/>
            <a:ext cx="731520" cy="73152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54864" bIns="54864" wrap="square">
            <a:noAutofit/>
          </a:bodyPr>
          <a:lstStyle/>
          <a:p>
            <a:pPr algn="ctr">
              <a:spcAft>
                <a:spcPts val="400"/>
              </a:spcAft>
            </a:pPr>
            <a:r>
              <a:rPr sz="2300" b="1" i="0">
                <a:solidFill>
                  <a:srgbClr val="FFFFFF"/>
                </a:solidFill>
                <a:latin typeface="Calibri"/>
              </a:rPr>
              <a:t>5</a:t>
            </a:r>
          </a:p>
        </p:txBody>
      </p:sp>
      <p:sp>
        <p:nvSpPr>
          <p:cNvPr id="27" name="TextBox 26"/>
          <p:cNvSpPr txBox="1"/>
          <p:nvPr/>
        </p:nvSpPr>
        <p:spPr>
          <a:xfrm>
            <a:off x="10424160" y="8485632"/>
            <a:ext cx="7315200" cy="1097280"/>
          </a:xfrm>
          <a:prstGeom prst="rect">
            <a:avLst/>
          </a:prstGeom>
          <a:noFill/>
        </p:spPr>
        <p:txBody>
          <a:bodyPr wrap="square" lIns="0" rIns="0" tIns="0" bIns="0" anchor="t">
            <a:noAutofit/>
          </a:bodyPr>
          <a:lstStyle/>
          <a:p>
            <a:pPr algn="l">
              <a:spcAft>
                <a:spcPts val="0"/>
              </a:spcAft>
            </a:pPr>
            <a:r>
              <a:rPr sz="2300" b="1" i="0">
                <a:solidFill>
                  <a:srgbClr val="1F2933"/>
                </a:solidFill>
                <a:latin typeface="Calibri"/>
              </a:rPr>
              <a:t>AI baseline</a:t>
            </a:r>
          </a:p>
          <a:p>
            <a:pPr algn="l">
              <a:spcAft>
                <a:spcPts val="600"/>
              </a:spcAft>
            </a:pPr>
            <a:r>
              <a:rPr sz="2000" b="0" i="0">
                <a:solidFill>
                  <a:srgbClr val="4B5563"/>
                </a:solidFill>
                <a:latin typeface="Calibri"/>
              </a:rPr>
              <a:t>rule-based manager on live data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8640" y="1325880"/>
            <a:ext cx="17190720" cy="868680"/>
          </a:xfrm>
          <a:prstGeom prst="rect">
            <a:avLst/>
          </a:prstGeom>
        </p:spPr>
        <p:txBody>
          <a:bodyPr lIns="0" tIns="0" rIns="0" bIns="0" rtlCol="0" anchor="t" wrap="square">
            <a:spAutoFit/>
          </a:bodyPr>
          <a:lstStyle/>
          <a:p>
            <a:pPr algn="l">
              <a:lnSpc>
                <a:spcPts val="7279"/>
              </a:lnSpc>
            </a:pPr>
            <a:r>
              <a:rPr lang="en-US" sz="4400" b="1">
                <a:solidFill>
                  <a:srgbClr val="000000"/>
                </a:solidFill>
                <a:latin typeface="Canva Sans Bold"/>
                <a:ea typeface="Canva Sans Bold"/>
                <a:cs typeface="Canva Sans Bold"/>
                <a:sym typeface="Canva Sans Bold"/>
              </a:rPr>
              <a:t>Impact and benefits:</a:t>
            </a:r>
          </a:p>
        </p:txBody>
      </p:sp>
      <p:grpSp>
        <p:nvGrpSpPr>
          <p:cNvPr id="3" name="Group 3"/>
          <p:cNvGrpSpPr/>
          <p:nvPr/>
        </p:nvGrpSpPr>
        <p:grpSpPr>
          <a:xfrm>
            <a:off x="535200" y="-81549"/>
            <a:ext cx="17503283" cy="1576346"/>
            <a:chOff x="0" y="0"/>
            <a:chExt cx="23337711" cy="2101794"/>
          </a:xfrm>
        </p:grpSpPr>
        <p:grpSp>
          <p:nvGrpSpPr>
            <p:cNvPr id="4" name="Group 4"/>
            <p:cNvGrpSpPr/>
            <p:nvPr/>
          </p:nvGrpSpPr>
          <p:grpSpPr>
            <a:xfrm>
              <a:off x="0" y="0"/>
              <a:ext cx="2390534" cy="2101794"/>
              <a:chOff x="0" y="0"/>
              <a:chExt cx="2451880" cy="2155730"/>
            </a:xfrm>
          </p:grpSpPr>
          <p:sp>
            <p:nvSpPr>
              <p:cNvPr id="5" name="Freeform 5"/>
              <p:cNvSpPr/>
              <p:nvPr/>
            </p:nvSpPr>
            <p:spPr>
              <a:xfrm>
                <a:off x="0" y="0"/>
                <a:ext cx="2451818" cy="2155743"/>
              </a:xfrm>
              <a:custGeom>
                <a:avLst/>
                <a:gdLst/>
                <a:ahLst/>
                <a:cxnLst/>
                <a:rect l="l" t="t" r="r" b="b"/>
                <a:pathLst>
                  <a:path w="2451818" h="2155743">
                    <a:moveTo>
                      <a:pt x="0" y="0"/>
                    </a:moveTo>
                    <a:lnTo>
                      <a:pt x="2451818" y="0"/>
                    </a:lnTo>
                    <a:lnTo>
                      <a:pt x="2451818" y="2155743"/>
                    </a:lnTo>
                    <a:lnTo>
                      <a:pt x="0" y="2155743"/>
                    </a:lnTo>
                    <a:lnTo>
                      <a:pt x="0" y="0"/>
                    </a:lnTo>
                    <a:close/>
                  </a:path>
                </a:pathLst>
              </a:custGeom>
              <a:blipFill>
                <a:blip r:embed="rId2"/>
                <a:stretch>
                  <a:fillRect l="-43229" r="-67848" b="-8030"/>
                </a:stretch>
              </a:blipFill>
            </p:spPr>
          </p:sp>
        </p:grpSp>
        <p:grpSp>
          <p:nvGrpSpPr>
            <p:cNvPr id="6" name="Group 6"/>
            <p:cNvGrpSpPr/>
            <p:nvPr/>
          </p:nvGrpSpPr>
          <p:grpSpPr>
            <a:xfrm>
              <a:off x="18545475" y="247188"/>
              <a:ext cx="1586845" cy="1627422"/>
              <a:chOff x="0" y="0"/>
              <a:chExt cx="1808366" cy="1854606"/>
            </a:xfrm>
          </p:grpSpPr>
          <p:sp>
            <p:nvSpPr>
              <p:cNvPr id="7" name="Freeform 7"/>
              <p:cNvSpPr/>
              <p:nvPr/>
            </p:nvSpPr>
            <p:spPr>
              <a:xfrm>
                <a:off x="0" y="0"/>
                <a:ext cx="1808353" cy="1854581"/>
              </a:xfrm>
              <a:custGeom>
                <a:avLst/>
                <a:gdLst/>
                <a:ahLst/>
                <a:cxnLst/>
                <a:rect l="l" t="t" r="r" b="b"/>
                <a:pathLst>
                  <a:path w="1808353" h="1854581">
                    <a:moveTo>
                      <a:pt x="0" y="0"/>
                    </a:moveTo>
                    <a:lnTo>
                      <a:pt x="1808353" y="0"/>
                    </a:lnTo>
                    <a:lnTo>
                      <a:pt x="1808353" y="1854581"/>
                    </a:lnTo>
                    <a:lnTo>
                      <a:pt x="0" y="1854581"/>
                    </a:lnTo>
                    <a:lnTo>
                      <a:pt x="0" y="0"/>
                    </a:lnTo>
                    <a:close/>
                  </a:path>
                </a:pathLst>
              </a:custGeom>
              <a:blipFill>
                <a:blip r:embed="rId3"/>
                <a:stretch>
                  <a:fillRect l="-63953" r="-63953" b="-1"/>
                </a:stretch>
              </a:blipFill>
            </p:spPr>
          </p:sp>
        </p:grpSp>
        <p:grpSp>
          <p:nvGrpSpPr>
            <p:cNvPr id="8" name="Group 8"/>
            <p:cNvGrpSpPr/>
            <p:nvPr/>
          </p:nvGrpSpPr>
          <p:grpSpPr>
            <a:xfrm>
              <a:off x="20344893" y="291523"/>
              <a:ext cx="2992818" cy="1380820"/>
              <a:chOff x="0" y="0"/>
              <a:chExt cx="2992818" cy="1380820"/>
            </a:xfrm>
          </p:grpSpPr>
          <p:sp>
            <p:nvSpPr>
              <p:cNvPr id="9" name="Freeform 9"/>
              <p:cNvSpPr/>
              <p:nvPr/>
            </p:nvSpPr>
            <p:spPr>
              <a:xfrm>
                <a:off x="0" y="0"/>
                <a:ext cx="2992882" cy="1380871"/>
              </a:xfrm>
              <a:custGeom>
                <a:avLst/>
                <a:gdLst/>
                <a:ahLst/>
                <a:cxnLst/>
                <a:rect l="l" t="t" r="r" b="b"/>
                <a:pathLst>
                  <a:path w="2992882" h="1380871">
                    <a:moveTo>
                      <a:pt x="0" y="0"/>
                    </a:moveTo>
                    <a:lnTo>
                      <a:pt x="2992882" y="0"/>
                    </a:lnTo>
                    <a:lnTo>
                      <a:pt x="2992882" y="1380871"/>
                    </a:lnTo>
                    <a:lnTo>
                      <a:pt x="0" y="1380871"/>
                    </a:lnTo>
                    <a:lnTo>
                      <a:pt x="0" y="0"/>
                    </a:lnTo>
                    <a:close/>
                  </a:path>
                </a:pathLst>
              </a:custGeom>
              <a:blipFill>
                <a:blip r:embed="rId4"/>
                <a:stretch>
                  <a:fillRect l="-1264" r="-1261" b="3"/>
                </a:stretch>
              </a:blipFill>
            </p:spPr>
          </p:sp>
        </p:grpSp>
        <p:sp>
          <p:nvSpPr>
            <p:cNvPr id="10" name="TextBox 10"/>
            <p:cNvSpPr txBox="1"/>
            <p:nvPr/>
          </p:nvSpPr>
          <p:spPr>
            <a:xfrm>
              <a:off x="3986137" y="60414"/>
              <a:ext cx="14984527" cy="1814195"/>
            </a:xfrm>
            <a:prstGeom prst="rect">
              <a:avLst/>
            </a:prstGeom>
          </p:spPr>
          <p:txBody>
            <a:bodyPr lIns="0" tIns="0" rIns="0" bIns="0" rtlCol="0" anchor="t">
              <a:spAutoFit/>
            </a:bodyPr>
            <a:lstStyle/>
            <a:p>
              <a:pPr algn="ctr">
                <a:lnSpc>
                  <a:spcPts val="6160"/>
                </a:lnSpc>
              </a:pPr>
              <a:r>
                <a:rPr lang="en-US" sz="4400">
                  <a:solidFill>
                    <a:srgbClr val="692B39"/>
                  </a:solidFill>
                  <a:latin typeface="Times New Roman"/>
                  <a:ea typeface="Times New Roman"/>
                  <a:cs typeface="Times New Roman"/>
                  <a:sym typeface="Times New Roman"/>
                </a:rPr>
                <a:t>Walchand College of Engineering, Sangli</a:t>
              </a:r>
            </a:p>
            <a:p>
              <a:pPr algn="ctr">
                <a:lnSpc>
                  <a:spcPts val="4759"/>
                </a:lnSpc>
              </a:pPr>
              <a:r>
                <a:rPr lang="en-US" sz="3399">
                  <a:solidFill>
                    <a:srgbClr val="692B39"/>
                  </a:solidFill>
                  <a:latin typeface="Times New Roman"/>
                  <a:ea typeface="Times New Roman"/>
                  <a:cs typeface="Times New Roman"/>
                  <a:sym typeface="Times New Roman"/>
                </a:rPr>
                <a:t>A Goverment-Aided Autonomous Institute</a:t>
              </a:r>
            </a:p>
          </p:txBody>
        </p:sp>
      </p:grpSp>
      <p:sp>
        <p:nvSpPr>
          <p:cNvPr id="11" name="Rounded Rectangle 10"/>
          <p:cNvSpPr/>
          <p:nvPr/>
        </p:nvSpPr>
        <p:spPr>
          <a:xfrm>
            <a:off x="548640" y="2468880"/>
            <a:ext cx="5577840" cy="2286000"/>
          </a:xfrm>
          <a:prstGeom prst="roundRect">
            <a:avLst>
              <a:gd name="adj" fmla="val 8000"/>
            </a:avLst>
          </a:prstGeom>
          <a:solidFill>
            <a:srgbClr val="E0F2EF"/>
          </a:solidFill>
          <a:ln>
            <a:noFill/>
          </a:ln>
          <a:effectLst/>
        </p:spPr>
        <p:style>
          <a:lnRef idx="1">
            <a:schemeClr val="accent1"/>
          </a:lnRef>
          <a:fillRef idx="3">
            <a:schemeClr val="accent1"/>
          </a:fillRef>
          <a:effectRef idx="2">
            <a:schemeClr val="accent1"/>
          </a:effectRef>
          <a:fontRef idx="minor">
            <a:schemeClr val="lt1"/>
          </a:fontRef>
        </p:style>
        <p:txBody>
          <a:bodyPr rtlCol="0" anchor="t" lIns="274320" rIns="274320" tIns="54864" bIns="54864" wrap="square">
            <a:noAutofit/>
          </a:bodyPr>
          <a:lstStyle/>
          <a:p>
            <a:pPr algn="l">
              <a:spcAft>
                <a:spcPts val="600"/>
              </a:spcAft>
            </a:pPr>
            <a:r>
              <a:rPr sz="2800" b="1" i="0">
                <a:solidFill>
                  <a:srgbClr val="1F2933"/>
                </a:solidFill>
                <a:latin typeface="Calibri"/>
              </a:rPr>
              <a:t>Resilience</a:t>
            </a:r>
          </a:p>
          <a:p>
            <a:pPr algn="l">
              <a:spcAft>
                <a:spcPts val="400"/>
              </a:spcAft>
            </a:pPr>
            <a:r>
              <a:rPr sz="2200" b="0" i="0">
                <a:solidFill>
                  <a:srgbClr val="4B5563"/>
                </a:solidFill>
                <a:latin typeface="Calibri"/>
              </a:rPr>
              <a:t>Critical loads stay on through outages and at zero credit.</a:t>
            </a:r>
          </a:p>
        </p:txBody>
      </p:sp>
      <p:sp>
        <p:nvSpPr>
          <p:cNvPr id="12" name="Rounded Rectangle 11"/>
          <p:cNvSpPr/>
          <p:nvPr/>
        </p:nvSpPr>
        <p:spPr>
          <a:xfrm>
            <a:off x="6355079" y="2468880"/>
            <a:ext cx="5577840" cy="2286000"/>
          </a:xfrm>
          <a:prstGeom prst="roundRect">
            <a:avLst>
              <a:gd name="adj" fmla="val 8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t" lIns="274320" rIns="274320" tIns="54864" bIns="54864" wrap="square">
            <a:noAutofit/>
          </a:bodyPr>
          <a:lstStyle/>
          <a:p>
            <a:pPr algn="l">
              <a:spcAft>
                <a:spcPts val="600"/>
              </a:spcAft>
            </a:pPr>
            <a:r>
              <a:rPr sz="2800" b="1" i="0">
                <a:solidFill>
                  <a:srgbClr val="1F2933"/>
                </a:solidFill>
                <a:latin typeface="Calibri"/>
              </a:rPr>
              <a:t>More local solar used</a:t>
            </a:r>
          </a:p>
          <a:p>
            <a:pPr algn="l">
              <a:spcAft>
                <a:spcPts val="400"/>
              </a:spcAft>
            </a:pPr>
            <a:r>
              <a:rPr sz="2200" b="0" i="0">
                <a:solidFill>
                  <a:srgbClr val="4B5563"/>
                </a:solidFill>
                <a:latin typeface="Calibri"/>
              </a:rPr>
              <a:t>Neighbours buy surplus before it goes to the grid.</a:t>
            </a:r>
          </a:p>
        </p:txBody>
      </p:sp>
      <p:sp>
        <p:nvSpPr>
          <p:cNvPr id="13" name="Rounded Rectangle 12"/>
          <p:cNvSpPr/>
          <p:nvPr/>
        </p:nvSpPr>
        <p:spPr>
          <a:xfrm>
            <a:off x="12161519" y="2468880"/>
            <a:ext cx="5577840" cy="228600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t" lIns="274320" rIns="274320" tIns="54864" bIns="54864" wrap="square">
            <a:noAutofit/>
          </a:bodyPr>
          <a:lstStyle/>
          <a:p>
            <a:pPr algn="l">
              <a:spcAft>
                <a:spcPts val="600"/>
              </a:spcAft>
            </a:pPr>
            <a:r>
              <a:rPr sz="2800" b="1" i="0">
                <a:solidFill>
                  <a:srgbClr val="1F2933"/>
                </a:solidFill>
                <a:latin typeface="Calibri"/>
              </a:rPr>
              <a:t>Fair prepaid billing</a:t>
            </a:r>
          </a:p>
          <a:p>
            <a:pPr algn="l">
              <a:spcAft>
                <a:spcPts val="400"/>
              </a:spcAft>
            </a:pPr>
            <a:r>
              <a:rPr sz="2200" b="0" i="0">
                <a:solidFill>
                  <a:srgbClr val="4B5563"/>
                </a:solidFill>
                <a:latin typeface="Calibri"/>
              </a:rPr>
              <a:t>Per-house metering and a clear ledger of every trade.</a:t>
            </a:r>
          </a:p>
        </p:txBody>
      </p:sp>
      <p:sp>
        <p:nvSpPr>
          <p:cNvPr id="14" name="Rounded Rectangle 13"/>
          <p:cNvSpPr/>
          <p:nvPr/>
        </p:nvSpPr>
        <p:spPr>
          <a:xfrm>
            <a:off x="548640" y="4983480"/>
            <a:ext cx="5577840" cy="2286000"/>
          </a:xfrm>
          <a:prstGeom prst="roundRect">
            <a:avLst>
              <a:gd name="adj" fmla="val 8000"/>
            </a:avLst>
          </a:prstGeom>
          <a:solidFill>
            <a:srgbClr val="F7ECEE"/>
          </a:solidFill>
          <a:ln>
            <a:noFill/>
          </a:ln>
          <a:effectLst/>
        </p:spPr>
        <p:style>
          <a:lnRef idx="1">
            <a:schemeClr val="accent1"/>
          </a:lnRef>
          <a:fillRef idx="3">
            <a:schemeClr val="accent1"/>
          </a:fillRef>
          <a:effectRef idx="2">
            <a:schemeClr val="accent1"/>
          </a:effectRef>
          <a:fontRef idx="minor">
            <a:schemeClr val="lt1"/>
          </a:fontRef>
        </p:style>
        <p:txBody>
          <a:bodyPr rtlCol="0" anchor="t" lIns="274320" rIns="274320" tIns="54864" bIns="54864" wrap="square">
            <a:noAutofit/>
          </a:bodyPr>
          <a:lstStyle/>
          <a:p>
            <a:pPr algn="l">
              <a:spcAft>
                <a:spcPts val="600"/>
              </a:spcAft>
            </a:pPr>
            <a:r>
              <a:rPr sz="2800" b="1" i="0">
                <a:solidFill>
                  <a:srgbClr val="1F2933"/>
                </a:solidFill>
                <a:latin typeface="Calibri"/>
              </a:rPr>
              <a:t>Safe islanding</a:t>
            </a:r>
          </a:p>
          <a:p>
            <a:pPr algn="l">
              <a:spcAft>
                <a:spcPts val="400"/>
              </a:spcAft>
            </a:pPr>
            <a:r>
              <a:rPr sz="2200" b="0" i="0">
                <a:solidFill>
                  <a:srgbClr val="4B5563"/>
                </a:solidFill>
                <a:latin typeface="Calibri"/>
              </a:rPr>
              <a:t>Disconnects from a dead grid; no back-feed to line workers.</a:t>
            </a:r>
          </a:p>
        </p:txBody>
      </p:sp>
      <p:sp>
        <p:nvSpPr>
          <p:cNvPr id="15" name="Rounded Rectangle 14"/>
          <p:cNvSpPr/>
          <p:nvPr/>
        </p:nvSpPr>
        <p:spPr>
          <a:xfrm>
            <a:off x="6355079" y="4983480"/>
            <a:ext cx="5577840" cy="228600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t" lIns="274320" rIns="274320" tIns="54864" bIns="54864" wrap="square">
            <a:noAutofit/>
          </a:bodyPr>
          <a:lstStyle/>
          <a:p>
            <a:pPr algn="l">
              <a:spcAft>
                <a:spcPts val="600"/>
              </a:spcAft>
            </a:pPr>
            <a:r>
              <a:rPr sz="2800" b="1" i="0">
                <a:solidFill>
                  <a:srgbClr val="1F2933"/>
                </a:solidFill>
                <a:latin typeface="Calibri"/>
              </a:rPr>
              <a:t>Low cost, scalable</a:t>
            </a:r>
          </a:p>
          <a:p>
            <a:pPr algn="l">
              <a:spcAft>
                <a:spcPts val="400"/>
              </a:spcAft>
            </a:pPr>
            <a:r>
              <a:rPr sz="2200" b="0" i="0">
                <a:solidFill>
                  <a:srgbClr val="4B5563"/>
                </a:solidFill>
                <a:latin typeface="Calibri"/>
              </a:rPr>
              <a:t>12 V DC, off-the-shelf parts; adding a house is one row in the params file.</a:t>
            </a:r>
          </a:p>
        </p:txBody>
      </p:sp>
      <p:sp>
        <p:nvSpPr>
          <p:cNvPr id="16" name="Rounded Rectangle 15"/>
          <p:cNvSpPr/>
          <p:nvPr/>
        </p:nvSpPr>
        <p:spPr>
          <a:xfrm>
            <a:off x="12161519" y="4983480"/>
            <a:ext cx="5577840" cy="2286000"/>
          </a:xfrm>
          <a:prstGeom prst="roundRect">
            <a:avLst>
              <a:gd name="adj" fmla="val 8000"/>
            </a:avLst>
          </a:prstGeom>
          <a:solidFill>
            <a:srgbClr val="E0F2EF"/>
          </a:solidFill>
          <a:ln>
            <a:noFill/>
          </a:ln>
          <a:effectLst/>
        </p:spPr>
        <p:style>
          <a:lnRef idx="1">
            <a:schemeClr val="accent1"/>
          </a:lnRef>
          <a:fillRef idx="3">
            <a:schemeClr val="accent1"/>
          </a:fillRef>
          <a:effectRef idx="2">
            <a:schemeClr val="accent1"/>
          </a:effectRef>
          <a:fontRef idx="minor">
            <a:schemeClr val="lt1"/>
          </a:fontRef>
        </p:style>
        <p:txBody>
          <a:bodyPr rtlCol="0" anchor="t" lIns="274320" rIns="274320" tIns="54864" bIns="54864" wrap="square">
            <a:noAutofit/>
          </a:bodyPr>
          <a:lstStyle/>
          <a:p>
            <a:pPr algn="l">
              <a:spcAft>
                <a:spcPts val="600"/>
              </a:spcAft>
            </a:pPr>
            <a:r>
              <a:rPr sz="2800" b="1" i="0">
                <a:solidFill>
                  <a:srgbClr val="1F2933"/>
                </a:solidFill>
                <a:latin typeface="Calibri"/>
              </a:rPr>
              <a:t>Grid-friendly</a:t>
            </a:r>
          </a:p>
          <a:p>
            <a:pPr algn="l">
              <a:spcAft>
                <a:spcPts val="400"/>
              </a:spcAft>
            </a:pPr>
            <a:r>
              <a:rPr sz="2200" b="0" i="0">
                <a:solidFill>
                  <a:srgbClr val="4B5563"/>
                </a:solidFill>
                <a:latin typeface="Calibri"/>
              </a:rPr>
              <a:t>Ready for India's Time-of-Day tariffs: use and sell in solar hours.</a:t>
            </a:r>
          </a:p>
        </p:txBody>
      </p:sp>
      <p:sp>
        <p:nvSpPr>
          <p:cNvPr id="17" name="Rounded Rectangle 16"/>
          <p:cNvSpPr/>
          <p:nvPr/>
        </p:nvSpPr>
        <p:spPr>
          <a:xfrm>
            <a:off x="548640" y="7635240"/>
            <a:ext cx="17190720" cy="2057400"/>
          </a:xfrm>
          <a:prstGeom prst="roundRect">
            <a:avLst>
              <a:gd name="adj" fmla="val 8000"/>
            </a:avLst>
          </a:prstGeom>
          <a:solidFill>
            <a:srgbClr val="7A1F2B"/>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0" rIns="365760" tIns="54864" bIns="54864" wrap="square">
            <a:noAutofit/>
          </a:bodyPr>
          <a:lstStyle/>
          <a:p>
            <a:pPr algn="l">
              <a:spcAft>
                <a:spcPts val="600"/>
              </a:spcAft>
            </a:pPr>
            <a:r>
              <a:rPr sz="2600" b="1" i="0">
                <a:solidFill>
                  <a:srgbClr val="FEF3C7"/>
                </a:solidFill>
                <a:latin typeface="Calibri"/>
              </a:rPr>
              <a:t>Expected outcome</a:t>
            </a:r>
          </a:p>
          <a:p>
            <a:pPr algn="l">
              <a:spcAft>
                <a:spcPts val="400"/>
              </a:spcAft>
            </a:pPr>
            <a:r>
              <a:rPr sz="2300" b="0" i="0">
                <a:solidFill>
                  <a:srgbClr val="FFFFFF"/>
                </a:solidFill>
                <a:latin typeface="Calibri"/>
              </a:rPr>
              <a:t>A working bench-scale 12 V community microgrid: shared battery, prepaid RFID metering, automatic islanding and reconnection, and a live dashboard, backed by a validated digital twin that scales to more houses.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8640" y="1325880"/>
            <a:ext cx="17190720" cy="868680"/>
          </a:xfrm>
          <a:prstGeom prst="rect">
            <a:avLst/>
          </a:prstGeom>
        </p:spPr>
        <p:txBody>
          <a:bodyPr lIns="0" tIns="0" rIns="0" bIns="0" rtlCol="0" anchor="t" wrap="square">
            <a:spAutoFit/>
          </a:bodyPr>
          <a:lstStyle/>
          <a:p>
            <a:pPr algn="l">
              <a:lnSpc>
                <a:spcPts val="7279"/>
              </a:lnSpc>
            </a:pPr>
            <a:r>
              <a:rPr lang="en-US" sz="4400" b="1">
                <a:solidFill>
                  <a:srgbClr val="000000"/>
                </a:solidFill>
                <a:latin typeface="Canva Sans Bold"/>
                <a:ea typeface="Canva Sans Bold"/>
                <a:cs typeface="Canva Sans Bold"/>
                <a:sym typeface="Canva Sans Bold"/>
              </a:rPr>
              <a:t>Link of sources and Reference:</a:t>
            </a:r>
          </a:p>
        </p:txBody>
      </p:sp>
      <p:grpSp>
        <p:nvGrpSpPr>
          <p:cNvPr id="3" name="Group 3"/>
          <p:cNvGrpSpPr/>
          <p:nvPr/>
        </p:nvGrpSpPr>
        <p:grpSpPr>
          <a:xfrm>
            <a:off x="535200" y="-81549"/>
            <a:ext cx="17503283" cy="1576346"/>
            <a:chOff x="0" y="0"/>
            <a:chExt cx="23337711" cy="2101794"/>
          </a:xfrm>
        </p:grpSpPr>
        <p:grpSp>
          <p:nvGrpSpPr>
            <p:cNvPr id="4" name="Group 4"/>
            <p:cNvGrpSpPr/>
            <p:nvPr/>
          </p:nvGrpSpPr>
          <p:grpSpPr>
            <a:xfrm>
              <a:off x="0" y="0"/>
              <a:ext cx="2390534" cy="2101794"/>
              <a:chOff x="0" y="0"/>
              <a:chExt cx="2451880" cy="2155730"/>
            </a:xfrm>
          </p:grpSpPr>
          <p:sp>
            <p:nvSpPr>
              <p:cNvPr id="5" name="Freeform 5"/>
              <p:cNvSpPr/>
              <p:nvPr/>
            </p:nvSpPr>
            <p:spPr>
              <a:xfrm>
                <a:off x="0" y="0"/>
                <a:ext cx="2451818" cy="2155743"/>
              </a:xfrm>
              <a:custGeom>
                <a:avLst/>
                <a:gdLst/>
                <a:ahLst/>
                <a:cxnLst/>
                <a:rect l="l" t="t" r="r" b="b"/>
                <a:pathLst>
                  <a:path w="2451818" h="2155743">
                    <a:moveTo>
                      <a:pt x="0" y="0"/>
                    </a:moveTo>
                    <a:lnTo>
                      <a:pt x="2451818" y="0"/>
                    </a:lnTo>
                    <a:lnTo>
                      <a:pt x="2451818" y="2155743"/>
                    </a:lnTo>
                    <a:lnTo>
                      <a:pt x="0" y="2155743"/>
                    </a:lnTo>
                    <a:lnTo>
                      <a:pt x="0" y="0"/>
                    </a:lnTo>
                    <a:close/>
                  </a:path>
                </a:pathLst>
              </a:custGeom>
              <a:blipFill>
                <a:blip r:embed="rId2"/>
                <a:stretch>
                  <a:fillRect l="-43229" r="-67848" b="-8030"/>
                </a:stretch>
              </a:blipFill>
            </p:spPr>
          </p:sp>
        </p:grpSp>
        <p:grpSp>
          <p:nvGrpSpPr>
            <p:cNvPr id="6" name="Group 6"/>
            <p:cNvGrpSpPr/>
            <p:nvPr/>
          </p:nvGrpSpPr>
          <p:grpSpPr>
            <a:xfrm>
              <a:off x="18545475" y="247188"/>
              <a:ext cx="1586845" cy="1627422"/>
              <a:chOff x="0" y="0"/>
              <a:chExt cx="1808366" cy="1854606"/>
            </a:xfrm>
          </p:grpSpPr>
          <p:sp>
            <p:nvSpPr>
              <p:cNvPr id="7" name="Freeform 7"/>
              <p:cNvSpPr/>
              <p:nvPr/>
            </p:nvSpPr>
            <p:spPr>
              <a:xfrm>
                <a:off x="0" y="0"/>
                <a:ext cx="1808353" cy="1854581"/>
              </a:xfrm>
              <a:custGeom>
                <a:avLst/>
                <a:gdLst/>
                <a:ahLst/>
                <a:cxnLst/>
                <a:rect l="l" t="t" r="r" b="b"/>
                <a:pathLst>
                  <a:path w="1808353" h="1854581">
                    <a:moveTo>
                      <a:pt x="0" y="0"/>
                    </a:moveTo>
                    <a:lnTo>
                      <a:pt x="1808353" y="0"/>
                    </a:lnTo>
                    <a:lnTo>
                      <a:pt x="1808353" y="1854581"/>
                    </a:lnTo>
                    <a:lnTo>
                      <a:pt x="0" y="1854581"/>
                    </a:lnTo>
                    <a:lnTo>
                      <a:pt x="0" y="0"/>
                    </a:lnTo>
                    <a:close/>
                  </a:path>
                </a:pathLst>
              </a:custGeom>
              <a:blipFill>
                <a:blip r:embed="rId3"/>
                <a:stretch>
                  <a:fillRect l="-63953" r="-63953" b="-1"/>
                </a:stretch>
              </a:blipFill>
            </p:spPr>
          </p:sp>
        </p:grpSp>
        <p:grpSp>
          <p:nvGrpSpPr>
            <p:cNvPr id="8" name="Group 8"/>
            <p:cNvGrpSpPr/>
            <p:nvPr/>
          </p:nvGrpSpPr>
          <p:grpSpPr>
            <a:xfrm>
              <a:off x="20344893" y="291523"/>
              <a:ext cx="2992818" cy="1380820"/>
              <a:chOff x="0" y="0"/>
              <a:chExt cx="2992818" cy="1380820"/>
            </a:xfrm>
          </p:grpSpPr>
          <p:sp>
            <p:nvSpPr>
              <p:cNvPr id="9" name="Freeform 9"/>
              <p:cNvSpPr/>
              <p:nvPr/>
            </p:nvSpPr>
            <p:spPr>
              <a:xfrm>
                <a:off x="0" y="0"/>
                <a:ext cx="2992882" cy="1380871"/>
              </a:xfrm>
              <a:custGeom>
                <a:avLst/>
                <a:gdLst/>
                <a:ahLst/>
                <a:cxnLst/>
                <a:rect l="l" t="t" r="r" b="b"/>
                <a:pathLst>
                  <a:path w="2992882" h="1380871">
                    <a:moveTo>
                      <a:pt x="0" y="0"/>
                    </a:moveTo>
                    <a:lnTo>
                      <a:pt x="2992882" y="0"/>
                    </a:lnTo>
                    <a:lnTo>
                      <a:pt x="2992882" y="1380871"/>
                    </a:lnTo>
                    <a:lnTo>
                      <a:pt x="0" y="1380871"/>
                    </a:lnTo>
                    <a:lnTo>
                      <a:pt x="0" y="0"/>
                    </a:lnTo>
                    <a:close/>
                  </a:path>
                </a:pathLst>
              </a:custGeom>
              <a:blipFill>
                <a:blip r:embed="rId4"/>
                <a:stretch>
                  <a:fillRect l="-1264" r="-1261" b="3"/>
                </a:stretch>
              </a:blipFill>
            </p:spPr>
          </p:sp>
        </p:grpSp>
        <p:sp>
          <p:nvSpPr>
            <p:cNvPr id="10" name="TextBox 10"/>
            <p:cNvSpPr txBox="1"/>
            <p:nvPr/>
          </p:nvSpPr>
          <p:spPr>
            <a:xfrm>
              <a:off x="3986137" y="60414"/>
              <a:ext cx="14984527" cy="1814195"/>
            </a:xfrm>
            <a:prstGeom prst="rect">
              <a:avLst/>
            </a:prstGeom>
          </p:spPr>
          <p:txBody>
            <a:bodyPr lIns="0" tIns="0" rIns="0" bIns="0" rtlCol="0" anchor="t">
              <a:spAutoFit/>
            </a:bodyPr>
            <a:lstStyle/>
            <a:p>
              <a:pPr algn="ctr">
                <a:lnSpc>
                  <a:spcPts val="6160"/>
                </a:lnSpc>
              </a:pPr>
              <a:r>
                <a:rPr lang="en-US" sz="4400">
                  <a:solidFill>
                    <a:srgbClr val="692B39"/>
                  </a:solidFill>
                  <a:latin typeface="Times New Roman"/>
                  <a:ea typeface="Times New Roman"/>
                  <a:cs typeface="Times New Roman"/>
                  <a:sym typeface="Times New Roman"/>
                </a:rPr>
                <a:t>Walchand College of Engineering, Sangli</a:t>
              </a:r>
            </a:p>
            <a:p>
              <a:pPr algn="ctr">
                <a:lnSpc>
                  <a:spcPts val="4759"/>
                </a:lnSpc>
              </a:pPr>
              <a:r>
                <a:rPr lang="en-US" sz="3399">
                  <a:solidFill>
                    <a:srgbClr val="692B39"/>
                  </a:solidFill>
                  <a:latin typeface="Times New Roman"/>
                  <a:ea typeface="Times New Roman"/>
                  <a:cs typeface="Times New Roman"/>
                  <a:sym typeface="Times New Roman"/>
                </a:rPr>
                <a:t>A Goverment-Aided Autonomous Institute</a:t>
              </a:r>
            </a:p>
          </p:txBody>
        </p:sp>
      </p:grpSp>
      <p:sp>
        <p:nvSpPr>
          <p:cNvPr id="11" name="TextBox 10"/>
          <p:cNvSpPr txBox="1"/>
          <p:nvPr/>
        </p:nvSpPr>
        <p:spPr>
          <a:xfrm>
            <a:off x="548640" y="2514600"/>
            <a:ext cx="17190720" cy="7223760"/>
          </a:xfrm>
          <a:prstGeom prst="rect">
            <a:avLst/>
          </a:prstGeom>
          <a:noFill/>
        </p:spPr>
        <p:txBody>
          <a:bodyPr wrap="square" lIns="0" rIns="0" tIns="0" bIns="0" anchor="t">
            <a:noAutofit/>
          </a:bodyPr>
          <a:lstStyle/>
          <a:p>
            <a:pPr algn="l">
              <a:spcAft>
                <a:spcPts val="1200"/>
              </a:spcAft>
            </a:pPr>
            <a:r>
              <a:rPr sz="2300" b="1" i="0">
                <a:solidFill>
                  <a:srgbClr val="7A1F2B"/>
                </a:solidFill>
                <a:latin typeface="Calibri"/>
              </a:rPr>
              <a:t>[1]  </a:t>
            </a:r>
            <a:r>
              <a:rPr sz="2300" b="0" i="0">
                <a:solidFill>
                  <a:srgbClr val="1F2933"/>
                </a:solidFill>
                <a:latin typeface="Calibri"/>
              </a:rPr>
              <a:t>Aarambh WCE Hackathon 2026: Problem Statement #38, Community Microgrid &amp; Energy Sharing (organiser document)</a:t>
            </a:r>
          </a:p>
          <a:p>
            <a:pPr algn="l">
              <a:spcAft>
                <a:spcPts val="1200"/>
              </a:spcAft>
            </a:pPr>
            <a:r>
              <a:rPr sz="2300" b="1" i="0">
                <a:solidFill>
                  <a:srgbClr val="7A1F2B"/>
                </a:solidFill>
                <a:latin typeface="Calibri"/>
              </a:rPr>
              <a:t>[2]  </a:t>
            </a:r>
            <a:r>
              <a:rPr sz="2300" b="0" i="0">
                <a:solidFill>
                  <a:srgbClr val="1F2933"/>
                </a:solidFill>
                <a:latin typeface="Calibri"/>
              </a:rPr>
              <a:t>PIB, Ministry of Power (2023): Electricity (Rights of Consumers) Amendment Rules, Time-of-Day tariff. pib.gov.in/PressReleasePage.aspx?PRID=1934673</a:t>
            </a:r>
          </a:p>
          <a:p>
            <a:pPr algn="l">
              <a:spcAft>
                <a:spcPts val="1200"/>
              </a:spcAft>
            </a:pPr>
            <a:r>
              <a:rPr sz="2300" b="1" i="0">
                <a:solidFill>
                  <a:srgbClr val="7A1F2B"/>
                </a:solidFill>
                <a:latin typeface="Calibri"/>
              </a:rPr>
              <a:t>[3]  </a:t>
            </a:r>
            <a:r>
              <a:rPr sz="2300" b="0" i="0">
                <a:solidFill>
                  <a:srgbClr val="1F2933"/>
                </a:solidFill>
                <a:latin typeface="Calibri"/>
              </a:rPr>
              <a:t>PIB: Nationwide push for smart prepaid meters. pib.gov.in/PressReleaseIframePage.aspx?PRID=2202459</a:t>
            </a:r>
          </a:p>
          <a:p>
            <a:pPr algn="l">
              <a:spcAft>
                <a:spcPts val="1200"/>
              </a:spcAft>
            </a:pPr>
            <a:r>
              <a:rPr sz="2300" b="1" i="0">
                <a:solidFill>
                  <a:srgbClr val="7A1F2B"/>
                </a:solidFill>
                <a:latin typeface="Calibri"/>
              </a:rPr>
              <a:t>[4]  </a:t>
            </a:r>
            <a:r>
              <a:rPr sz="2300" b="0" i="0">
                <a:solidFill>
                  <a:srgbClr val="1F2933"/>
                </a:solidFill>
                <a:latin typeface="Calibri"/>
              </a:rPr>
              <a:t>IEEE 1547-2018: Interconnection of distributed energy resources with electric power systems (islanding)</a:t>
            </a:r>
          </a:p>
          <a:p>
            <a:pPr algn="l">
              <a:spcAft>
                <a:spcPts val="1200"/>
              </a:spcAft>
            </a:pPr>
            <a:r>
              <a:rPr sz="2300" b="1" i="0">
                <a:solidFill>
                  <a:srgbClr val="7A1F2B"/>
                </a:solidFill>
                <a:latin typeface="Calibri"/>
              </a:rPr>
              <a:t>[5]  </a:t>
            </a:r>
            <a:r>
              <a:rPr sz="2300" b="0" i="0">
                <a:solidFill>
                  <a:srgbClr val="1F2933"/>
                </a:solidFill>
                <a:latin typeface="Calibri"/>
              </a:rPr>
              <a:t>Texas Instruments INA219 current/power monitor datasheet. ti.com/product/INA219</a:t>
            </a:r>
          </a:p>
          <a:p>
            <a:pPr algn="l">
              <a:spcAft>
                <a:spcPts val="1200"/>
              </a:spcAft>
            </a:pPr>
            <a:r>
              <a:rPr sz="2300" b="1" i="0">
                <a:solidFill>
                  <a:srgbClr val="7A1F2B"/>
                </a:solidFill>
                <a:latin typeface="Calibri"/>
              </a:rPr>
              <a:t>[6]  </a:t>
            </a:r>
            <a:r>
              <a:rPr sz="2300" b="0" i="0">
                <a:solidFill>
                  <a:srgbClr val="1F2933"/>
                </a:solidFill>
                <a:latin typeface="Calibri"/>
              </a:rPr>
              <a:t>NXP MFRC522 RFID reader datasheet. nxp.com/docs/en/data-sheet/MFRC522.pdf</a:t>
            </a:r>
          </a:p>
          <a:p>
            <a:pPr algn="l">
              <a:spcAft>
                <a:spcPts val="1200"/>
              </a:spcAft>
            </a:pPr>
            <a:r>
              <a:rPr sz="2300" b="1" i="0">
                <a:solidFill>
                  <a:srgbClr val="7A1F2B"/>
                </a:solidFill>
                <a:latin typeface="Calibri"/>
              </a:rPr>
              <a:t>[7]  </a:t>
            </a:r>
            <a:r>
              <a:rPr sz="2300" b="0" i="0">
                <a:solidFill>
                  <a:srgbClr val="1F2933"/>
                </a:solidFill>
                <a:latin typeface="Calibri"/>
              </a:rPr>
              <a:t>Espressif ESP32 datasheet. espressif.com</a:t>
            </a:r>
          </a:p>
          <a:p>
            <a:pPr algn="l">
              <a:spcAft>
                <a:spcPts val="1200"/>
              </a:spcAft>
            </a:pPr>
            <a:r>
              <a:rPr sz="2300" b="1" i="0">
                <a:solidFill>
                  <a:srgbClr val="7A1F2B"/>
                </a:solidFill>
                <a:latin typeface="Calibri"/>
              </a:rPr>
              <a:t>[8]  </a:t>
            </a:r>
            <a:r>
              <a:rPr sz="2300" b="0" i="0">
                <a:solidFill>
                  <a:srgbClr val="1F2933"/>
                </a:solidFill>
                <a:latin typeface="Calibri"/>
              </a:rPr>
              <a:t>Eclipse Mosquitto MQTT broker. mosquitto.org</a:t>
            </a:r>
          </a:p>
          <a:p>
            <a:pPr algn="l">
              <a:spcAft>
                <a:spcPts val="1200"/>
              </a:spcAft>
            </a:pPr>
            <a:r>
              <a:rPr sz="2300" b="1" i="0">
                <a:solidFill>
                  <a:srgbClr val="7A1F2B"/>
                </a:solidFill>
                <a:latin typeface="Calibri"/>
              </a:rPr>
              <a:t>[9]  </a:t>
            </a:r>
            <a:r>
              <a:rPr sz="2300" b="0" i="0">
                <a:solidFill>
                  <a:srgbClr val="1F2933"/>
                </a:solidFill>
                <a:latin typeface="Calibri"/>
              </a:rPr>
              <a:t>MathWorks Simscape Electrical. mathworks.com/products/simscape-electrical.html</a:t>
            </a:r>
          </a:p>
          <a:p>
            <a:pPr algn="l">
              <a:spcAft>
                <a:spcPts val="1200"/>
              </a:spcAft>
            </a:pPr>
            <a:r>
              <a:rPr sz="2300" b="1" i="0">
                <a:solidFill>
                  <a:srgbClr val="7A1F2B"/>
                </a:solidFill>
                <a:latin typeface="Calibri"/>
              </a:rPr>
              <a:t>[10]  </a:t>
            </a:r>
            <a:r>
              <a:rPr sz="2300" b="0" i="0">
                <a:solidFill>
                  <a:srgbClr val="1F2933"/>
                </a:solidFill>
                <a:latin typeface="Calibri"/>
              </a:rPr>
              <a:t>Project code: MATLAB digital twin + ESP32 firmware (mg_twin). [repository link]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Custom</PresentationFormat>
  <Paragraphs>0</Paragraphs>
  <Slides>7</Slides>
  <Notes>0</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Problem Statement ID - 26179 • Problem Statement Title On-device Al for re_20261002_093029_0000.pptx</dc:title>
  <cp:lastModifiedBy>Priyadarshi Pachpinde</cp:lastModifiedBy>
  <cp:revision>2</cp:revision>
  <dcterms:created xsi:type="dcterms:W3CDTF">2006-08-16T00:00:00Z</dcterms:created>
  <dcterms:modified xsi:type="dcterms:W3CDTF">2026-10-02T06:35:53Z</dcterms:modified>
  <dc:identifier>DAHW05TWix4</dc:identifier>
</cp:coreProperties>
</file>