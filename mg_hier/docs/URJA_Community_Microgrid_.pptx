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70" r:id="rId3"/>
    <p:sldId id="257" r:id="rId4"/>
    <p:sldId id="258" r:id="rId5"/>
    <p:sldId id="259" r:id="rId6"/>
    <p:sldId id="260" r:id="rId7"/>
    <p:sldId id="269" r:id="rId8"/>
    <p:sldId id="261" r:id="rId9"/>
    <p:sldId id="262" r:id="rId10"/>
  </p:sldIdLst>
  <p:sldSz cx="18288000" cy="10287000"/>
  <p:notesSz cx="6858000" cy="9144000"/>
  <p:embeddedFontLst>
    <p:embeddedFont>
      <p:font typeface="The Seasons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3446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Introduce the team and the problem statement number. One sentence: we built a small community power network where neighbours share solar power, settle shared energy through a prepaid ledger, and keep their essential lights on when the main grid fails.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1BFF4-4FC8-E43F-7A3A-C936F73FF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04CF09-F2DB-F5DB-4668-14FC987112F5}"/>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0D70B02B-DD76-99C7-E5B4-83F7A35556C6}"/>
              </a:ext>
            </a:extLst>
          </p:cNvPr>
          <p:cNvSpPr>
            <a:spLocks noGrp="1"/>
          </p:cNvSpPr>
          <p:nvPr>
            <p:ph type="body" sz="quarter" idx="3"/>
          </p:nvPr>
        </p:nvSpPr>
        <p:spPr/>
        <p:txBody>
          <a:bodyPr/>
          <a:lstStyle/>
          <a:p>
            <a:r>
              <a:t>Introduce the team and the problem statement number. One sentence: we built a small community power network where neighbours share solar power, settle shared energy through a prepaid ledger, and keep their essential lights on when the main grid fails.</a:t>
            </a:r>
          </a:p>
        </p:txBody>
      </p:sp>
      <p:sp>
        <p:nvSpPr>
          <p:cNvPr id="4" name="Slide Number Placeholder 3">
            <a:extLst>
              <a:ext uri="{FF2B5EF4-FFF2-40B4-BE49-F238E27FC236}">
                <a16:creationId xmlns:a16="http://schemas.microsoft.com/office/drawing/2014/main" id="{B3881411-DD91-3AE2-29BB-C78F616BC4D3}"/>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152197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Read the one-line summary slowly; it is the whole pitch. Critical loads are the essentials (a light, a phone charger, a medical device) that must never be cut, even at zero credit.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Lead with energy sharing: points 1 and 2 are the heart of PS #38. Microgrid: a small local power network that can run with the main grid or on its own ('islanded'). Back-feed means pushing power into a grid line that workers believe is dead; it is dangerous.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Everything inside the dashed box is a MATLAB/Simulink model: main grid, grid switch, shared battery, solar, three houses and a community place (for example a community hall with critical lights). The only real hardware is the ESP32, connected by USB: MATLAB sends it measurements, it sends back decisions, and LEDs show what it decided. Active power P does useful work; reactive power Q sloshes back and forth in AC systems and must also be supplied. Prepaid ledger: each house's energy bought and sold is recorded as credit. The AI/ML energy advisor (planned) runs in Python on a laptop: it forecasts next-hour solar and demand, plans the battery and load shedding ahead of time, and flags faulty sensors or abnormal loads. It only suggests; the ESP32 checks every suggestion against safety limits.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Left: the ESP32 is a real board; the power system around it is simulated. Every step MATLAB sends measurements over USB and the ESP32 replies with decisions, exactly as it would with real sensors. Right: a state machine, so the controller is always in one clear mode. It islands when the grid is lost and only reconnects after the grid is stable and voltages match, so it does not flap on and off. The AI/ML advisor (planned) runs in Python on a laptop. It reads the same log the controller produces and suggests a battery set-point, which loads to shed and a price. It is only an advisor: the ESP32 checks every suggestion against its safety limits and ignores it if it is unsafe or missing, falling back to the fixed rules.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Be clear: these results come from our first model, a 12 V DC version used to prove the control logic; the AC model is in progress. Monte Carlo = many random variations; 0 differences means the C++ firmware made exactly the same decisions as the MATLAB model. AI/ML is planned and owned by our AI/ML team: (1) forecast solar and demand an hour ahead, (2) use the forecast to plan the battery and shed loads early, compared against our fixed-threshold rules, (3) detect faulty sensors or abnormal loads. Training data comes from thousands of simulated days plus real NASA POWER / PVGIS sunlight data; load data is synthetic, and we split train/test by day. The controller always keeps the final say on safety.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Lead with energy sharing: it is what makes this a community microgrid rather than just a backup system.</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388200">
            <a:off x="-5445757" y="-2620004"/>
            <a:ext cx="11540195" cy="8229600"/>
            <a:chOff x="0" y="0"/>
            <a:chExt cx="15386926" cy="10972800"/>
          </a:xfrm>
        </p:grpSpPr>
        <p:sp>
          <p:nvSpPr>
            <p:cNvPr id="3" name="Freeform 3"/>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3"/>
              <a:stretch>
                <a:fillRect l="-21" r="-21"/>
              </a:stretch>
            </a:blipFill>
          </p:spPr>
          <p:txBody>
            <a:bodyPr/>
            <a:lstStyle/>
            <a:p>
              <a:endParaRPr lang="en-US" dirty="0"/>
            </a:p>
          </p:txBody>
        </p:sp>
      </p:grpSp>
      <p:grpSp>
        <p:nvGrpSpPr>
          <p:cNvPr id="4" name="Group 4"/>
          <p:cNvGrpSpPr/>
          <p:nvPr/>
        </p:nvGrpSpPr>
        <p:grpSpPr>
          <a:xfrm rot="-388200">
            <a:off x="9570901" y="4178284"/>
            <a:ext cx="11540195" cy="8229600"/>
            <a:chOff x="0" y="0"/>
            <a:chExt cx="15386926" cy="10972800"/>
          </a:xfrm>
        </p:grpSpPr>
        <p:sp>
          <p:nvSpPr>
            <p:cNvPr id="5" name="Freeform 5"/>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3"/>
              <a:stretch>
                <a:fillRect l="-21" r="-21"/>
              </a:stretch>
            </a:blipFill>
          </p:spPr>
          <p:txBody>
            <a:bodyPr/>
            <a:lstStyle/>
            <a:p>
              <a:endParaRPr lang="en-US" dirty="0"/>
            </a:p>
          </p:txBody>
        </p:sp>
      </p:grpSp>
      <p:sp>
        <p:nvSpPr>
          <p:cNvPr id="6" name="TextBox 6"/>
          <p:cNvSpPr txBox="1"/>
          <p:nvPr/>
        </p:nvSpPr>
        <p:spPr>
          <a:xfrm>
            <a:off x="3604317" y="3154250"/>
            <a:ext cx="11124171" cy="3406940"/>
          </a:xfrm>
          <a:prstGeom prst="rect">
            <a:avLst/>
          </a:prstGeom>
        </p:spPr>
        <p:txBody>
          <a:bodyPr lIns="0" tIns="0" rIns="0" bIns="0" rtlCol="0" anchor="t">
            <a:spAutoFit/>
          </a:bodyPr>
          <a:lstStyle/>
          <a:p>
            <a:pPr algn="ctr">
              <a:lnSpc>
                <a:spcPts val="23989"/>
              </a:lnSpc>
            </a:pPr>
            <a:r>
              <a:rPr lang="en-US" sz="17135" dirty="0">
                <a:solidFill>
                  <a:srgbClr val="000000"/>
                </a:solidFill>
                <a:latin typeface="Times New Roman"/>
                <a:ea typeface="Times New Roman"/>
                <a:cs typeface="Times New Roman"/>
                <a:sym typeface="Times New Roman"/>
              </a:rPr>
              <a:t>AARAMBH</a:t>
            </a:r>
          </a:p>
        </p:txBody>
      </p:sp>
      <p:sp>
        <p:nvSpPr>
          <p:cNvPr id="7" name="TextBox 7"/>
          <p:cNvSpPr txBox="1"/>
          <p:nvPr/>
        </p:nvSpPr>
        <p:spPr>
          <a:xfrm>
            <a:off x="2958810" y="6341524"/>
            <a:ext cx="11769678" cy="953743"/>
          </a:xfrm>
          <a:prstGeom prst="rect">
            <a:avLst/>
          </a:prstGeom>
        </p:spPr>
        <p:txBody>
          <a:bodyPr lIns="0" tIns="0" rIns="0" bIns="0" rtlCol="0" anchor="t">
            <a:spAutoFit/>
          </a:bodyPr>
          <a:lstStyle/>
          <a:p>
            <a:pPr algn="ctr">
              <a:lnSpc>
                <a:spcPts val="7279"/>
              </a:lnSpc>
            </a:pPr>
            <a:r>
              <a:rPr lang="en-US" sz="5198" b="1" dirty="0">
                <a:solidFill>
                  <a:srgbClr val="000000"/>
                </a:solidFill>
                <a:latin typeface="The Seasons Bold"/>
                <a:ea typeface="The Seasons Bold"/>
                <a:cs typeface="The Seasons Bold"/>
                <a:sym typeface="The Seasons Bold"/>
              </a:rPr>
              <a:t>WCE-HACKATHON 2026 </a:t>
            </a:r>
          </a:p>
        </p:txBody>
      </p:sp>
      <p:sp>
        <p:nvSpPr>
          <p:cNvPr id="8" name="TextBox 8"/>
          <p:cNvSpPr txBox="1"/>
          <p:nvPr/>
        </p:nvSpPr>
        <p:spPr>
          <a:xfrm>
            <a:off x="2328100" y="2600557"/>
            <a:ext cx="14088764" cy="953743"/>
          </a:xfrm>
          <a:prstGeom prst="rect">
            <a:avLst/>
          </a:prstGeom>
        </p:spPr>
        <p:txBody>
          <a:bodyPr lIns="0" tIns="0" rIns="0" bIns="0" rtlCol="0" anchor="t">
            <a:spAutoFit/>
          </a:bodyPr>
          <a:lstStyle/>
          <a:p>
            <a:pPr algn="ctr">
              <a:lnSpc>
                <a:spcPts val="7279"/>
              </a:lnSpc>
            </a:pPr>
            <a:r>
              <a:rPr lang="en-US" sz="5198" b="1" dirty="0">
                <a:solidFill>
                  <a:srgbClr val="000000"/>
                </a:solidFill>
                <a:latin typeface="The Seasons Bold"/>
                <a:ea typeface="The Seasons Bold"/>
                <a:cs typeface="The Seasons Bold"/>
                <a:sym typeface="The Seasons Bold"/>
              </a:rPr>
              <a:t>Department of Electrical Engineering</a:t>
            </a:r>
          </a:p>
        </p:txBody>
      </p:sp>
      <p:grpSp>
        <p:nvGrpSpPr>
          <p:cNvPr id="9" name="Group 9"/>
          <p:cNvGrpSpPr/>
          <p:nvPr/>
        </p:nvGrpSpPr>
        <p:grpSpPr>
          <a:xfrm>
            <a:off x="535200" y="38100"/>
            <a:ext cx="17503283" cy="1576346"/>
            <a:chOff x="0" y="0"/>
            <a:chExt cx="23337711" cy="2101794"/>
          </a:xfrm>
        </p:grpSpPr>
        <p:grpSp>
          <p:nvGrpSpPr>
            <p:cNvPr id="10" name="Group 10"/>
            <p:cNvGrpSpPr/>
            <p:nvPr/>
          </p:nvGrpSpPr>
          <p:grpSpPr>
            <a:xfrm>
              <a:off x="0" y="0"/>
              <a:ext cx="2390534" cy="2101794"/>
              <a:chOff x="0" y="0"/>
              <a:chExt cx="2451880" cy="2155730"/>
            </a:xfrm>
          </p:grpSpPr>
          <p:sp>
            <p:nvSpPr>
              <p:cNvPr id="11" name="Freeform 11"/>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4"/>
                <a:stretch>
                  <a:fillRect l="-43229" r="-67848" b="-8030"/>
                </a:stretch>
              </a:blipFill>
            </p:spPr>
            <p:txBody>
              <a:bodyPr/>
              <a:lstStyle/>
              <a:p>
                <a:endParaRPr lang="en-US" dirty="0"/>
              </a:p>
            </p:txBody>
          </p:sp>
        </p:grpSp>
        <p:grpSp>
          <p:nvGrpSpPr>
            <p:cNvPr id="12" name="Group 12"/>
            <p:cNvGrpSpPr/>
            <p:nvPr/>
          </p:nvGrpSpPr>
          <p:grpSpPr>
            <a:xfrm>
              <a:off x="18545475" y="247188"/>
              <a:ext cx="1586845" cy="1627422"/>
              <a:chOff x="0" y="0"/>
              <a:chExt cx="1808366" cy="1854606"/>
            </a:xfrm>
          </p:grpSpPr>
          <p:sp>
            <p:nvSpPr>
              <p:cNvPr id="13" name="Freeform 13"/>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5"/>
                <a:stretch>
                  <a:fillRect l="-63953" r="-63953" b="-1"/>
                </a:stretch>
              </a:blipFill>
            </p:spPr>
            <p:txBody>
              <a:bodyPr/>
              <a:lstStyle/>
              <a:p>
                <a:endParaRPr lang="en-US" dirty="0"/>
              </a:p>
            </p:txBody>
          </p:sp>
        </p:grpSp>
        <p:grpSp>
          <p:nvGrpSpPr>
            <p:cNvPr id="14" name="Group 14"/>
            <p:cNvGrpSpPr/>
            <p:nvPr/>
          </p:nvGrpSpPr>
          <p:grpSpPr>
            <a:xfrm>
              <a:off x="20344893" y="291523"/>
              <a:ext cx="2992818" cy="1380820"/>
              <a:chOff x="0" y="0"/>
              <a:chExt cx="2992818" cy="1380820"/>
            </a:xfrm>
          </p:grpSpPr>
          <p:sp>
            <p:nvSpPr>
              <p:cNvPr id="15" name="Freeform 15"/>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6"/>
                <a:stretch>
                  <a:fillRect l="-1264" r="-1261" b="3"/>
                </a:stretch>
              </a:blipFill>
            </p:spPr>
            <p:txBody>
              <a:bodyPr/>
              <a:lstStyle/>
              <a:p>
                <a:endParaRPr lang="en-US" dirty="0"/>
              </a:p>
            </p:txBody>
          </p:sp>
        </p:grpSp>
        <p:sp>
          <p:nvSpPr>
            <p:cNvPr id="16" name="TextBox 16"/>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dirty="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dirty="0">
                  <a:solidFill>
                    <a:srgbClr val="692B39"/>
                  </a:solidFill>
                  <a:latin typeface="Times New Roman"/>
                  <a:ea typeface="Times New Roman"/>
                  <a:cs typeface="Times New Roman"/>
                  <a:sym typeface="Times New Roman"/>
                </a:rPr>
                <a:t>A </a:t>
              </a:r>
              <a:r>
                <a:rPr lang="en-US" sz="3399" dirty="0" err="1">
                  <a:solidFill>
                    <a:srgbClr val="692B39"/>
                  </a:solidFill>
                  <a:latin typeface="Times New Roman"/>
                  <a:ea typeface="Times New Roman"/>
                  <a:cs typeface="Times New Roman"/>
                  <a:sym typeface="Times New Roman"/>
                </a:rPr>
                <a:t>Goverment</a:t>
              </a:r>
              <a:r>
                <a:rPr lang="en-US" sz="3399">
                  <a:solidFill>
                    <a:srgbClr val="692B39"/>
                  </a:solidFill>
                  <a:latin typeface="Times New Roman"/>
                  <a:ea typeface="Times New Roman"/>
                  <a:cs typeface="Times New Roman"/>
                  <a:sym typeface="Times New Roman"/>
                </a:rPr>
                <a:t>-Aided Autonomous Institute</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E1B6F-D4B0-B3F8-10E8-F3159E38A8D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5D21D60-6F89-BB1B-52BB-7A981A7B4F6E}"/>
              </a:ext>
            </a:extLst>
          </p:cNvPr>
          <p:cNvGrpSpPr/>
          <p:nvPr/>
        </p:nvGrpSpPr>
        <p:grpSpPr>
          <a:xfrm rot="-388200">
            <a:off x="-5445757" y="-2620004"/>
            <a:ext cx="11540195" cy="8229600"/>
            <a:chOff x="0" y="0"/>
            <a:chExt cx="15386926" cy="10972800"/>
          </a:xfrm>
        </p:grpSpPr>
        <p:sp>
          <p:nvSpPr>
            <p:cNvPr id="3" name="Freeform 3">
              <a:extLst>
                <a:ext uri="{FF2B5EF4-FFF2-40B4-BE49-F238E27FC236}">
                  <a16:creationId xmlns:a16="http://schemas.microsoft.com/office/drawing/2014/main" id="{BF49D92F-A26B-553B-6019-509F78802D22}"/>
                </a:ext>
              </a:extLst>
            </p:cNvPr>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3"/>
              <a:stretch>
                <a:fillRect l="-21" r="-21"/>
              </a:stretch>
            </a:blipFill>
          </p:spPr>
          <p:txBody>
            <a:bodyPr/>
            <a:lstStyle/>
            <a:p>
              <a:endParaRPr lang="en-US" dirty="0"/>
            </a:p>
          </p:txBody>
        </p:sp>
      </p:grpSp>
      <p:grpSp>
        <p:nvGrpSpPr>
          <p:cNvPr id="4" name="Group 4">
            <a:extLst>
              <a:ext uri="{FF2B5EF4-FFF2-40B4-BE49-F238E27FC236}">
                <a16:creationId xmlns:a16="http://schemas.microsoft.com/office/drawing/2014/main" id="{19C20E6B-4637-B48F-7BF2-BFEE34F558F5}"/>
              </a:ext>
            </a:extLst>
          </p:cNvPr>
          <p:cNvGrpSpPr/>
          <p:nvPr/>
        </p:nvGrpSpPr>
        <p:grpSpPr>
          <a:xfrm rot="-388200">
            <a:off x="9570901" y="4178284"/>
            <a:ext cx="11540195" cy="8229600"/>
            <a:chOff x="0" y="0"/>
            <a:chExt cx="15386926" cy="10972800"/>
          </a:xfrm>
        </p:grpSpPr>
        <p:sp>
          <p:nvSpPr>
            <p:cNvPr id="5" name="Freeform 5">
              <a:extLst>
                <a:ext uri="{FF2B5EF4-FFF2-40B4-BE49-F238E27FC236}">
                  <a16:creationId xmlns:a16="http://schemas.microsoft.com/office/drawing/2014/main" id="{4F54CE1F-3804-4998-119B-9F2A32BCFBB4}"/>
                </a:ext>
              </a:extLst>
            </p:cNvPr>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3"/>
              <a:stretch>
                <a:fillRect l="-21" r="-21"/>
              </a:stretch>
            </a:blipFill>
          </p:spPr>
          <p:txBody>
            <a:bodyPr/>
            <a:lstStyle/>
            <a:p>
              <a:endParaRPr lang="en-US" dirty="0"/>
            </a:p>
          </p:txBody>
        </p:sp>
      </p:grpSp>
      <p:sp>
        <p:nvSpPr>
          <p:cNvPr id="6" name="TextBox 6">
            <a:extLst>
              <a:ext uri="{FF2B5EF4-FFF2-40B4-BE49-F238E27FC236}">
                <a16:creationId xmlns:a16="http://schemas.microsoft.com/office/drawing/2014/main" id="{3DDA7488-094F-1EE6-2DCA-8AA89C062C89}"/>
              </a:ext>
            </a:extLst>
          </p:cNvPr>
          <p:cNvSpPr txBox="1"/>
          <p:nvPr/>
        </p:nvSpPr>
        <p:spPr>
          <a:xfrm>
            <a:off x="2754659" y="3154250"/>
            <a:ext cx="12778683" cy="2823402"/>
          </a:xfrm>
          <a:prstGeom prst="rect">
            <a:avLst/>
          </a:prstGeom>
        </p:spPr>
        <p:txBody>
          <a:bodyPr wrap="square" lIns="0" tIns="0" rIns="0" bIns="0" rtlCol="0" anchor="t">
            <a:spAutoFit/>
          </a:bodyPr>
          <a:lstStyle/>
          <a:p>
            <a:pPr algn="just">
              <a:lnSpc>
                <a:spcPts val="23989"/>
              </a:lnSpc>
            </a:pPr>
            <a:r>
              <a:rPr lang="en-US" sz="17135" dirty="0">
                <a:solidFill>
                  <a:srgbClr val="000000"/>
                </a:solidFill>
                <a:latin typeface="Times New Roman"/>
                <a:ea typeface="Times New Roman"/>
                <a:cs typeface="Times New Roman"/>
                <a:sym typeface="Times New Roman"/>
              </a:rPr>
              <a:t>TEAM URJA</a:t>
            </a:r>
          </a:p>
        </p:txBody>
      </p:sp>
      <p:sp>
        <p:nvSpPr>
          <p:cNvPr id="7" name="TextBox 7">
            <a:extLst>
              <a:ext uri="{FF2B5EF4-FFF2-40B4-BE49-F238E27FC236}">
                <a16:creationId xmlns:a16="http://schemas.microsoft.com/office/drawing/2014/main" id="{FC76C6A2-6449-F555-9A85-57E2668DDF29}"/>
              </a:ext>
            </a:extLst>
          </p:cNvPr>
          <p:cNvSpPr txBox="1"/>
          <p:nvPr/>
        </p:nvSpPr>
        <p:spPr>
          <a:xfrm>
            <a:off x="2958810" y="6341524"/>
            <a:ext cx="11769678" cy="953743"/>
          </a:xfrm>
          <a:prstGeom prst="rect">
            <a:avLst/>
          </a:prstGeom>
        </p:spPr>
        <p:txBody>
          <a:bodyPr lIns="0" tIns="0" rIns="0" bIns="0" rtlCol="0" anchor="t">
            <a:spAutoFit/>
          </a:bodyPr>
          <a:lstStyle/>
          <a:p>
            <a:pPr algn="ctr">
              <a:lnSpc>
                <a:spcPts val="7279"/>
              </a:lnSpc>
            </a:pPr>
            <a:r>
              <a:rPr lang="en-US" sz="5198" b="1" dirty="0">
                <a:solidFill>
                  <a:srgbClr val="000000"/>
                </a:solidFill>
                <a:latin typeface="The Seasons Bold"/>
                <a:ea typeface="The Seasons Bold"/>
                <a:cs typeface="The Seasons Bold"/>
                <a:sym typeface="The Seasons Bold"/>
              </a:rPr>
              <a:t>WCE-HACKATHON 2026 </a:t>
            </a:r>
          </a:p>
        </p:txBody>
      </p:sp>
      <p:grpSp>
        <p:nvGrpSpPr>
          <p:cNvPr id="9" name="Group 9">
            <a:extLst>
              <a:ext uri="{FF2B5EF4-FFF2-40B4-BE49-F238E27FC236}">
                <a16:creationId xmlns:a16="http://schemas.microsoft.com/office/drawing/2014/main" id="{376AAF1F-6DF1-BF87-D67D-32174E2F29C6}"/>
              </a:ext>
            </a:extLst>
          </p:cNvPr>
          <p:cNvGrpSpPr/>
          <p:nvPr/>
        </p:nvGrpSpPr>
        <p:grpSpPr>
          <a:xfrm>
            <a:off x="535200" y="38100"/>
            <a:ext cx="17503283" cy="1576346"/>
            <a:chOff x="0" y="0"/>
            <a:chExt cx="23337711" cy="2101794"/>
          </a:xfrm>
        </p:grpSpPr>
        <p:grpSp>
          <p:nvGrpSpPr>
            <p:cNvPr id="10" name="Group 10">
              <a:extLst>
                <a:ext uri="{FF2B5EF4-FFF2-40B4-BE49-F238E27FC236}">
                  <a16:creationId xmlns:a16="http://schemas.microsoft.com/office/drawing/2014/main" id="{E8E966D9-7083-13EC-DD5D-F43566124900}"/>
                </a:ext>
              </a:extLst>
            </p:cNvPr>
            <p:cNvGrpSpPr/>
            <p:nvPr/>
          </p:nvGrpSpPr>
          <p:grpSpPr>
            <a:xfrm>
              <a:off x="0" y="0"/>
              <a:ext cx="2390534" cy="2101794"/>
              <a:chOff x="0" y="0"/>
              <a:chExt cx="2451880" cy="2155730"/>
            </a:xfrm>
          </p:grpSpPr>
          <p:sp>
            <p:nvSpPr>
              <p:cNvPr id="11" name="Freeform 11">
                <a:extLst>
                  <a:ext uri="{FF2B5EF4-FFF2-40B4-BE49-F238E27FC236}">
                    <a16:creationId xmlns:a16="http://schemas.microsoft.com/office/drawing/2014/main" id="{0A79FC70-2E41-0DFD-D597-47054ABB0D31}"/>
                  </a:ext>
                </a:extLst>
              </p:cNvPr>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4"/>
                <a:stretch>
                  <a:fillRect l="-43229" r="-67848" b="-8030"/>
                </a:stretch>
              </a:blipFill>
            </p:spPr>
            <p:txBody>
              <a:bodyPr/>
              <a:lstStyle/>
              <a:p>
                <a:endParaRPr lang="en-US" dirty="0"/>
              </a:p>
            </p:txBody>
          </p:sp>
        </p:grpSp>
        <p:grpSp>
          <p:nvGrpSpPr>
            <p:cNvPr id="12" name="Group 12">
              <a:extLst>
                <a:ext uri="{FF2B5EF4-FFF2-40B4-BE49-F238E27FC236}">
                  <a16:creationId xmlns:a16="http://schemas.microsoft.com/office/drawing/2014/main" id="{6536186E-1619-E92E-609F-C4F61BE56335}"/>
                </a:ext>
              </a:extLst>
            </p:cNvPr>
            <p:cNvGrpSpPr/>
            <p:nvPr/>
          </p:nvGrpSpPr>
          <p:grpSpPr>
            <a:xfrm>
              <a:off x="18545475" y="247188"/>
              <a:ext cx="1586845" cy="1627422"/>
              <a:chOff x="0" y="0"/>
              <a:chExt cx="1808366" cy="1854606"/>
            </a:xfrm>
          </p:grpSpPr>
          <p:sp>
            <p:nvSpPr>
              <p:cNvPr id="13" name="Freeform 13">
                <a:extLst>
                  <a:ext uri="{FF2B5EF4-FFF2-40B4-BE49-F238E27FC236}">
                    <a16:creationId xmlns:a16="http://schemas.microsoft.com/office/drawing/2014/main" id="{B319A6B7-5DFE-710E-4088-C9E4669C74FA}"/>
                  </a:ext>
                </a:extLst>
              </p:cNvPr>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5"/>
                <a:stretch>
                  <a:fillRect l="-63953" r="-63953" b="-1"/>
                </a:stretch>
              </a:blipFill>
            </p:spPr>
            <p:txBody>
              <a:bodyPr/>
              <a:lstStyle/>
              <a:p>
                <a:endParaRPr lang="en-US" dirty="0"/>
              </a:p>
            </p:txBody>
          </p:sp>
        </p:grpSp>
        <p:grpSp>
          <p:nvGrpSpPr>
            <p:cNvPr id="14" name="Group 14">
              <a:extLst>
                <a:ext uri="{FF2B5EF4-FFF2-40B4-BE49-F238E27FC236}">
                  <a16:creationId xmlns:a16="http://schemas.microsoft.com/office/drawing/2014/main" id="{8B402852-9F4B-45D5-4180-E8FE4FB6710F}"/>
                </a:ext>
              </a:extLst>
            </p:cNvPr>
            <p:cNvGrpSpPr/>
            <p:nvPr/>
          </p:nvGrpSpPr>
          <p:grpSpPr>
            <a:xfrm>
              <a:off x="20344893" y="291523"/>
              <a:ext cx="2992818" cy="1380820"/>
              <a:chOff x="0" y="0"/>
              <a:chExt cx="2992818" cy="1380820"/>
            </a:xfrm>
          </p:grpSpPr>
          <p:sp>
            <p:nvSpPr>
              <p:cNvPr id="15" name="Freeform 15">
                <a:extLst>
                  <a:ext uri="{FF2B5EF4-FFF2-40B4-BE49-F238E27FC236}">
                    <a16:creationId xmlns:a16="http://schemas.microsoft.com/office/drawing/2014/main" id="{D388BCA2-B6D1-22EC-D40D-82284D1A6C34}"/>
                  </a:ext>
                </a:extLst>
              </p:cNvPr>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6"/>
                <a:stretch>
                  <a:fillRect l="-1264" r="-1261" b="3"/>
                </a:stretch>
              </a:blipFill>
            </p:spPr>
            <p:txBody>
              <a:bodyPr/>
              <a:lstStyle/>
              <a:p>
                <a:endParaRPr lang="en-US" dirty="0"/>
              </a:p>
            </p:txBody>
          </p:sp>
        </p:grpSp>
        <p:sp>
          <p:nvSpPr>
            <p:cNvPr id="16" name="TextBox 16">
              <a:extLst>
                <a:ext uri="{FF2B5EF4-FFF2-40B4-BE49-F238E27FC236}">
                  <a16:creationId xmlns:a16="http://schemas.microsoft.com/office/drawing/2014/main" id="{E6622A89-EA46-A649-2196-6D9C4CC2119C}"/>
                </a:ext>
              </a:extLst>
            </p:cNvPr>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dirty="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dirty="0">
                  <a:solidFill>
                    <a:srgbClr val="692B39"/>
                  </a:solidFill>
                  <a:latin typeface="Times New Roman"/>
                  <a:ea typeface="Times New Roman"/>
                  <a:cs typeface="Times New Roman"/>
                  <a:sym typeface="Times New Roman"/>
                </a:rPr>
                <a:t>A </a:t>
              </a:r>
              <a:r>
                <a:rPr lang="en-US" sz="3399" dirty="0" err="1">
                  <a:solidFill>
                    <a:srgbClr val="692B39"/>
                  </a:solidFill>
                  <a:latin typeface="Times New Roman"/>
                  <a:ea typeface="Times New Roman"/>
                  <a:cs typeface="Times New Roman"/>
                  <a:sym typeface="Times New Roman"/>
                </a:rPr>
                <a:t>Goverment</a:t>
              </a:r>
              <a:r>
                <a:rPr lang="en-US" sz="3399">
                  <a:solidFill>
                    <a:srgbClr val="692B39"/>
                  </a:solidFill>
                  <a:latin typeface="Times New Roman"/>
                  <a:ea typeface="Times New Roman"/>
                  <a:cs typeface="Times New Roman"/>
                  <a:sym typeface="Times New Roman"/>
                </a:rPr>
                <a:t>-Aided Autonomous Institute</a:t>
              </a:r>
            </a:p>
          </p:txBody>
        </p:sp>
      </p:grpSp>
    </p:spTree>
    <p:extLst>
      <p:ext uri="{BB962C8B-B14F-4D97-AF65-F5344CB8AC3E}">
        <p14:creationId xmlns:p14="http://schemas.microsoft.com/office/powerpoint/2010/main" val="2329411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497465"/>
            <a:ext cx="17190720" cy="834396"/>
          </a:xfrm>
          <a:prstGeom prst="rect">
            <a:avLst/>
          </a:prstGeom>
        </p:spPr>
        <p:txBody>
          <a:bodyPr wrap="square" lIns="0" tIns="0" rIns="0" bIns="0" rtlCol="0" anchor="t">
            <a:spAutoFit/>
          </a:bodyPr>
          <a:lstStyle/>
          <a:p>
            <a:pPr algn="l">
              <a:lnSpc>
                <a:spcPts val="7279"/>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Project overview</a:t>
            </a:r>
          </a:p>
        </p:txBody>
      </p:sp>
      <p:sp>
        <p:nvSpPr>
          <p:cNvPr id="3" name="TextBox 3"/>
          <p:cNvSpPr txBox="1"/>
          <p:nvPr/>
        </p:nvSpPr>
        <p:spPr>
          <a:xfrm>
            <a:off x="548640" y="2514600"/>
            <a:ext cx="17190720" cy="4425570"/>
          </a:xfrm>
          <a:prstGeom prst="rect">
            <a:avLst/>
          </a:prstGeom>
        </p:spPr>
        <p:txBody>
          <a:bodyPr wrap="square" lIns="0" tIns="0" rIns="0" bIns="0" rtlCol="0" anchor="t">
            <a:spAutoFit/>
          </a:bodyPr>
          <a:lstStyle/>
          <a:p>
            <a:pPr algn="l">
              <a:lnSpc>
                <a:spcPct val="150000"/>
              </a:lnSpc>
              <a:spcAft>
                <a:spcPts val="1600"/>
              </a:spcAft>
            </a:pPr>
            <a:r>
              <a:rPr sz="3200" b="1" i="0" dirty="0">
                <a:solidFill>
                  <a:srgbClr val="1F2933"/>
                </a:solidFill>
                <a:latin typeface="Times New Roman" panose="02020603050405020304" pitchFamily="18" charset="0"/>
                <a:cs typeface="Times New Roman" panose="02020603050405020304" pitchFamily="18" charset="0"/>
              </a:rPr>
              <a:t>Title:</a:t>
            </a:r>
            <a:r>
              <a:rPr lang="en-IN" sz="3200" b="1" dirty="0">
                <a:solidFill>
                  <a:srgbClr val="1F2933"/>
                </a:solidFill>
                <a:latin typeface="Times New Roman" panose="02020603050405020304" pitchFamily="18" charset="0"/>
                <a:cs typeface="Times New Roman" panose="02020603050405020304" pitchFamily="18" charset="0"/>
              </a:rPr>
              <a:t> URJA – ‘</a:t>
            </a:r>
            <a:r>
              <a:rPr lang="en-IN" sz="3200" u="sng" dirty="0">
                <a:solidFill>
                  <a:srgbClr val="1F2933"/>
                </a:solidFill>
                <a:latin typeface="Times New Roman" panose="02020603050405020304" pitchFamily="18" charset="0"/>
                <a:cs typeface="Times New Roman" panose="02020603050405020304" pitchFamily="18" charset="0"/>
              </a:rPr>
              <a:t>Unified Renewable Joint Energy Architecture</a:t>
            </a:r>
            <a:r>
              <a:rPr lang="en-IN" sz="3200" dirty="0">
                <a:solidFill>
                  <a:srgbClr val="1F2933"/>
                </a:solidFill>
                <a:latin typeface="Times New Roman" panose="02020603050405020304" pitchFamily="18" charset="0"/>
                <a:cs typeface="Times New Roman" panose="02020603050405020304" pitchFamily="18" charset="0"/>
              </a:rPr>
              <a:t>’</a:t>
            </a:r>
          </a:p>
          <a:p>
            <a:pPr algn="l">
              <a:lnSpc>
                <a:spcPct val="150000"/>
              </a:lnSpc>
              <a:spcAft>
                <a:spcPts val="1600"/>
              </a:spcAft>
            </a:pPr>
            <a:r>
              <a:rPr sz="3200" b="1" i="0" dirty="0">
                <a:solidFill>
                  <a:srgbClr val="1F2933"/>
                </a:solidFill>
                <a:latin typeface="Times New Roman" panose="02020603050405020304" pitchFamily="18" charset="0"/>
                <a:cs typeface="Times New Roman" panose="02020603050405020304" pitchFamily="18" charset="0"/>
              </a:rPr>
              <a:t>Team:</a:t>
            </a:r>
            <a:r>
              <a:rPr lang="en-IN" sz="3200" b="1" i="0" dirty="0">
                <a:solidFill>
                  <a:srgbClr val="1F2933"/>
                </a:solidFill>
                <a:latin typeface="Times New Roman" panose="02020603050405020304" pitchFamily="18" charset="0"/>
                <a:cs typeface="Times New Roman" panose="02020603050405020304" pitchFamily="18" charset="0"/>
              </a:rPr>
              <a:t> </a:t>
            </a:r>
            <a:r>
              <a:rPr lang="en-IN" sz="3200" i="0" dirty="0">
                <a:solidFill>
                  <a:srgbClr val="1F2933"/>
                </a:solidFill>
                <a:latin typeface="Times New Roman" panose="02020603050405020304" pitchFamily="18" charset="0"/>
                <a:cs typeface="Times New Roman" panose="02020603050405020304" pitchFamily="18" charset="0"/>
              </a:rPr>
              <a:t>Amogh Aralkar, Ganesh Tatgunti, Mohammad Zakir, Pranali Shinde, Atharva Shrivastava</a:t>
            </a:r>
            <a:endParaRPr lang="en-IN" sz="3600" i="0" dirty="0">
              <a:solidFill>
                <a:srgbClr val="1F2933"/>
              </a:solidFill>
              <a:latin typeface="Times New Roman" panose="02020603050405020304" pitchFamily="18" charset="0"/>
              <a:cs typeface="Times New Roman" panose="02020603050405020304" pitchFamily="18" charset="0"/>
            </a:endParaRPr>
          </a:p>
          <a:p>
            <a:pPr algn="l">
              <a:lnSpc>
                <a:spcPct val="150000"/>
              </a:lnSpc>
              <a:spcAft>
                <a:spcPts val="1600"/>
              </a:spcAft>
            </a:pPr>
            <a:r>
              <a:rPr sz="3200" b="1" i="0" dirty="0">
                <a:solidFill>
                  <a:srgbClr val="1F2933"/>
                </a:solidFill>
                <a:latin typeface="Times New Roman" panose="02020603050405020304" pitchFamily="18" charset="0"/>
                <a:cs typeface="Times New Roman" panose="02020603050405020304" pitchFamily="18" charset="0"/>
              </a:rPr>
              <a:t>Category:</a:t>
            </a:r>
            <a:r>
              <a:rPr lang="en-IN" sz="3200" b="1" i="0" dirty="0">
                <a:solidFill>
                  <a:srgbClr val="1F2933"/>
                </a:solidFill>
                <a:latin typeface="Times New Roman" panose="02020603050405020304" pitchFamily="18" charset="0"/>
                <a:cs typeface="Times New Roman" panose="02020603050405020304" pitchFamily="18" charset="0"/>
              </a:rPr>
              <a:t> </a:t>
            </a:r>
            <a:r>
              <a:rPr lang="en-IN" sz="3200" i="0" dirty="0">
                <a:solidFill>
                  <a:srgbClr val="1F2933"/>
                </a:solidFill>
                <a:latin typeface="Times New Roman" panose="02020603050405020304" pitchFamily="18" charset="0"/>
                <a:cs typeface="Times New Roman" panose="02020603050405020304" pitchFamily="18" charset="0"/>
              </a:rPr>
              <a:t>Hardware</a:t>
            </a:r>
          </a:p>
          <a:p>
            <a:pPr algn="l">
              <a:lnSpc>
                <a:spcPct val="150000"/>
              </a:lnSpc>
              <a:spcAft>
                <a:spcPts val="1600"/>
              </a:spcAft>
            </a:pPr>
            <a:r>
              <a:rPr lang="en-IN" sz="3200" b="1" dirty="0">
                <a:solidFill>
                  <a:srgbClr val="1F2933"/>
                </a:solidFill>
                <a:latin typeface="Times New Roman" panose="02020603050405020304" pitchFamily="18" charset="0"/>
                <a:cs typeface="Times New Roman" panose="02020603050405020304" pitchFamily="18" charset="0"/>
              </a:rPr>
              <a:t>Problem Statement ID: PS38 – </a:t>
            </a:r>
            <a:r>
              <a:rPr lang="en-IN" sz="3200" dirty="0">
                <a:solidFill>
                  <a:srgbClr val="1F2933"/>
                </a:solidFill>
                <a:latin typeface="Times New Roman" panose="02020603050405020304" pitchFamily="18" charset="0"/>
                <a:cs typeface="Times New Roman" panose="02020603050405020304" pitchFamily="18" charset="0"/>
              </a:rPr>
              <a:t>Community Microgrid &amp; Load Sharing.</a:t>
            </a:r>
            <a:endParaRPr sz="2800" b="1" i="0" dirty="0">
              <a:solidFill>
                <a:srgbClr val="1F2933"/>
              </a:solidFill>
              <a:latin typeface="Times New Roman" panose="02020603050405020304" pitchFamily="18" charset="0"/>
              <a:cs typeface="Times New Roman" panose="02020603050405020304" pitchFamily="18" charset="0"/>
            </a:endParaRPr>
          </a:p>
          <a:p>
            <a:pPr algn="l">
              <a:lnSpc>
                <a:spcPct val="150000"/>
              </a:lnSpc>
              <a:spcAft>
                <a:spcPts val="1600"/>
              </a:spcAft>
            </a:pPr>
            <a:r>
              <a:rPr sz="3200" b="1" i="0" dirty="0">
                <a:solidFill>
                  <a:srgbClr val="1F2933"/>
                </a:solidFill>
                <a:latin typeface="Times New Roman" panose="02020603050405020304" pitchFamily="18" charset="0"/>
                <a:cs typeface="Times New Roman" panose="02020603050405020304" pitchFamily="18" charset="0"/>
              </a:rPr>
              <a:t>Track: </a:t>
            </a:r>
            <a:r>
              <a:rPr lang="en-IN" sz="3200" i="0" dirty="0">
                <a:solidFill>
                  <a:srgbClr val="1F2933"/>
                </a:solidFill>
                <a:latin typeface="Times New Roman" panose="02020603050405020304" pitchFamily="18" charset="0"/>
                <a:cs typeface="Times New Roman" panose="02020603050405020304" pitchFamily="18" charset="0"/>
              </a:rPr>
              <a:t>Renewable Energy</a:t>
            </a:r>
            <a:endParaRPr sz="2800" i="0" dirty="0">
              <a:solidFill>
                <a:srgbClr val="1F2933"/>
              </a:solidFill>
              <a:latin typeface="Times New Roman" panose="02020603050405020304" pitchFamily="18" charset="0"/>
              <a:cs typeface="Times New Roman" panose="02020603050405020304" pitchFamily="18" charset="0"/>
            </a:endParaRPr>
          </a:p>
        </p:txBody>
      </p:sp>
      <p:grpSp>
        <p:nvGrpSpPr>
          <p:cNvPr id="4" name="Group 4"/>
          <p:cNvGrpSpPr/>
          <p:nvPr/>
        </p:nvGrpSpPr>
        <p:grpSpPr>
          <a:xfrm>
            <a:off x="535200" y="-14246"/>
            <a:ext cx="17503283" cy="1576346"/>
            <a:chOff x="0" y="0"/>
            <a:chExt cx="23337711" cy="2101794"/>
          </a:xfrm>
        </p:grpSpPr>
        <p:grpSp>
          <p:nvGrpSpPr>
            <p:cNvPr id="5" name="Group 5"/>
            <p:cNvGrpSpPr/>
            <p:nvPr/>
          </p:nvGrpSpPr>
          <p:grpSpPr>
            <a:xfrm>
              <a:off x="0" y="0"/>
              <a:ext cx="2390534" cy="2101794"/>
              <a:chOff x="0" y="0"/>
              <a:chExt cx="2451880" cy="2155730"/>
            </a:xfrm>
          </p:grpSpPr>
          <p:sp>
            <p:nvSpPr>
              <p:cNvPr id="6" name="Freeform 6"/>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7" name="Group 7"/>
            <p:cNvGrpSpPr/>
            <p:nvPr/>
          </p:nvGrpSpPr>
          <p:grpSpPr>
            <a:xfrm>
              <a:off x="18545475" y="247188"/>
              <a:ext cx="1586845" cy="1627422"/>
              <a:chOff x="0" y="0"/>
              <a:chExt cx="1808366" cy="1854606"/>
            </a:xfrm>
          </p:grpSpPr>
          <p:sp>
            <p:nvSpPr>
              <p:cNvPr id="8" name="Freeform 8"/>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9" name="Group 9"/>
            <p:cNvGrpSpPr/>
            <p:nvPr/>
          </p:nvGrpSpPr>
          <p:grpSpPr>
            <a:xfrm>
              <a:off x="20344893" y="291523"/>
              <a:ext cx="2992818" cy="1380820"/>
              <a:chOff x="0" y="0"/>
              <a:chExt cx="2992818" cy="1380820"/>
            </a:xfrm>
          </p:grpSpPr>
          <p:sp>
            <p:nvSpPr>
              <p:cNvPr id="10" name="Freeform 10"/>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latin typeface="Times New Roman" panose="02020603050405020304" pitchFamily="18" charset="0"/>
                  <a:cs typeface="Times New Roman" panose="02020603050405020304" pitchFamily="18" charset="0"/>
                </a:endParaRPr>
              </a:p>
            </p:txBody>
          </p:sp>
        </p:grpSp>
        <p:sp>
          <p:nvSpPr>
            <p:cNvPr id="11" name="TextBox 11"/>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panose="02020603050405020304" pitchFamily="18" charset="0"/>
                  <a:ea typeface="Times New Roman"/>
                  <a:cs typeface="Times New Roman" panose="02020603050405020304" pitchFamily="18" charset="0"/>
                  <a:sym typeface="Times New Roman"/>
                </a:rPr>
                <a:t>Walchand College of Engineering, Sangli</a:t>
              </a:r>
            </a:p>
            <a:p>
              <a:pPr algn="ctr">
                <a:lnSpc>
                  <a:spcPts val="4759"/>
                </a:lnSpc>
              </a:pPr>
              <a:r>
                <a:rPr lang="en-US" sz="3399">
                  <a:solidFill>
                    <a:srgbClr val="692B39"/>
                  </a:solidFill>
                  <a:latin typeface="Times New Roman" panose="02020603050405020304" pitchFamily="18" charset="0"/>
                  <a:ea typeface="Times New Roman"/>
                  <a:cs typeface="Times New Roman" panose="02020603050405020304" pitchFamily="18" charset="0"/>
                  <a:sym typeface="Times New Roman"/>
                </a:rPr>
                <a:t>A Goverment-Aided Autonomous Institute</a:t>
              </a:r>
            </a:p>
          </p:txBody>
        </p:sp>
      </p:grpSp>
      <p:sp>
        <p:nvSpPr>
          <p:cNvPr id="12" name="Rounded Rectangle 11"/>
          <p:cNvSpPr/>
          <p:nvPr/>
        </p:nvSpPr>
        <p:spPr>
          <a:xfrm>
            <a:off x="457200" y="7122909"/>
            <a:ext cx="17190720" cy="27432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ctr">
            <a:noAutofit/>
          </a:bodyPr>
          <a:lstStyle/>
          <a:p>
            <a:pPr algn="just">
              <a:spcAft>
                <a:spcPts val="800"/>
              </a:spcAft>
            </a:pPr>
            <a:r>
              <a:rPr lang="en-IN" sz="2600" b="1" dirty="0">
                <a:solidFill>
                  <a:srgbClr val="B45309"/>
                </a:solidFill>
                <a:latin typeface="Times New Roman" panose="02020603050405020304" pitchFamily="18" charset="0"/>
                <a:cs typeface="Times New Roman" panose="02020603050405020304" pitchFamily="18" charset="0"/>
              </a:rPr>
              <a:t>1-line C</a:t>
            </a:r>
            <a:r>
              <a:rPr sz="2600" b="1" i="0" dirty="0">
                <a:solidFill>
                  <a:srgbClr val="B45309"/>
                </a:solidFill>
                <a:latin typeface="Times New Roman" panose="02020603050405020304" pitchFamily="18" charset="0"/>
                <a:cs typeface="Times New Roman" panose="02020603050405020304" pitchFamily="18" charset="0"/>
              </a:rPr>
              <a:t>ore innovation summary</a:t>
            </a:r>
          </a:p>
          <a:p>
            <a:pPr algn="just">
              <a:spcAft>
                <a:spcPts val="400"/>
              </a:spcAft>
            </a:pPr>
            <a:r>
              <a:rPr lang="en-IN" sz="2800" b="1" i="0" dirty="0">
                <a:solidFill>
                  <a:srgbClr val="1F2933"/>
                </a:solidFill>
                <a:latin typeface="Times New Roman" panose="02020603050405020304" pitchFamily="18" charset="0"/>
                <a:cs typeface="Times New Roman" panose="02020603050405020304" pitchFamily="18" charset="0"/>
              </a:rPr>
              <a:t>	</a:t>
            </a:r>
            <a:r>
              <a:rPr sz="2800" b="1" i="0" dirty="0">
                <a:solidFill>
                  <a:srgbClr val="1F2933"/>
                </a:solidFill>
                <a:latin typeface="Times New Roman" panose="02020603050405020304" pitchFamily="18" charset="0"/>
                <a:cs typeface="Times New Roman" panose="02020603050405020304" pitchFamily="18" charset="0"/>
              </a:rPr>
              <a:t>A community microgrid where neighbours share surplus solar through a prepaid energy ledger</a:t>
            </a:r>
            <a:r>
              <a:rPr lang="en-IN" sz="2800" b="1" i="0" dirty="0">
                <a:solidFill>
                  <a:srgbClr val="1F2933"/>
                </a:solidFill>
                <a:latin typeface="Times New Roman" panose="02020603050405020304" pitchFamily="18" charset="0"/>
                <a:cs typeface="Times New Roman" panose="02020603050405020304" pitchFamily="18" charset="0"/>
              </a:rPr>
              <a:t>: 4 ESP node controllers protect each house, the solar + battery plant and the community load, a main controller islands the community safely when the grid fails without ever cutting critical loads, and a Raspberry Pi shoes it all live on a dashboard.</a:t>
            </a:r>
            <a:endParaRPr sz="2800" b="1" i="0" dirty="0">
              <a:solidFill>
                <a:srgbClr val="1F2933"/>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34396"/>
          </a:xfrm>
          <a:prstGeom prst="rect">
            <a:avLst/>
          </a:prstGeom>
        </p:spPr>
        <p:txBody>
          <a:bodyPr wrap="square" lIns="0" tIns="0" rIns="0" bIns="0" rtlCol="0" anchor="t">
            <a:spAutoFit/>
          </a:bodyPr>
          <a:lstStyle/>
          <a:p>
            <a:pPr algn="l">
              <a:lnSpc>
                <a:spcPts val="7279"/>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Problem statement:</a:t>
            </a:r>
          </a:p>
        </p:txBody>
      </p:sp>
      <p:grpSp>
        <p:nvGrpSpPr>
          <p:cNvPr id="3" name="Group 3"/>
          <p:cNvGrpSpPr/>
          <p:nvPr/>
        </p:nvGrpSpPr>
        <p:grpSpPr>
          <a:xfrm>
            <a:off x="535200" y="-14246"/>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latin typeface="Times New Roman" panose="02020603050405020304" pitchFamily="18" charset="0"/>
                  <a:cs typeface="Times New Roman" panose="02020603050405020304" pitchFamily="18" charset="0"/>
                </a:endParaRPr>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dirty="0">
                  <a:solidFill>
                    <a:srgbClr val="692B39"/>
                  </a:solidFill>
                  <a:latin typeface="Times New Roman" panose="02020603050405020304" pitchFamily="18" charset="0"/>
                  <a:ea typeface="Times New Roman"/>
                  <a:cs typeface="Times New Roman" panose="02020603050405020304" pitchFamily="18" charset="0"/>
                  <a:sym typeface="Times New Roman"/>
                </a:rPr>
                <a:t>Walchand College of Engineering, Sangli</a:t>
              </a:r>
            </a:p>
            <a:p>
              <a:pPr algn="ctr">
                <a:lnSpc>
                  <a:spcPts val="4759"/>
                </a:lnSpc>
              </a:pPr>
              <a:r>
                <a:rPr lang="en-US" sz="3399" dirty="0">
                  <a:solidFill>
                    <a:srgbClr val="692B39"/>
                  </a:solidFill>
                  <a:latin typeface="Times New Roman" panose="02020603050405020304" pitchFamily="18" charset="0"/>
                  <a:ea typeface="Times New Roman"/>
                  <a:cs typeface="Times New Roman" panose="02020603050405020304" pitchFamily="18" charset="0"/>
                  <a:sym typeface="Times New Roman"/>
                </a:rPr>
                <a:t>A </a:t>
              </a:r>
              <a:r>
                <a:rPr lang="en-US" sz="3399" dirty="0" err="1">
                  <a:solidFill>
                    <a:srgbClr val="692B39"/>
                  </a:solidFill>
                  <a:latin typeface="Times New Roman" panose="02020603050405020304" pitchFamily="18" charset="0"/>
                  <a:ea typeface="Times New Roman"/>
                  <a:cs typeface="Times New Roman" panose="02020603050405020304" pitchFamily="18" charset="0"/>
                  <a:sym typeface="Times New Roman"/>
                </a:rPr>
                <a:t>Goverment</a:t>
              </a:r>
              <a:r>
                <a:rPr lang="en-US" sz="3399" dirty="0">
                  <a:solidFill>
                    <a:srgbClr val="692B39"/>
                  </a:solidFill>
                  <a:latin typeface="Times New Roman" panose="02020603050405020304" pitchFamily="18" charset="0"/>
                  <a:ea typeface="Times New Roman"/>
                  <a:cs typeface="Times New Roman" panose="02020603050405020304" pitchFamily="18" charset="0"/>
                  <a:sym typeface="Times New Roman"/>
                </a:rPr>
                <a:t>-Aided Autonomous Institute</a:t>
              </a:r>
            </a:p>
          </p:txBody>
        </p:sp>
      </p:grpSp>
      <p:sp>
        <p:nvSpPr>
          <p:cNvPr id="11" name="Rounded Rectangle 10"/>
          <p:cNvSpPr/>
          <p:nvPr/>
        </p:nvSpPr>
        <p:spPr>
          <a:xfrm>
            <a:off x="548640" y="2468880"/>
            <a:ext cx="7680960" cy="722376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t">
            <a:noAutofit/>
          </a:bodyPr>
          <a:lstStyle/>
          <a:p>
            <a:pPr algn="l">
              <a:spcAft>
                <a:spcPts val="1200"/>
              </a:spcAft>
            </a:pPr>
            <a:r>
              <a:rPr sz="2600" b="1" i="0" dirty="0">
                <a:solidFill>
                  <a:srgbClr val="7A1F2B"/>
                </a:solidFill>
                <a:latin typeface="Times New Roman" panose="02020603050405020304" pitchFamily="18" charset="0"/>
                <a:cs typeface="Times New Roman" panose="02020603050405020304" pitchFamily="18" charset="0"/>
              </a:rPr>
              <a:t>PS #38 in brief</a:t>
            </a:r>
          </a:p>
          <a:p>
            <a:pPr algn="l">
              <a:spcAft>
                <a:spcPts val="1400"/>
              </a:spcAft>
            </a:pPr>
            <a:r>
              <a:rPr sz="2600" b="0" i="0" dirty="0">
                <a:solidFill>
                  <a:srgbClr val="1F2933"/>
                </a:solidFill>
                <a:latin typeface="Times New Roman" panose="02020603050405020304" pitchFamily="18" charset="0"/>
                <a:cs typeface="Times New Roman" panose="02020603050405020304" pitchFamily="18" charset="0"/>
              </a:rPr>
              <a:t>Build an intelligent microgrid controller that detects grid failure, manages locally generated renewable energy and storage, prioritizes critical loads, and safely manages the transition from grid-connected to islanded operation.</a:t>
            </a:r>
          </a:p>
          <a:p>
            <a:pPr algn="l">
              <a:spcAft>
                <a:spcPts val="0"/>
              </a:spcAft>
            </a:pPr>
            <a:r>
              <a:rPr sz="2600" b="0" i="0" dirty="0">
                <a:solidFill>
                  <a:srgbClr val="1F2933"/>
                </a:solidFill>
                <a:latin typeface="Times New Roman" panose="02020603050405020304" pitchFamily="18" charset="0"/>
                <a:cs typeface="Times New Roman" panose="02020603050405020304" pitchFamily="18" charset="0"/>
              </a:rPr>
              <a:t>Energy sharing: let neighboring households trade and route localized solar power.</a:t>
            </a:r>
          </a:p>
        </p:txBody>
      </p:sp>
      <p:sp>
        <p:nvSpPr>
          <p:cNvPr id="12" name="Oval 11"/>
          <p:cNvSpPr/>
          <p:nvPr/>
        </p:nvSpPr>
        <p:spPr>
          <a:xfrm>
            <a:off x="8778240" y="269748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Times New Roman" panose="02020603050405020304" pitchFamily="18" charset="0"/>
                <a:cs typeface="Times New Roman" panose="02020603050405020304" pitchFamily="18" charset="0"/>
              </a:rPr>
              <a:t>1</a:t>
            </a:r>
          </a:p>
        </p:txBody>
      </p:sp>
      <p:sp>
        <p:nvSpPr>
          <p:cNvPr id="13" name="TextBox 12"/>
          <p:cNvSpPr txBox="1"/>
          <p:nvPr/>
        </p:nvSpPr>
        <p:spPr>
          <a:xfrm>
            <a:off x="9692640" y="251460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Times New Roman" panose="02020603050405020304" pitchFamily="18" charset="0"/>
                <a:cs typeface="Times New Roman" panose="02020603050405020304" pitchFamily="18" charset="0"/>
              </a:rPr>
              <a:t>Solar surplus is not shared</a:t>
            </a:r>
          </a:p>
          <a:p>
            <a:pPr algn="l">
              <a:spcAft>
                <a:spcPts val="600"/>
              </a:spcAft>
            </a:pPr>
            <a:r>
              <a:rPr sz="2100" b="0" i="0">
                <a:solidFill>
                  <a:srgbClr val="4B5563"/>
                </a:solidFill>
                <a:latin typeface="Times New Roman" panose="02020603050405020304" pitchFamily="18" charset="0"/>
                <a:cs typeface="Times New Roman" panose="02020603050405020304" pitchFamily="18" charset="0"/>
              </a:rPr>
              <a:t>A home with spare rooftop solar cannot sell it to the neighbour next door; it is wasted or exported cheaply.</a:t>
            </a:r>
          </a:p>
        </p:txBody>
      </p:sp>
      <p:sp>
        <p:nvSpPr>
          <p:cNvPr id="14" name="Oval 13"/>
          <p:cNvSpPr/>
          <p:nvPr/>
        </p:nvSpPr>
        <p:spPr>
          <a:xfrm>
            <a:off x="8778240" y="416052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Times New Roman" panose="02020603050405020304" pitchFamily="18" charset="0"/>
                <a:cs typeface="Times New Roman" panose="02020603050405020304" pitchFamily="18" charset="0"/>
              </a:rPr>
              <a:t>2</a:t>
            </a:r>
          </a:p>
        </p:txBody>
      </p:sp>
      <p:sp>
        <p:nvSpPr>
          <p:cNvPr id="15" name="TextBox 14"/>
          <p:cNvSpPr txBox="1"/>
          <p:nvPr/>
        </p:nvSpPr>
        <p:spPr>
          <a:xfrm>
            <a:off x="9692640" y="397764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Times New Roman" panose="02020603050405020304" pitchFamily="18" charset="0"/>
                <a:cs typeface="Times New Roman" panose="02020603050405020304" pitchFamily="18" charset="0"/>
              </a:rPr>
              <a:t>No fair way to trade locally</a:t>
            </a:r>
          </a:p>
          <a:p>
            <a:pPr algn="l">
              <a:spcAft>
                <a:spcPts val="600"/>
              </a:spcAft>
            </a:pPr>
            <a:r>
              <a:rPr sz="2100" b="0" i="0">
                <a:solidFill>
                  <a:srgbClr val="4B5563"/>
                </a:solidFill>
                <a:latin typeface="Times New Roman" panose="02020603050405020304" pitchFamily="18" charset="0"/>
                <a:cs typeface="Times New Roman" panose="02020603050405020304" pitchFamily="18" charset="0"/>
              </a:rPr>
              <a:t>Sharing needs per-household metering and a prepaid record of who bought and sold what.</a:t>
            </a:r>
          </a:p>
        </p:txBody>
      </p:sp>
      <p:sp>
        <p:nvSpPr>
          <p:cNvPr id="16" name="Oval 15"/>
          <p:cNvSpPr/>
          <p:nvPr/>
        </p:nvSpPr>
        <p:spPr>
          <a:xfrm>
            <a:off x="8778240" y="562356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Times New Roman" panose="02020603050405020304" pitchFamily="18" charset="0"/>
                <a:cs typeface="Times New Roman" panose="02020603050405020304" pitchFamily="18" charset="0"/>
              </a:rPr>
              <a:t>3</a:t>
            </a:r>
          </a:p>
        </p:txBody>
      </p:sp>
      <p:sp>
        <p:nvSpPr>
          <p:cNvPr id="17" name="TextBox 16"/>
          <p:cNvSpPr txBox="1"/>
          <p:nvPr/>
        </p:nvSpPr>
        <p:spPr>
          <a:xfrm>
            <a:off x="9692640" y="544068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Times New Roman" panose="02020603050405020304" pitchFamily="18" charset="0"/>
                <a:cs typeface="Times New Roman" panose="02020603050405020304" pitchFamily="18" charset="0"/>
              </a:rPr>
              <a:t>Outages hit essentials first</a:t>
            </a:r>
          </a:p>
          <a:p>
            <a:pPr algn="l">
              <a:spcAft>
                <a:spcPts val="600"/>
              </a:spcAft>
            </a:pPr>
            <a:r>
              <a:rPr sz="2100" b="0" i="0">
                <a:solidFill>
                  <a:srgbClr val="4B5563"/>
                </a:solidFill>
                <a:latin typeface="Times New Roman" panose="02020603050405020304" pitchFamily="18" charset="0"/>
                <a:cs typeface="Times New Roman" panose="02020603050405020304" pitchFamily="18" charset="0"/>
              </a:rPr>
              <a:t>When the grid fails, every load goes dark, including the ones that matter most.</a:t>
            </a:r>
          </a:p>
        </p:txBody>
      </p:sp>
      <p:sp>
        <p:nvSpPr>
          <p:cNvPr id="18" name="Oval 17"/>
          <p:cNvSpPr/>
          <p:nvPr/>
        </p:nvSpPr>
        <p:spPr>
          <a:xfrm>
            <a:off x="8778240" y="708660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Times New Roman" panose="02020603050405020304" pitchFamily="18" charset="0"/>
                <a:cs typeface="Times New Roman" panose="02020603050405020304" pitchFamily="18" charset="0"/>
              </a:rPr>
              <a:t>4</a:t>
            </a:r>
          </a:p>
        </p:txBody>
      </p:sp>
      <p:sp>
        <p:nvSpPr>
          <p:cNvPr id="19" name="TextBox 18"/>
          <p:cNvSpPr txBox="1"/>
          <p:nvPr/>
        </p:nvSpPr>
        <p:spPr>
          <a:xfrm>
            <a:off x="9692640" y="690372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Times New Roman" panose="02020603050405020304" pitchFamily="18" charset="0"/>
                <a:cs typeface="Times New Roman" panose="02020603050405020304" pitchFamily="18" charset="0"/>
              </a:rPr>
              <a:t>Islanding must be safe</a:t>
            </a:r>
          </a:p>
          <a:p>
            <a:pPr algn="l">
              <a:spcAft>
                <a:spcPts val="600"/>
              </a:spcAft>
            </a:pPr>
            <a:r>
              <a:rPr sz="2100" b="0" i="0">
                <a:solidFill>
                  <a:srgbClr val="4B5563"/>
                </a:solidFill>
                <a:latin typeface="Times New Roman" panose="02020603050405020304" pitchFamily="18" charset="0"/>
                <a:cs typeface="Times New Roman" panose="02020603050405020304" pitchFamily="18" charset="0"/>
              </a:rPr>
              <a:t>The community must disconnect from a dead grid (no back-feed) and reconnect smoothly.</a:t>
            </a:r>
          </a:p>
        </p:txBody>
      </p:sp>
      <p:sp>
        <p:nvSpPr>
          <p:cNvPr id="20" name="Oval 19"/>
          <p:cNvSpPr/>
          <p:nvPr/>
        </p:nvSpPr>
        <p:spPr>
          <a:xfrm>
            <a:off x="8778240" y="854964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Times New Roman" panose="02020603050405020304" pitchFamily="18" charset="0"/>
                <a:cs typeface="Times New Roman" panose="02020603050405020304" pitchFamily="18" charset="0"/>
              </a:rPr>
              <a:t>5</a:t>
            </a:r>
          </a:p>
        </p:txBody>
      </p:sp>
      <p:sp>
        <p:nvSpPr>
          <p:cNvPr id="21" name="TextBox 20"/>
          <p:cNvSpPr txBox="1"/>
          <p:nvPr/>
        </p:nvSpPr>
        <p:spPr>
          <a:xfrm>
            <a:off x="9692640" y="836676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Times New Roman" panose="02020603050405020304" pitchFamily="18" charset="0"/>
                <a:cs typeface="Times New Roman" panose="02020603050405020304" pitchFamily="18" charset="0"/>
              </a:rPr>
              <a:t>Storage is used blindly</a:t>
            </a:r>
          </a:p>
          <a:p>
            <a:pPr algn="l">
              <a:spcAft>
                <a:spcPts val="600"/>
              </a:spcAft>
            </a:pPr>
            <a:r>
              <a:rPr sz="2100" b="0" i="0">
                <a:solidFill>
                  <a:srgbClr val="4B5563"/>
                </a:solidFill>
                <a:latin typeface="Times New Roman" panose="02020603050405020304" pitchFamily="18" charset="0"/>
                <a:cs typeface="Times New Roman" panose="02020603050405020304" pitchFamily="18" charset="0"/>
              </a:rPr>
              <a:t>Batteries charge and discharge without regard to price or neighbours' needs.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34396"/>
          </a:xfrm>
          <a:prstGeom prst="rect">
            <a:avLst/>
          </a:prstGeom>
        </p:spPr>
        <p:txBody>
          <a:bodyPr wrap="square" lIns="0" tIns="0" rIns="0" bIns="0" rtlCol="0" anchor="t">
            <a:spAutoFit/>
          </a:bodyPr>
          <a:lstStyle/>
          <a:p>
            <a:pPr algn="l">
              <a:lnSpc>
                <a:spcPts val="7279"/>
              </a:lnSpc>
            </a:pPr>
            <a:r>
              <a:rPr lang="en-US" sz="4400" b="1">
                <a:solidFill>
                  <a:srgbClr val="000000"/>
                </a:solidFill>
                <a:latin typeface="Times New Roman" panose="02020603050405020304" pitchFamily="18" charset="0"/>
                <a:ea typeface="Canva Sans Bold"/>
                <a:cs typeface="Times New Roman" panose="02020603050405020304" pitchFamily="18" charset="0"/>
                <a:sym typeface="Canva Sans Bold"/>
              </a:rPr>
              <a:t>Proposed solution:</a:t>
            </a:r>
          </a:p>
        </p:txBody>
      </p:sp>
      <p:grpSp>
        <p:nvGrpSpPr>
          <p:cNvPr id="3" name="Group 3"/>
          <p:cNvGrpSpPr/>
          <p:nvPr/>
        </p:nvGrpSpPr>
        <p:grpSpPr>
          <a:xfrm>
            <a:off x="535200" y="38100"/>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latin typeface="Times New Roman" panose="02020603050405020304" pitchFamily="18" charset="0"/>
                  <a:cs typeface="Times New Roman" panose="02020603050405020304" pitchFamily="18" charset="0"/>
                </a:endParaRPr>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dirty="0">
                  <a:solidFill>
                    <a:srgbClr val="692B39"/>
                  </a:solidFill>
                  <a:latin typeface="Times New Roman" panose="02020603050405020304" pitchFamily="18" charset="0"/>
                  <a:ea typeface="Times New Roman"/>
                  <a:cs typeface="Times New Roman" panose="02020603050405020304" pitchFamily="18" charset="0"/>
                  <a:sym typeface="Times New Roman"/>
                </a:rPr>
                <a:t>Walchand College of Engineering, Sangli</a:t>
              </a:r>
            </a:p>
            <a:p>
              <a:pPr algn="ctr">
                <a:lnSpc>
                  <a:spcPts val="4759"/>
                </a:lnSpc>
              </a:pPr>
              <a:r>
                <a:rPr lang="en-US" sz="3399" dirty="0">
                  <a:solidFill>
                    <a:srgbClr val="692B39"/>
                  </a:solidFill>
                  <a:latin typeface="Times New Roman" panose="02020603050405020304" pitchFamily="18" charset="0"/>
                  <a:ea typeface="Times New Roman"/>
                  <a:cs typeface="Times New Roman" panose="02020603050405020304" pitchFamily="18" charset="0"/>
                  <a:sym typeface="Times New Roman"/>
                </a:rPr>
                <a:t>A </a:t>
              </a:r>
              <a:r>
                <a:rPr lang="en-US" sz="3399" dirty="0" err="1">
                  <a:solidFill>
                    <a:srgbClr val="692B39"/>
                  </a:solidFill>
                  <a:latin typeface="Times New Roman" panose="02020603050405020304" pitchFamily="18" charset="0"/>
                  <a:ea typeface="Times New Roman"/>
                  <a:cs typeface="Times New Roman" panose="02020603050405020304" pitchFamily="18" charset="0"/>
                  <a:sym typeface="Times New Roman"/>
                </a:rPr>
                <a:t>Goverment</a:t>
              </a:r>
              <a:r>
                <a:rPr lang="en-US" sz="3399" dirty="0">
                  <a:solidFill>
                    <a:srgbClr val="692B39"/>
                  </a:solidFill>
                  <a:latin typeface="Times New Roman" panose="02020603050405020304" pitchFamily="18" charset="0"/>
                  <a:ea typeface="Times New Roman"/>
                  <a:cs typeface="Times New Roman" panose="02020603050405020304" pitchFamily="18" charset="0"/>
                  <a:sym typeface="Times New Roman"/>
                </a:rPr>
                <a:t>-Aided Autonomous Institute</a:t>
              </a:r>
            </a:p>
          </p:txBody>
        </p:sp>
      </p:grpSp>
      <p:sp>
        <p:nvSpPr>
          <p:cNvPr id="12" name="TextBox 11"/>
          <p:cNvSpPr txBox="1"/>
          <p:nvPr/>
        </p:nvSpPr>
        <p:spPr>
          <a:xfrm>
            <a:off x="562288" y="2350008"/>
            <a:ext cx="7315200" cy="457200"/>
          </a:xfrm>
          <a:prstGeom prst="rect">
            <a:avLst/>
          </a:prstGeom>
          <a:noFill/>
        </p:spPr>
        <p:txBody>
          <a:bodyPr wrap="square" lIns="0" tIns="0" rIns="0" bIns="0" anchor="t">
            <a:noAutofit/>
          </a:bodyPr>
          <a:lstStyle/>
          <a:p>
            <a:pPr algn="l">
              <a:spcAft>
                <a:spcPts val="600"/>
              </a:spcAft>
            </a:pPr>
            <a:r>
              <a:rPr lang="en-IN" sz="2000" b="1" i="0" dirty="0">
                <a:solidFill>
                  <a:srgbClr val="0F766E"/>
                </a:solidFill>
                <a:latin typeface="Times New Roman" panose="02020603050405020304" pitchFamily="18" charset="0"/>
                <a:cs typeface="Times New Roman" panose="02020603050405020304" pitchFamily="18" charset="0"/>
              </a:rPr>
              <a:t>Power System </a:t>
            </a:r>
            <a:r>
              <a:rPr sz="2000" b="1" i="0" dirty="0">
                <a:solidFill>
                  <a:srgbClr val="0F766E"/>
                </a:solidFill>
                <a:latin typeface="Times New Roman" panose="02020603050405020304" pitchFamily="18" charset="0"/>
                <a:cs typeface="Times New Roman" panose="02020603050405020304" pitchFamily="18" charset="0"/>
              </a:rPr>
              <a:t>Simulated in MATLAB (AC microgrid)</a:t>
            </a:r>
          </a:p>
        </p:txBody>
      </p:sp>
      <p:sp>
        <p:nvSpPr>
          <p:cNvPr id="34" name="Oval 33"/>
          <p:cNvSpPr/>
          <p:nvPr/>
        </p:nvSpPr>
        <p:spPr>
          <a:xfrm>
            <a:off x="12435840" y="2578608"/>
            <a:ext cx="594360" cy="594360"/>
          </a:xfrm>
          <a:prstGeom prst="ellipse">
            <a:avLst/>
          </a:prstGeom>
          <a:solidFill>
            <a:schemeClr val="accent6">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Times New Roman" panose="02020603050405020304" pitchFamily="18" charset="0"/>
                <a:cs typeface="Times New Roman" panose="02020603050405020304" pitchFamily="18" charset="0"/>
              </a:rPr>
              <a:t>1</a:t>
            </a:r>
          </a:p>
        </p:txBody>
      </p:sp>
      <p:sp>
        <p:nvSpPr>
          <p:cNvPr id="35" name="TextBox 34"/>
          <p:cNvSpPr txBox="1"/>
          <p:nvPr/>
        </p:nvSpPr>
        <p:spPr>
          <a:xfrm>
            <a:off x="13213080" y="2468880"/>
            <a:ext cx="4526280" cy="1188720"/>
          </a:xfrm>
          <a:prstGeom prst="rect">
            <a:avLst/>
          </a:prstGeom>
          <a:noFill/>
        </p:spPr>
        <p:txBody>
          <a:bodyPr wrap="square" lIns="0" tIns="0" rIns="0" bIns="0" anchor="t">
            <a:noAutofit/>
          </a:bodyPr>
          <a:lstStyle/>
          <a:p>
            <a:pPr algn="l">
              <a:spcAft>
                <a:spcPts val="100"/>
              </a:spcAft>
            </a:pPr>
            <a:r>
              <a:rPr sz="2100" b="1" i="0" dirty="0">
                <a:solidFill>
                  <a:srgbClr val="1F2933"/>
                </a:solidFill>
                <a:latin typeface="Times New Roman" panose="02020603050405020304" pitchFamily="18" charset="0"/>
                <a:cs typeface="Times New Roman" panose="02020603050405020304" pitchFamily="18" charset="0"/>
              </a:rPr>
              <a:t>Peer-to-peer energy sharing</a:t>
            </a:r>
          </a:p>
          <a:p>
            <a:pPr algn="l">
              <a:spcAft>
                <a:spcPts val="600"/>
              </a:spcAft>
            </a:pPr>
            <a:r>
              <a:rPr sz="1700" b="0" i="0" dirty="0">
                <a:solidFill>
                  <a:srgbClr val="4B5563"/>
                </a:solidFill>
                <a:latin typeface="Times New Roman" panose="02020603050405020304" pitchFamily="18" charset="0"/>
                <a:cs typeface="Times New Roman" panose="02020603050405020304" pitchFamily="18" charset="0"/>
              </a:rPr>
              <a:t>Surplus solar </a:t>
            </a:r>
            <a:r>
              <a:rPr lang="en-IN" sz="1700" dirty="0">
                <a:solidFill>
                  <a:srgbClr val="4B5563"/>
                </a:solidFill>
                <a:latin typeface="Times New Roman" panose="02020603050405020304" pitchFamily="18" charset="0"/>
                <a:cs typeface="Times New Roman" panose="02020603050405020304" pitchFamily="18" charset="0"/>
              </a:rPr>
              <a:t>fr</a:t>
            </a:r>
            <a:r>
              <a:rPr lang="en-IN" sz="1700" b="0" i="0" dirty="0">
                <a:solidFill>
                  <a:srgbClr val="4B5563"/>
                </a:solidFill>
                <a:latin typeface="Times New Roman" panose="02020603050405020304" pitchFamily="18" charset="0"/>
                <a:cs typeface="Times New Roman" panose="02020603050405020304" pitchFamily="18" charset="0"/>
              </a:rPr>
              <a:t>om House 1 and the community plant flows to House 2 and the community load.</a:t>
            </a:r>
            <a:endParaRPr sz="1700" b="0" i="0" dirty="0">
              <a:solidFill>
                <a:srgbClr val="4B5563"/>
              </a:solidFill>
              <a:latin typeface="Times New Roman" panose="02020603050405020304" pitchFamily="18" charset="0"/>
              <a:cs typeface="Times New Roman" panose="02020603050405020304" pitchFamily="18" charset="0"/>
            </a:endParaRPr>
          </a:p>
        </p:txBody>
      </p:sp>
      <p:sp>
        <p:nvSpPr>
          <p:cNvPr id="36" name="Oval 35"/>
          <p:cNvSpPr/>
          <p:nvPr/>
        </p:nvSpPr>
        <p:spPr>
          <a:xfrm>
            <a:off x="12435840" y="5010912"/>
            <a:ext cx="594360" cy="594360"/>
          </a:xfrm>
          <a:prstGeom prst="ellipse">
            <a:avLst/>
          </a:prstGeom>
          <a:solidFill>
            <a:schemeClr val="accent6">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Times New Roman" panose="02020603050405020304" pitchFamily="18" charset="0"/>
                <a:cs typeface="Times New Roman" panose="02020603050405020304" pitchFamily="18" charset="0"/>
              </a:rPr>
              <a:t>3</a:t>
            </a:r>
          </a:p>
        </p:txBody>
      </p:sp>
      <p:sp>
        <p:nvSpPr>
          <p:cNvPr id="37" name="TextBox 36"/>
          <p:cNvSpPr txBox="1"/>
          <p:nvPr/>
        </p:nvSpPr>
        <p:spPr>
          <a:xfrm>
            <a:off x="13213080" y="4901184"/>
            <a:ext cx="4526280" cy="1188720"/>
          </a:xfrm>
          <a:prstGeom prst="rect">
            <a:avLst/>
          </a:prstGeom>
          <a:noFill/>
        </p:spPr>
        <p:txBody>
          <a:bodyPr wrap="square" lIns="0" tIns="0" rIns="0" bIns="0" anchor="t">
            <a:noAutofit/>
          </a:bodyPr>
          <a:lstStyle/>
          <a:p>
            <a:pPr algn="l">
              <a:spcAft>
                <a:spcPts val="100"/>
              </a:spcAft>
            </a:pPr>
            <a:r>
              <a:rPr sz="2100" b="1" i="0" dirty="0">
                <a:solidFill>
                  <a:srgbClr val="1F2933"/>
                </a:solidFill>
                <a:latin typeface="Times New Roman" panose="02020603050405020304" pitchFamily="18" charset="0"/>
                <a:cs typeface="Times New Roman" panose="02020603050405020304" pitchFamily="18" charset="0"/>
              </a:rPr>
              <a:t>Prepaid energy ledger</a:t>
            </a:r>
          </a:p>
          <a:p>
            <a:pPr algn="l">
              <a:spcAft>
                <a:spcPts val="600"/>
              </a:spcAft>
            </a:pPr>
            <a:r>
              <a:rPr sz="1700" b="0" i="0" dirty="0">
                <a:solidFill>
                  <a:srgbClr val="4B5563"/>
                </a:solidFill>
                <a:latin typeface="Times New Roman" panose="02020603050405020304" pitchFamily="18" charset="0"/>
                <a:cs typeface="Times New Roman" panose="02020603050405020304" pitchFamily="18" charset="0"/>
              </a:rPr>
              <a:t>Each house's import/export is metered and settled as credit.</a:t>
            </a:r>
          </a:p>
        </p:txBody>
      </p:sp>
      <p:sp>
        <p:nvSpPr>
          <p:cNvPr id="38" name="Oval 37"/>
          <p:cNvSpPr/>
          <p:nvPr/>
        </p:nvSpPr>
        <p:spPr>
          <a:xfrm>
            <a:off x="12435840" y="6227064"/>
            <a:ext cx="594360" cy="594360"/>
          </a:xfrm>
          <a:prstGeom prst="ellipse">
            <a:avLst/>
          </a:prstGeom>
          <a:solidFill>
            <a:schemeClr val="accent6">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Times New Roman" panose="02020603050405020304" pitchFamily="18" charset="0"/>
                <a:cs typeface="Times New Roman" panose="02020603050405020304" pitchFamily="18" charset="0"/>
              </a:rPr>
              <a:t>4</a:t>
            </a:r>
          </a:p>
        </p:txBody>
      </p:sp>
      <p:sp>
        <p:nvSpPr>
          <p:cNvPr id="39" name="TextBox 38"/>
          <p:cNvSpPr txBox="1"/>
          <p:nvPr/>
        </p:nvSpPr>
        <p:spPr>
          <a:xfrm>
            <a:off x="13213080" y="6117336"/>
            <a:ext cx="4526280" cy="1188720"/>
          </a:xfrm>
          <a:prstGeom prst="rect">
            <a:avLst/>
          </a:prstGeom>
          <a:noFill/>
        </p:spPr>
        <p:txBody>
          <a:bodyPr wrap="square" lIns="0" tIns="0" rIns="0" bIns="0" anchor="t">
            <a:noAutofit/>
          </a:bodyPr>
          <a:lstStyle/>
          <a:p>
            <a:pPr algn="l">
              <a:spcAft>
                <a:spcPts val="100"/>
              </a:spcAft>
            </a:pPr>
            <a:r>
              <a:rPr sz="2100" b="1" i="0" dirty="0">
                <a:solidFill>
                  <a:srgbClr val="1F2933"/>
                </a:solidFill>
                <a:latin typeface="Times New Roman" panose="02020603050405020304" pitchFamily="18" charset="0"/>
                <a:cs typeface="Times New Roman" panose="02020603050405020304" pitchFamily="18" charset="0"/>
              </a:rPr>
              <a:t>Grid-failure detection &amp; islanding</a:t>
            </a:r>
          </a:p>
          <a:p>
            <a:pPr algn="l">
              <a:spcAft>
                <a:spcPts val="600"/>
              </a:spcAft>
            </a:pPr>
            <a:r>
              <a:rPr sz="1700" b="0" i="0" dirty="0">
                <a:solidFill>
                  <a:srgbClr val="4B5563"/>
                </a:solidFill>
                <a:latin typeface="Times New Roman" panose="02020603050405020304" pitchFamily="18" charset="0"/>
                <a:cs typeface="Times New Roman" panose="02020603050405020304" pitchFamily="18" charset="0"/>
              </a:rPr>
              <a:t>Controller opens the grid switch and the battery holds the community up.</a:t>
            </a:r>
          </a:p>
        </p:txBody>
      </p:sp>
      <p:sp>
        <p:nvSpPr>
          <p:cNvPr id="40" name="Oval 39"/>
          <p:cNvSpPr/>
          <p:nvPr/>
        </p:nvSpPr>
        <p:spPr>
          <a:xfrm>
            <a:off x="12435840" y="7443215"/>
            <a:ext cx="594360" cy="594360"/>
          </a:xfrm>
          <a:prstGeom prst="ellipse">
            <a:avLst/>
          </a:prstGeom>
          <a:solidFill>
            <a:schemeClr val="accent6">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Times New Roman" panose="02020603050405020304" pitchFamily="18" charset="0"/>
                <a:cs typeface="Times New Roman" panose="02020603050405020304" pitchFamily="18" charset="0"/>
              </a:rPr>
              <a:t>5</a:t>
            </a:r>
          </a:p>
        </p:txBody>
      </p:sp>
      <p:sp>
        <p:nvSpPr>
          <p:cNvPr id="41" name="TextBox 40"/>
          <p:cNvSpPr txBox="1"/>
          <p:nvPr/>
        </p:nvSpPr>
        <p:spPr>
          <a:xfrm>
            <a:off x="13213080" y="7333488"/>
            <a:ext cx="4526280" cy="1188720"/>
          </a:xfrm>
          <a:prstGeom prst="rect">
            <a:avLst/>
          </a:prstGeom>
          <a:noFill/>
        </p:spPr>
        <p:txBody>
          <a:bodyPr wrap="square" lIns="0" tIns="0" rIns="0" bIns="0" anchor="t">
            <a:noAutofit/>
          </a:bodyPr>
          <a:lstStyle/>
          <a:p>
            <a:pPr algn="l">
              <a:spcAft>
                <a:spcPts val="100"/>
              </a:spcAft>
            </a:pPr>
            <a:r>
              <a:rPr sz="2100" b="1" i="0" dirty="0">
                <a:solidFill>
                  <a:srgbClr val="1F2933"/>
                </a:solidFill>
                <a:latin typeface="Times New Roman" panose="02020603050405020304" pitchFamily="18" charset="0"/>
                <a:cs typeface="Times New Roman" panose="02020603050405020304" pitchFamily="18" charset="0"/>
              </a:rPr>
              <a:t>Critical-load lifeline</a:t>
            </a:r>
          </a:p>
          <a:p>
            <a:pPr algn="l">
              <a:spcAft>
                <a:spcPts val="600"/>
              </a:spcAft>
            </a:pPr>
            <a:r>
              <a:rPr sz="1700" b="0" i="0" dirty="0">
                <a:solidFill>
                  <a:srgbClr val="4B5563"/>
                </a:solidFill>
                <a:latin typeface="Times New Roman" panose="02020603050405020304" pitchFamily="18" charset="0"/>
                <a:cs typeface="Times New Roman" panose="02020603050405020304" pitchFamily="18" charset="0"/>
              </a:rPr>
              <a:t>Essentials stay on, even at zero credit.</a:t>
            </a:r>
          </a:p>
        </p:txBody>
      </p:sp>
      <p:sp>
        <p:nvSpPr>
          <p:cNvPr id="42" name="Oval 41"/>
          <p:cNvSpPr/>
          <p:nvPr/>
        </p:nvSpPr>
        <p:spPr>
          <a:xfrm>
            <a:off x="12435840" y="8659368"/>
            <a:ext cx="594360" cy="594360"/>
          </a:xfrm>
          <a:prstGeom prst="ellipse">
            <a:avLst/>
          </a:prstGeom>
          <a:solidFill>
            <a:schemeClr val="accent6">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dirty="0">
                <a:solidFill>
                  <a:srgbClr val="FFFFFF"/>
                </a:solidFill>
                <a:latin typeface="Times New Roman" panose="02020603050405020304" pitchFamily="18" charset="0"/>
                <a:cs typeface="Times New Roman" panose="02020603050405020304" pitchFamily="18" charset="0"/>
              </a:rPr>
              <a:t>6</a:t>
            </a:r>
          </a:p>
        </p:txBody>
      </p:sp>
      <p:sp>
        <p:nvSpPr>
          <p:cNvPr id="43" name="TextBox 42"/>
          <p:cNvSpPr txBox="1"/>
          <p:nvPr/>
        </p:nvSpPr>
        <p:spPr>
          <a:xfrm>
            <a:off x="13213080" y="8549640"/>
            <a:ext cx="4526280" cy="1188720"/>
          </a:xfrm>
          <a:prstGeom prst="rect">
            <a:avLst/>
          </a:prstGeom>
          <a:noFill/>
        </p:spPr>
        <p:txBody>
          <a:bodyPr wrap="square" lIns="0" tIns="0" rIns="0" bIns="0" anchor="t">
            <a:noAutofit/>
          </a:bodyPr>
          <a:lstStyle/>
          <a:p>
            <a:pPr algn="l">
              <a:spcAft>
                <a:spcPts val="100"/>
              </a:spcAft>
            </a:pPr>
            <a:r>
              <a:rPr sz="2100" b="1" i="0" dirty="0">
                <a:solidFill>
                  <a:srgbClr val="1F2933"/>
                </a:solidFill>
                <a:latin typeface="Times New Roman" panose="02020603050405020304" pitchFamily="18" charset="0"/>
                <a:cs typeface="Times New Roman" panose="02020603050405020304" pitchFamily="18" charset="0"/>
              </a:rPr>
              <a:t>Active &amp; reactive power</a:t>
            </a:r>
          </a:p>
          <a:p>
            <a:pPr algn="l">
              <a:spcAft>
                <a:spcPts val="600"/>
              </a:spcAft>
            </a:pPr>
            <a:r>
              <a:rPr sz="1700" b="0" i="0" dirty="0">
                <a:solidFill>
                  <a:srgbClr val="4B5563"/>
                </a:solidFill>
                <a:latin typeface="Times New Roman" panose="02020603050405020304" pitchFamily="18" charset="0"/>
                <a:cs typeface="Times New Roman" panose="02020603050405020304" pitchFamily="18" charset="0"/>
              </a:rPr>
              <a:t>AC model tracks both P (real</a:t>
            </a:r>
            <a:r>
              <a:rPr lang="en-IN" sz="1700" b="0" i="0" dirty="0">
                <a:solidFill>
                  <a:srgbClr val="4B5563"/>
                </a:solidFill>
                <a:latin typeface="Times New Roman" panose="02020603050405020304" pitchFamily="18" charset="0"/>
                <a:cs typeface="Times New Roman" panose="02020603050405020304" pitchFamily="18" charset="0"/>
              </a:rPr>
              <a:t> power</a:t>
            </a:r>
            <a:r>
              <a:rPr sz="1700" b="0" i="0" dirty="0">
                <a:solidFill>
                  <a:srgbClr val="4B5563"/>
                </a:solidFill>
                <a:latin typeface="Times New Roman" panose="02020603050405020304" pitchFamily="18" charset="0"/>
                <a:cs typeface="Times New Roman" panose="02020603050405020304" pitchFamily="18" charset="0"/>
              </a:rPr>
              <a:t>) and Q (reactive</a:t>
            </a:r>
            <a:r>
              <a:rPr lang="en-IN" sz="1700" b="0" i="0" dirty="0">
                <a:solidFill>
                  <a:srgbClr val="4B5563"/>
                </a:solidFill>
                <a:latin typeface="Times New Roman" panose="02020603050405020304" pitchFamily="18" charset="0"/>
                <a:cs typeface="Times New Roman" panose="02020603050405020304" pitchFamily="18" charset="0"/>
              </a:rPr>
              <a:t> power</a:t>
            </a:r>
            <a:r>
              <a:rPr sz="1700" b="0" i="0" dirty="0">
                <a:solidFill>
                  <a:srgbClr val="4B5563"/>
                </a:solidFill>
                <a:latin typeface="Times New Roman" panose="02020603050405020304" pitchFamily="18" charset="0"/>
                <a:cs typeface="Times New Roman" panose="02020603050405020304" pitchFamily="18" charset="0"/>
              </a:rPr>
              <a:t>) flows.</a:t>
            </a:r>
          </a:p>
        </p:txBody>
      </p:sp>
      <p:sp>
        <p:nvSpPr>
          <p:cNvPr id="46" name="Oval 45"/>
          <p:cNvSpPr/>
          <p:nvPr/>
        </p:nvSpPr>
        <p:spPr>
          <a:xfrm>
            <a:off x="12435840" y="3794760"/>
            <a:ext cx="594360" cy="594360"/>
          </a:xfrm>
          <a:prstGeom prst="ellipse">
            <a:avLst/>
          </a:prstGeom>
          <a:solidFill>
            <a:schemeClr val="accent6">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000" b="1" i="0" dirty="0">
                <a:solidFill>
                  <a:srgbClr val="FFFFFF"/>
                </a:solidFill>
                <a:latin typeface="Times New Roman" panose="02020603050405020304" pitchFamily="18" charset="0"/>
                <a:cs typeface="Times New Roman" panose="02020603050405020304" pitchFamily="18" charset="0"/>
              </a:rPr>
              <a:t>2</a:t>
            </a:r>
          </a:p>
        </p:txBody>
      </p:sp>
      <p:sp>
        <p:nvSpPr>
          <p:cNvPr id="47" name="TextBox 46"/>
          <p:cNvSpPr txBox="1"/>
          <p:nvPr/>
        </p:nvSpPr>
        <p:spPr>
          <a:xfrm>
            <a:off x="13213080" y="3685032"/>
            <a:ext cx="4526280" cy="1188720"/>
          </a:xfrm>
          <a:prstGeom prst="rect">
            <a:avLst/>
          </a:prstGeom>
          <a:noFill/>
        </p:spPr>
        <p:txBody>
          <a:bodyPr wrap="square" lIns="0" tIns="0" rIns="0" bIns="0" anchor="t">
            <a:noAutofit/>
          </a:bodyPr>
          <a:lstStyle/>
          <a:p>
            <a:pPr algn="l">
              <a:spcAft>
                <a:spcPts val="100"/>
              </a:spcAft>
            </a:pPr>
            <a:r>
              <a:rPr lang="en-IN" sz="2100" b="1" dirty="0">
                <a:latin typeface="Times New Roman" panose="02020603050405020304" pitchFamily="18" charset="0"/>
                <a:cs typeface="Times New Roman" panose="02020603050405020304" pitchFamily="18" charset="0"/>
              </a:rPr>
              <a:t>Hierarchical control</a:t>
            </a:r>
            <a:endParaRPr sz="2100" b="1" i="0" dirty="0">
              <a:latin typeface="Times New Roman" panose="02020603050405020304" pitchFamily="18" charset="0"/>
              <a:cs typeface="Times New Roman" panose="02020603050405020304" pitchFamily="18" charset="0"/>
            </a:endParaRPr>
          </a:p>
          <a:p>
            <a:pPr algn="l">
              <a:spcAft>
                <a:spcPts val="600"/>
              </a:spcAft>
            </a:pPr>
            <a:r>
              <a:rPr lang="en-IN" dirty="0">
                <a:solidFill>
                  <a:srgbClr val="4B5563"/>
                </a:solidFill>
                <a:latin typeface="Times New Roman" panose="02020603050405020304" pitchFamily="18" charset="0"/>
                <a:cs typeface="Times New Roman" panose="02020603050405020304" pitchFamily="18" charset="0"/>
              </a:rPr>
              <a:t>Nodes protect their own equipment, the main controller coordinates, the Pi shows it live</a:t>
            </a:r>
            <a:endParaRPr sz="1800" b="0" i="0" dirty="0">
              <a:solidFill>
                <a:srgbClr val="4B5563"/>
              </a:solidFill>
              <a:latin typeface="Times New Roman" panose="02020603050405020304" pitchFamily="18" charset="0"/>
              <a:cs typeface="Times New Roman" panose="02020603050405020304" pitchFamily="18" charset="0"/>
            </a:endParaRPr>
          </a:p>
        </p:txBody>
      </p:sp>
      <p:pic>
        <p:nvPicPr>
          <p:cNvPr id="49" name="Graphic 48">
            <a:extLst>
              <a:ext uri="{FF2B5EF4-FFF2-40B4-BE49-F238E27FC236}">
                <a16:creationId xmlns:a16="http://schemas.microsoft.com/office/drawing/2014/main" id="{C6807BAC-9E30-45FB-6A44-359DB4C2A32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5200" y="2731838"/>
            <a:ext cx="11339649" cy="72161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34396"/>
          </a:xfrm>
          <a:prstGeom prst="rect">
            <a:avLst/>
          </a:prstGeom>
        </p:spPr>
        <p:txBody>
          <a:bodyPr wrap="square" lIns="0" tIns="0" rIns="0" bIns="0" rtlCol="0" anchor="t">
            <a:spAutoFit/>
          </a:bodyPr>
          <a:lstStyle/>
          <a:p>
            <a:pPr algn="l">
              <a:lnSpc>
                <a:spcPts val="7279"/>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Technical approach: How it works ?</a:t>
            </a:r>
          </a:p>
        </p:txBody>
      </p:sp>
      <p:grpSp>
        <p:nvGrpSpPr>
          <p:cNvPr id="3" name="Group 3"/>
          <p:cNvGrpSpPr/>
          <p:nvPr/>
        </p:nvGrpSpPr>
        <p:grpSpPr>
          <a:xfrm>
            <a:off x="535200" y="38100"/>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latin typeface="Times New Roman" panose="02020603050405020304" pitchFamily="18" charset="0"/>
                  <a:cs typeface="Times New Roman" panose="02020603050405020304" pitchFamily="18" charset="0"/>
                </a:endParaRPr>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dirty="0">
                  <a:solidFill>
                    <a:srgbClr val="692B39"/>
                  </a:solidFill>
                  <a:latin typeface="Times New Roman" panose="02020603050405020304" pitchFamily="18" charset="0"/>
                  <a:ea typeface="Times New Roman"/>
                  <a:cs typeface="Times New Roman" panose="02020603050405020304" pitchFamily="18" charset="0"/>
                  <a:sym typeface="Times New Roman"/>
                </a:rPr>
                <a:t>Walchand College of Engineering, Sangli</a:t>
              </a:r>
            </a:p>
            <a:p>
              <a:pPr algn="ctr">
                <a:lnSpc>
                  <a:spcPts val="4759"/>
                </a:lnSpc>
              </a:pPr>
              <a:r>
                <a:rPr lang="en-US" sz="3399" dirty="0">
                  <a:solidFill>
                    <a:srgbClr val="692B39"/>
                  </a:solidFill>
                  <a:latin typeface="Times New Roman" panose="02020603050405020304" pitchFamily="18" charset="0"/>
                  <a:ea typeface="Times New Roman"/>
                  <a:cs typeface="Times New Roman" panose="02020603050405020304" pitchFamily="18" charset="0"/>
                  <a:sym typeface="Times New Roman"/>
                </a:rPr>
                <a:t>A </a:t>
              </a:r>
              <a:r>
                <a:rPr lang="en-US" sz="3399" dirty="0" err="1">
                  <a:solidFill>
                    <a:srgbClr val="692B39"/>
                  </a:solidFill>
                  <a:latin typeface="Times New Roman" panose="02020603050405020304" pitchFamily="18" charset="0"/>
                  <a:ea typeface="Times New Roman"/>
                  <a:cs typeface="Times New Roman" panose="02020603050405020304" pitchFamily="18" charset="0"/>
                  <a:sym typeface="Times New Roman"/>
                </a:rPr>
                <a:t>Goverment</a:t>
              </a:r>
              <a:r>
                <a:rPr lang="en-US" sz="3399" dirty="0">
                  <a:solidFill>
                    <a:srgbClr val="692B39"/>
                  </a:solidFill>
                  <a:latin typeface="Times New Roman" panose="02020603050405020304" pitchFamily="18" charset="0"/>
                  <a:ea typeface="Times New Roman"/>
                  <a:cs typeface="Times New Roman" panose="02020603050405020304" pitchFamily="18" charset="0"/>
                  <a:sym typeface="Times New Roman"/>
                </a:rPr>
                <a:t>-Aided Autonomous Institute</a:t>
              </a:r>
            </a:p>
          </p:txBody>
        </p:sp>
      </p:grpSp>
      <p:sp>
        <p:nvSpPr>
          <p:cNvPr id="11" name="TextBox 10"/>
          <p:cNvSpPr txBox="1"/>
          <p:nvPr/>
        </p:nvSpPr>
        <p:spPr>
          <a:xfrm>
            <a:off x="548640" y="2423160"/>
            <a:ext cx="7863840" cy="548640"/>
          </a:xfrm>
          <a:prstGeom prst="rect">
            <a:avLst/>
          </a:prstGeom>
          <a:noFill/>
        </p:spPr>
        <p:txBody>
          <a:bodyPr wrap="square" lIns="0" tIns="0" rIns="0" bIns="0" anchor="t">
            <a:noAutofit/>
          </a:bodyPr>
          <a:lstStyle/>
          <a:p>
            <a:pPr algn="l">
              <a:spcAft>
                <a:spcPts val="600"/>
              </a:spcAft>
            </a:pPr>
            <a:r>
              <a:rPr lang="en-IN" sz="2800" b="1" i="0" dirty="0">
                <a:solidFill>
                  <a:srgbClr val="7A1F2B"/>
                </a:solidFill>
                <a:latin typeface="Times New Roman" panose="02020603050405020304" pitchFamily="18" charset="0"/>
                <a:cs typeface="Times New Roman" panose="02020603050405020304" pitchFamily="18" charset="0"/>
              </a:rPr>
              <a:t>Hierarchical </a:t>
            </a:r>
            <a:r>
              <a:rPr sz="2800" b="1" i="0" dirty="0">
                <a:solidFill>
                  <a:srgbClr val="7A1F2B"/>
                </a:solidFill>
                <a:latin typeface="Times New Roman" panose="02020603050405020304" pitchFamily="18" charset="0"/>
                <a:cs typeface="Times New Roman" panose="02020603050405020304" pitchFamily="18" charset="0"/>
              </a:rPr>
              <a:t>Controller-in-the-loop</a:t>
            </a:r>
          </a:p>
        </p:txBody>
      </p:sp>
      <p:sp>
        <p:nvSpPr>
          <p:cNvPr id="12" name="Rounded Rectangle 11"/>
          <p:cNvSpPr/>
          <p:nvPr/>
        </p:nvSpPr>
        <p:spPr>
          <a:xfrm>
            <a:off x="548640" y="3108960"/>
            <a:ext cx="7863840" cy="2011680"/>
          </a:xfrm>
          <a:prstGeom prst="roundRect">
            <a:avLst>
              <a:gd name="adj" fmla="val 8000"/>
            </a:avLst>
          </a:prstGeom>
          <a:solidFill>
            <a:srgbClr val="E0F2E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dirty="0">
                <a:solidFill>
                  <a:srgbClr val="1F2933"/>
                </a:solidFill>
                <a:latin typeface="Times New Roman" panose="02020603050405020304" pitchFamily="18" charset="0"/>
                <a:cs typeface="Times New Roman" panose="02020603050405020304" pitchFamily="18" charset="0"/>
              </a:rPr>
              <a:t>MATLAB </a:t>
            </a:r>
            <a:r>
              <a:rPr lang="en-IN" sz="2600" b="1" dirty="0">
                <a:solidFill>
                  <a:srgbClr val="1F2933"/>
                </a:solidFill>
                <a:latin typeface="Times New Roman" panose="02020603050405020304" pitchFamily="18" charset="0"/>
                <a:cs typeface="Times New Roman" panose="02020603050405020304" pitchFamily="18" charset="0"/>
              </a:rPr>
              <a:t>P</a:t>
            </a:r>
            <a:r>
              <a:rPr sz="2600" b="1" i="0" dirty="0">
                <a:solidFill>
                  <a:srgbClr val="1F2933"/>
                </a:solidFill>
                <a:latin typeface="Times New Roman" panose="02020603050405020304" pitchFamily="18" charset="0"/>
                <a:cs typeface="Times New Roman" panose="02020603050405020304" pitchFamily="18" charset="0"/>
              </a:rPr>
              <a:t>lant</a:t>
            </a:r>
          </a:p>
          <a:p>
            <a:pPr algn="ctr">
              <a:spcAft>
                <a:spcPts val="400"/>
              </a:spcAft>
            </a:pPr>
            <a:r>
              <a:rPr lang="en-IN" sz="1900" dirty="0">
                <a:solidFill>
                  <a:srgbClr val="4B5563"/>
                </a:solidFill>
                <a:latin typeface="Times New Roman" panose="02020603050405020304" pitchFamily="18" charset="0"/>
                <a:cs typeface="Times New Roman" panose="02020603050405020304" pitchFamily="18" charset="0"/>
              </a:rPr>
              <a:t>G</a:t>
            </a:r>
            <a:r>
              <a:rPr sz="1900" b="0" i="0" dirty="0">
                <a:solidFill>
                  <a:srgbClr val="4B5563"/>
                </a:solidFill>
                <a:latin typeface="Times New Roman" panose="02020603050405020304" pitchFamily="18" charset="0"/>
                <a:cs typeface="Times New Roman" panose="02020603050405020304" pitchFamily="18" charset="0"/>
              </a:rPr>
              <a:t>rid · switch ·</a:t>
            </a:r>
            <a:r>
              <a:rPr lang="en-IN" sz="1900" b="0" i="0" dirty="0">
                <a:solidFill>
                  <a:srgbClr val="4B5563"/>
                </a:solidFill>
                <a:latin typeface="Times New Roman" panose="02020603050405020304" pitchFamily="18" charset="0"/>
                <a:cs typeface="Times New Roman" panose="02020603050405020304" pitchFamily="18" charset="0"/>
              </a:rPr>
              <a:t> </a:t>
            </a:r>
            <a:r>
              <a:rPr sz="1900" b="0" i="0" dirty="0">
                <a:solidFill>
                  <a:srgbClr val="4B5563"/>
                </a:solidFill>
                <a:latin typeface="Times New Roman" panose="02020603050405020304" pitchFamily="18" charset="0"/>
                <a:cs typeface="Times New Roman" panose="02020603050405020304" pitchFamily="18" charset="0"/>
              </a:rPr>
              <a:t>solar</a:t>
            </a:r>
            <a:r>
              <a:rPr lang="en-IN" sz="1900" b="0" i="0" dirty="0">
                <a:solidFill>
                  <a:srgbClr val="4B5563"/>
                </a:solidFill>
                <a:latin typeface="Times New Roman" panose="02020603050405020304" pitchFamily="18" charset="0"/>
                <a:cs typeface="Times New Roman" panose="02020603050405020304" pitchFamily="18" charset="0"/>
              </a:rPr>
              <a:t> + Battery</a:t>
            </a:r>
            <a:r>
              <a:rPr sz="1900" b="0" i="0" dirty="0">
                <a:solidFill>
                  <a:srgbClr val="4B5563"/>
                </a:solidFill>
                <a:latin typeface="Times New Roman" panose="02020603050405020304" pitchFamily="18" charset="0"/>
                <a:cs typeface="Times New Roman" panose="02020603050405020304" pitchFamily="18" charset="0"/>
              </a:rPr>
              <a:t> · </a:t>
            </a:r>
            <a:r>
              <a:rPr lang="en-IN" sz="1900" dirty="0">
                <a:solidFill>
                  <a:srgbClr val="4B5563"/>
                </a:solidFill>
                <a:latin typeface="Times New Roman" panose="02020603050405020304" pitchFamily="18" charset="0"/>
                <a:cs typeface="Times New Roman" panose="02020603050405020304" pitchFamily="18" charset="0"/>
              </a:rPr>
              <a:t>2</a:t>
            </a:r>
            <a:r>
              <a:rPr sz="1900" b="0" i="0" dirty="0">
                <a:solidFill>
                  <a:srgbClr val="4B5563"/>
                </a:solidFill>
                <a:latin typeface="Times New Roman" panose="02020603050405020304" pitchFamily="18" charset="0"/>
                <a:cs typeface="Times New Roman" panose="02020603050405020304" pitchFamily="18" charset="0"/>
              </a:rPr>
              <a:t> houses · community </a:t>
            </a:r>
            <a:r>
              <a:rPr lang="en-IN" sz="1900" dirty="0">
                <a:solidFill>
                  <a:srgbClr val="4B5563"/>
                </a:solidFill>
                <a:latin typeface="Times New Roman" panose="02020603050405020304" pitchFamily="18" charset="0"/>
                <a:cs typeface="Times New Roman" panose="02020603050405020304" pitchFamily="18" charset="0"/>
              </a:rPr>
              <a:t>load</a:t>
            </a:r>
            <a:endParaRPr sz="1900" b="0" i="0" dirty="0">
              <a:solidFill>
                <a:srgbClr val="4B5563"/>
              </a:solidFill>
              <a:latin typeface="Times New Roman" panose="02020603050405020304" pitchFamily="18" charset="0"/>
              <a:cs typeface="Times New Roman" panose="02020603050405020304" pitchFamily="18" charset="0"/>
            </a:endParaRPr>
          </a:p>
        </p:txBody>
      </p:sp>
      <p:sp>
        <p:nvSpPr>
          <p:cNvPr id="13" name="Rounded Rectangle 12"/>
          <p:cNvSpPr/>
          <p:nvPr/>
        </p:nvSpPr>
        <p:spPr>
          <a:xfrm>
            <a:off x="548640" y="6949440"/>
            <a:ext cx="5029200" cy="201168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lang="en-IN" sz="2600" b="1" i="0" dirty="0">
                <a:solidFill>
                  <a:srgbClr val="FFFFFF"/>
                </a:solidFill>
                <a:latin typeface="Times New Roman" panose="02020603050405020304" pitchFamily="18" charset="0"/>
                <a:cs typeface="Times New Roman" panose="02020603050405020304" pitchFamily="18" charset="0"/>
              </a:rPr>
              <a:t>4 </a:t>
            </a:r>
            <a:r>
              <a:rPr sz="2600" b="1" i="0" dirty="0">
                <a:solidFill>
                  <a:srgbClr val="FFFFFF"/>
                </a:solidFill>
                <a:latin typeface="Times New Roman" panose="02020603050405020304" pitchFamily="18" charset="0"/>
                <a:cs typeface="Times New Roman" panose="02020603050405020304" pitchFamily="18" charset="0"/>
              </a:rPr>
              <a:t>ESP32 controller</a:t>
            </a:r>
            <a:r>
              <a:rPr lang="en-IN" sz="2600" b="1" i="0" dirty="0">
                <a:solidFill>
                  <a:srgbClr val="FFFFFF"/>
                </a:solidFill>
                <a:latin typeface="Times New Roman" panose="02020603050405020304" pitchFamily="18" charset="0"/>
                <a:cs typeface="Times New Roman" panose="02020603050405020304" pitchFamily="18" charset="0"/>
              </a:rPr>
              <a:t>s</a:t>
            </a:r>
            <a:r>
              <a:rPr sz="2600" b="1" i="0" dirty="0">
                <a:solidFill>
                  <a:srgbClr val="FFFFFF"/>
                </a:solidFill>
                <a:latin typeface="Times New Roman" panose="02020603050405020304" pitchFamily="18" charset="0"/>
                <a:cs typeface="Times New Roman" panose="02020603050405020304" pitchFamily="18" charset="0"/>
              </a:rPr>
              <a:t> (real board)</a:t>
            </a:r>
          </a:p>
          <a:p>
            <a:pPr algn="ctr">
              <a:spcAft>
                <a:spcPts val="400"/>
              </a:spcAft>
            </a:pPr>
            <a:r>
              <a:rPr lang="en-IN" sz="1900" dirty="0">
                <a:solidFill>
                  <a:srgbClr val="FFFFFF"/>
                </a:solidFill>
                <a:latin typeface="Times New Roman" panose="02020603050405020304" pitchFamily="18" charset="0"/>
                <a:cs typeface="Times New Roman" panose="02020603050405020304" pitchFamily="18" charset="0"/>
              </a:rPr>
              <a:t>H1</a:t>
            </a:r>
            <a:r>
              <a:rPr lang="en-IN" sz="1900" dirty="0">
                <a:solidFill>
                  <a:srgbClr val="4B5563"/>
                </a:solidFill>
                <a:latin typeface="Times New Roman" panose="02020603050405020304" pitchFamily="18" charset="0"/>
                <a:cs typeface="Times New Roman" panose="02020603050405020304" pitchFamily="18" charset="0"/>
              </a:rPr>
              <a:t> </a:t>
            </a:r>
            <a:r>
              <a:rPr lang="en-IN" sz="1900" dirty="0">
                <a:solidFill>
                  <a:schemeClr val="bg1"/>
                </a:solidFill>
                <a:latin typeface="Times New Roman" panose="02020603050405020304" pitchFamily="18" charset="0"/>
                <a:cs typeface="Times New Roman" panose="02020603050405020304" pitchFamily="18" charset="0"/>
              </a:rPr>
              <a:t>·</a:t>
            </a:r>
            <a:r>
              <a:rPr lang="en-IN" sz="1900" dirty="0">
                <a:solidFill>
                  <a:srgbClr val="FFFFFF"/>
                </a:solidFill>
                <a:latin typeface="Times New Roman" panose="02020603050405020304" pitchFamily="18" charset="0"/>
                <a:cs typeface="Times New Roman" panose="02020603050405020304" pitchFamily="18" charset="0"/>
              </a:rPr>
              <a:t> H2 </a:t>
            </a:r>
            <a:r>
              <a:rPr lang="en-IN" sz="1900" dirty="0">
                <a:solidFill>
                  <a:schemeClr val="bg1"/>
                </a:solidFill>
                <a:latin typeface="Times New Roman" panose="02020603050405020304" pitchFamily="18" charset="0"/>
                <a:cs typeface="Times New Roman" panose="02020603050405020304" pitchFamily="18" charset="0"/>
              </a:rPr>
              <a:t>·</a:t>
            </a:r>
            <a:r>
              <a:rPr lang="en-IN" sz="1900" dirty="0">
                <a:solidFill>
                  <a:srgbClr val="FFFFFF"/>
                </a:solidFill>
                <a:latin typeface="Times New Roman" panose="02020603050405020304" pitchFamily="18" charset="0"/>
                <a:cs typeface="Times New Roman" panose="02020603050405020304" pitchFamily="18" charset="0"/>
              </a:rPr>
              <a:t> Solar + BESS </a:t>
            </a:r>
            <a:r>
              <a:rPr lang="en-IN" sz="1900" dirty="0">
                <a:solidFill>
                  <a:schemeClr val="bg1"/>
                </a:solidFill>
                <a:latin typeface="Times New Roman" panose="02020603050405020304" pitchFamily="18" charset="0"/>
                <a:cs typeface="Times New Roman" panose="02020603050405020304" pitchFamily="18" charset="0"/>
              </a:rPr>
              <a:t>·</a:t>
            </a:r>
            <a:r>
              <a:rPr lang="en-IN" sz="1900" dirty="0">
                <a:solidFill>
                  <a:srgbClr val="FFFFFF"/>
                </a:solidFill>
                <a:latin typeface="Times New Roman" panose="02020603050405020304" pitchFamily="18" charset="0"/>
                <a:cs typeface="Times New Roman" panose="02020603050405020304" pitchFamily="18" charset="0"/>
              </a:rPr>
              <a:t> Community Load : relay trip, E-stop, LEDs</a:t>
            </a:r>
            <a:endParaRPr sz="1900" b="0" i="0" dirty="0">
              <a:solidFill>
                <a:srgbClr val="FFFFFF"/>
              </a:solidFill>
              <a:latin typeface="Times New Roman" panose="02020603050405020304" pitchFamily="18" charset="0"/>
              <a:cs typeface="Times New Roman" panose="02020603050405020304" pitchFamily="18" charset="0"/>
            </a:endParaRPr>
          </a:p>
        </p:txBody>
      </p:sp>
      <p:cxnSp>
        <p:nvCxnSpPr>
          <p:cNvPr id="14" name="Connector 13"/>
          <p:cNvCxnSpPr/>
          <p:nvPr/>
        </p:nvCxnSpPr>
        <p:spPr>
          <a:xfrm>
            <a:off x="2377440" y="5120640"/>
            <a:ext cx="0" cy="1828800"/>
          </a:xfrm>
          <a:prstGeom prst="line">
            <a:avLst/>
          </a:prstGeom>
          <a:ln w="381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572000" y="5120640"/>
            <a:ext cx="0" cy="1828800"/>
          </a:xfrm>
          <a:prstGeom prst="line">
            <a:avLst/>
          </a:prstGeom>
          <a:ln w="38100">
            <a:solidFill>
              <a:srgbClr val="7A1F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514600" y="5257800"/>
            <a:ext cx="1920240" cy="822960"/>
          </a:xfrm>
          <a:prstGeom prst="rect">
            <a:avLst/>
          </a:prstGeom>
          <a:noFill/>
        </p:spPr>
        <p:txBody>
          <a:bodyPr wrap="square" lIns="0" tIns="0" rIns="0" bIns="0" anchor="t">
            <a:noAutofit/>
          </a:bodyPr>
          <a:lstStyle/>
          <a:p>
            <a:pPr algn="l">
              <a:spcAft>
                <a:spcPts val="600"/>
              </a:spcAft>
            </a:pPr>
            <a:r>
              <a:rPr sz="1900" b="1" i="0">
                <a:solidFill>
                  <a:srgbClr val="0F766E"/>
                </a:solidFill>
                <a:latin typeface="Times New Roman" panose="02020603050405020304" pitchFamily="18" charset="0"/>
                <a:cs typeface="Times New Roman" panose="02020603050405020304" pitchFamily="18" charset="0"/>
              </a:rPr>
              <a:t>measurements</a:t>
            </a:r>
          </a:p>
          <a:p>
            <a:pPr algn="l">
              <a:spcAft>
                <a:spcPts val="600"/>
              </a:spcAft>
            </a:pPr>
            <a:r>
              <a:rPr sz="1900" b="0" i="0">
                <a:solidFill>
                  <a:srgbClr val="0F766E"/>
                </a:solidFill>
                <a:latin typeface="Times New Roman" panose="02020603050405020304" pitchFamily="18" charset="0"/>
                <a:cs typeface="Times New Roman" panose="02020603050405020304" pitchFamily="18" charset="0"/>
              </a:rPr>
              <a:t>V, f, P, Q, battery SOC</a:t>
            </a:r>
          </a:p>
        </p:txBody>
      </p:sp>
      <p:sp>
        <p:nvSpPr>
          <p:cNvPr id="17" name="TextBox 16"/>
          <p:cNvSpPr txBox="1"/>
          <p:nvPr/>
        </p:nvSpPr>
        <p:spPr>
          <a:xfrm>
            <a:off x="4709160" y="5669280"/>
            <a:ext cx="2194560" cy="1097280"/>
          </a:xfrm>
          <a:prstGeom prst="rect">
            <a:avLst/>
          </a:prstGeom>
          <a:noFill/>
        </p:spPr>
        <p:txBody>
          <a:bodyPr wrap="square" lIns="0" tIns="0" rIns="0" bIns="0" anchor="t">
            <a:noAutofit/>
          </a:bodyPr>
          <a:lstStyle/>
          <a:p>
            <a:pPr algn="l">
              <a:spcAft>
                <a:spcPts val="600"/>
              </a:spcAft>
            </a:pPr>
            <a:r>
              <a:rPr sz="1900" b="1" i="0">
                <a:solidFill>
                  <a:srgbClr val="7A1F2B"/>
                </a:solidFill>
                <a:latin typeface="Times New Roman" panose="02020603050405020304" pitchFamily="18" charset="0"/>
                <a:cs typeface="Times New Roman" panose="02020603050405020304" pitchFamily="18" charset="0"/>
              </a:rPr>
              <a:t>commands</a:t>
            </a:r>
          </a:p>
          <a:p>
            <a:pPr algn="l">
              <a:spcAft>
                <a:spcPts val="600"/>
              </a:spcAft>
            </a:pPr>
            <a:r>
              <a:rPr sz="1900" b="0" i="0">
                <a:solidFill>
                  <a:srgbClr val="7A1F2B"/>
                </a:solidFill>
                <a:latin typeface="Times New Roman" panose="02020603050405020304" pitchFamily="18" charset="0"/>
                <a:cs typeface="Times New Roman" panose="02020603050405020304" pitchFamily="18" charset="0"/>
              </a:rPr>
              <a:t>switch, shed, battery</a:t>
            </a:r>
          </a:p>
        </p:txBody>
      </p:sp>
      <p:sp>
        <p:nvSpPr>
          <p:cNvPr id="18" name="TextBox 17"/>
          <p:cNvSpPr txBox="1"/>
          <p:nvPr/>
        </p:nvSpPr>
        <p:spPr>
          <a:xfrm>
            <a:off x="548640" y="9098280"/>
            <a:ext cx="7863840" cy="640080"/>
          </a:xfrm>
          <a:prstGeom prst="rect">
            <a:avLst/>
          </a:prstGeom>
          <a:noFill/>
        </p:spPr>
        <p:txBody>
          <a:bodyPr wrap="square" lIns="0" tIns="0" rIns="0" bIns="0" anchor="t">
            <a:noAutofit/>
          </a:bodyPr>
          <a:lstStyle/>
          <a:p>
            <a:pPr algn="l">
              <a:spcAft>
                <a:spcPts val="600"/>
              </a:spcAft>
            </a:pPr>
            <a:r>
              <a:rPr lang="en-IN" dirty="0">
                <a:solidFill>
                  <a:srgbClr val="4B5563"/>
                </a:solidFill>
                <a:latin typeface="Times New Roman" panose="02020603050405020304" pitchFamily="18" charset="0"/>
                <a:cs typeface="Times New Roman" panose="02020603050405020304" pitchFamily="18" charset="0"/>
              </a:rPr>
              <a:t>Safety stays local: Each node protects its own equipment and never cuts a critical load; the main controller checks every dashboard request.</a:t>
            </a:r>
            <a:endParaRPr sz="1800" b="0" i="0" dirty="0">
              <a:solidFill>
                <a:srgbClr val="4B5563"/>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9052560" y="2423160"/>
            <a:ext cx="8686800" cy="548640"/>
          </a:xfrm>
          <a:prstGeom prst="rect">
            <a:avLst/>
          </a:prstGeom>
          <a:noFill/>
        </p:spPr>
        <p:txBody>
          <a:bodyPr wrap="square" lIns="0" tIns="0" rIns="0" bIns="0" anchor="t">
            <a:noAutofit/>
          </a:bodyPr>
          <a:lstStyle/>
          <a:p>
            <a:pPr algn="l">
              <a:spcAft>
                <a:spcPts val="600"/>
              </a:spcAft>
            </a:pPr>
            <a:r>
              <a:rPr sz="2800" b="1" i="0">
                <a:solidFill>
                  <a:srgbClr val="7A1F2B"/>
                </a:solidFill>
                <a:latin typeface="Times New Roman" panose="02020603050405020304" pitchFamily="18" charset="0"/>
                <a:cs typeface="Times New Roman" panose="02020603050405020304" pitchFamily="18" charset="0"/>
              </a:rPr>
              <a:t>Operating modes</a:t>
            </a:r>
          </a:p>
        </p:txBody>
      </p:sp>
      <p:sp>
        <p:nvSpPr>
          <p:cNvPr id="20" name="Rounded Rectangle 19"/>
          <p:cNvSpPr/>
          <p:nvPr/>
        </p:nvSpPr>
        <p:spPr>
          <a:xfrm>
            <a:off x="9052560" y="3108960"/>
            <a:ext cx="2743200" cy="1645920"/>
          </a:xfrm>
          <a:prstGeom prst="roundRect">
            <a:avLst>
              <a:gd name="adj" fmla="val 8000"/>
            </a:avLst>
          </a:prstGeom>
          <a:solidFill>
            <a:srgbClr val="F3F4F6"/>
          </a:solidFill>
          <a:ln w="2540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Times New Roman" panose="02020603050405020304" pitchFamily="18" charset="0"/>
                <a:cs typeface="Times New Roman" panose="02020603050405020304" pitchFamily="18" charset="0"/>
              </a:rPr>
              <a:t>BOOT</a:t>
            </a:r>
          </a:p>
          <a:p>
            <a:pPr algn="ctr">
              <a:spcAft>
                <a:spcPts val="400"/>
              </a:spcAft>
            </a:pPr>
            <a:r>
              <a:rPr sz="1800" b="0" i="0">
                <a:solidFill>
                  <a:srgbClr val="4B5563"/>
                </a:solidFill>
                <a:latin typeface="Times New Roman" panose="02020603050405020304" pitchFamily="18" charset="0"/>
                <a:cs typeface="Times New Roman" panose="02020603050405020304" pitchFamily="18" charset="0"/>
              </a:rPr>
              <a:t>Everything OFF</a:t>
            </a:r>
          </a:p>
        </p:txBody>
      </p:sp>
      <p:sp>
        <p:nvSpPr>
          <p:cNvPr id="21" name="Rounded Rectangle 20"/>
          <p:cNvSpPr/>
          <p:nvPr/>
        </p:nvSpPr>
        <p:spPr>
          <a:xfrm>
            <a:off x="12984480" y="3108960"/>
            <a:ext cx="4754880" cy="1645920"/>
          </a:xfrm>
          <a:prstGeom prst="roundRect">
            <a:avLst>
              <a:gd name="adj" fmla="val 8000"/>
            </a:avLst>
          </a:prstGeom>
          <a:solidFill>
            <a:srgbClr val="E0F2EF"/>
          </a:solidFill>
          <a:ln w="2540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Times New Roman" panose="02020603050405020304" pitchFamily="18" charset="0"/>
                <a:cs typeface="Times New Roman" panose="02020603050405020304" pitchFamily="18" charset="0"/>
              </a:rPr>
              <a:t>GRID</a:t>
            </a:r>
          </a:p>
          <a:p>
            <a:pPr algn="ctr">
              <a:spcAft>
                <a:spcPts val="400"/>
              </a:spcAft>
            </a:pPr>
            <a:r>
              <a:rPr sz="1800" b="0" i="0">
                <a:solidFill>
                  <a:srgbClr val="4B5563"/>
                </a:solidFill>
                <a:latin typeface="Times New Roman" panose="02020603050405020304" pitchFamily="18" charset="0"/>
                <a:cs typeface="Times New Roman" panose="02020603050405020304" pitchFamily="18" charset="0"/>
              </a:rPr>
              <a:t>Grid-connected: share solar, charge battery</a:t>
            </a:r>
          </a:p>
        </p:txBody>
      </p:sp>
      <p:sp>
        <p:nvSpPr>
          <p:cNvPr id="22" name="Rounded Rectangle 21"/>
          <p:cNvSpPr/>
          <p:nvPr/>
        </p:nvSpPr>
        <p:spPr>
          <a:xfrm>
            <a:off x="12984480" y="7223760"/>
            <a:ext cx="4754880" cy="1645920"/>
          </a:xfrm>
          <a:prstGeom prst="roundRect">
            <a:avLst>
              <a:gd name="adj" fmla="val 8000"/>
            </a:avLst>
          </a:prstGeom>
          <a:solidFill>
            <a:srgbClr val="FEF3C7"/>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Times New Roman" panose="02020603050405020304" pitchFamily="18" charset="0"/>
                <a:cs typeface="Times New Roman" panose="02020603050405020304" pitchFamily="18" charset="0"/>
              </a:rPr>
              <a:t>ISLAND</a:t>
            </a:r>
          </a:p>
          <a:p>
            <a:pPr algn="ctr">
              <a:spcAft>
                <a:spcPts val="400"/>
              </a:spcAft>
            </a:pPr>
            <a:r>
              <a:rPr sz="1800" b="0" i="0">
                <a:solidFill>
                  <a:srgbClr val="4B5563"/>
                </a:solidFill>
                <a:latin typeface="Times New Roman" panose="02020603050405020304" pitchFamily="18" charset="0"/>
                <a:cs typeface="Times New Roman" panose="02020603050405020304" pitchFamily="18" charset="0"/>
              </a:rPr>
              <a:t>Grid switch open: battery + solar run the community</a:t>
            </a:r>
          </a:p>
        </p:txBody>
      </p:sp>
      <p:sp>
        <p:nvSpPr>
          <p:cNvPr id="23" name="Rounded Rectangle 22"/>
          <p:cNvSpPr/>
          <p:nvPr/>
        </p:nvSpPr>
        <p:spPr>
          <a:xfrm>
            <a:off x="9052560" y="7223760"/>
            <a:ext cx="3291840" cy="1645920"/>
          </a:xfrm>
          <a:prstGeom prst="roundRect">
            <a:avLst>
              <a:gd name="adj" fmla="val 8000"/>
            </a:avLst>
          </a:prstGeom>
          <a:solidFill>
            <a:srgbClr val="F7ECEE"/>
          </a:solidFill>
          <a:ln w="25400">
            <a:solidFill>
              <a:srgbClr val="7A1F2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dirty="0">
                <a:solidFill>
                  <a:srgbClr val="1F2933"/>
                </a:solidFill>
                <a:latin typeface="Times New Roman" panose="02020603050405020304" pitchFamily="18" charset="0"/>
                <a:cs typeface="Times New Roman" panose="02020603050405020304" pitchFamily="18" charset="0"/>
              </a:rPr>
              <a:t>RESYNC</a:t>
            </a:r>
          </a:p>
          <a:p>
            <a:pPr algn="ctr">
              <a:spcAft>
                <a:spcPts val="400"/>
              </a:spcAft>
            </a:pPr>
            <a:r>
              <a:rPr sz="1800" b="0" i="0" dirty="0">
                <a:solidFill>
                  <a:srgbClr val="4B5563"/>
                </a:solidFill>
                <a:latin typeface="Times New Roman" panose="02020603050405020304" pitchFamily="18" charset="0"/>
                <a:cs typeface="Times New Roman" panose="02020603050405020304" pitchFamily="18" charset="0"/>
              </a:rPr>
              <a:t>Grid back: match voltage</a:t>
            </a:r>
            <a:r>
              <a:rPr lang="en-IN" sz="1800" b="0" i="0" dirty="0">
                <a:solidFill>
                  <a:srgbClr val="4B5563"/>
                </a:solidFill>
                <a:latin typeface="Times New Roman" panose="02020603050405020304" pitchFamily="18" charset="0"/>
                <a:cs typeface="Times New Roman" panose="02020603050405020304" pitchFamily="18" charset="0"/>
              </a:rPr>
              <a:t>, phase and Frequency</a:t>
            </a:r>
            <a:endParaRPr sz="1800" b="0" i="0" dirty="0">
              <a:solidFill>
                <a:srgbClr val="4B5563"/>
              </a:solidFill>
              <a:latin typeface="Times New Roman" panose="02020603050405020304" pitchFamily="18" charset="0"/>
              <a:cs typeface="Times New Roman" panose="02020603050405020304" pitchFamily="18" charset="0"/>
            </a:endParaRPr>
          </a:p>
        </p:txBody>
      </p:sp>
      <p:cxnSp>
        <p:nvCxnSpPr>
          <p:cNvPr id="24" name="Connector 23"/>
          <p:cNvCxnSpPr/>
          <p:nvPr/>
        </p:nvCxnSpPr>
        <p:spPr>
          <a:xfrm>
            <a:off x="11795760" y="3931920"/>
            <a:ext cx="118872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6093440" y="4754880"/>
            <a:ext cx="0" cy="2468880"/>
          </a:xfrm>
          <a:prstGeom prst="line">
            <a:avLst/>
          </a:prstGeom>
          <a:ln w="3810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2344400" y="8046720"/>
            <a:ext cx="64008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1155680" y="4754880"/>
            <a:ext cx="2560320" cy="2468880"/>
          </a:xfrm>
          <a:prstGeom prst="line">
            <a:avLst/>
          </a:prstGeom>
          <a:ln w="381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6230600" y="5577840"/>
            <a:ext cx="1554480" cy="1097280"/>
          </a:xfrm>
          <a:prstGeom prst="rect">
            <a:avLst/>
          </a:prstGeom>
          <a:noFill/>
        </p:spPr>
        <p:txBody>
          <a:bodyPr wrap="square" lIns="0" tIns="0" rIns="0" bIns="0" anchor="t">
            <a:noAutofit/>
          </a:bodyPr>
          <a:lstStyle/>
          <a:p>
            <a:pPr algn="l">
              <a:spcAft>
                <a:spcPts val="600"/>
              </a:spcAft>
            </a:pPr>
            <a:r>
              <a:rPr sz="1900" b="1" i="0">
                <a:solidFill>
                  <a:srgbClr val="B45309"/>
                </a:solidFill>
                <a:latin typeface="Times New Roman" panose="02020603050405020304" pitchFamily="18" charset="0"/>
                <a:cs typeface="Times New Roman" panose="02020603050405020304" pitchFamily="18" charset="0"/>
              </a:rPr>
              <a:t>grid lost</a:t>
            </a:r>
          </a:p>
        </p:txBody>
      </p:sp>
      <p:sp>
        <p:nvSpPr>
          <p:cNvPr id="29" name="TextBox 28"/>
          <p:cNvSpPr txBox="1"/>
          <p:nvPr/>
        </p:nvSpPr>
        <p:spPr>
          <a:xfrm>
            <a:off x="9144000" y="5120640"/>
            <a:ext cx="2743200" cy="1280160"/>
          </a:xfrm>
          <a:prstGeom prst="rect">
            <a:avLst/>
          </a:prstGeom>
          <a:noFill/>
        </p:spPr>
        <p:txBody>
          <a:bodyPr wrap="square" lIns="0" tIns="0" rIns="0" bIns="0" anchor="t">
            <a:noAutofit/>
          </a:bodyPr>
          <a:lstStyle/>
          <a:p>
            <a:pPr algn="l">
              <a:spcAft>
                <a:spcPts val="600"/>
              </a:spcAft>
            </a:pPr>
            <a:r>
              <a:rPr sz="1900" b="1" i="0" dirty="0">
                <a:solidFill>
                  <a:srgbClr val="0F766E"/>
                </a:solidFill>
                <a:latin typeface="Times New Roman" panose="02020603050405020304" pitchFamily="18" charset="0"/>
                <a:cs typeface="Times New Roman" panose="02020603050405020304" pitchFamily="18" charset="0"/>
              </a:rPr>
              <a:t>stable grid → close switch</a:t>
            </a:r>
          </a:p>
        </p:txBody>
      </p:sp>
      <p:sp>
        <p:nvSpPr>
          <p:cNvPr id="30" name="TextBox 29"/>
          <p:cNvSpPr txBox="1"/>
          <p:nvPr/>
        </p:nvSpPr>
        <p:spPr>
          <a:xfrm>
            <a:off x="9052560" y="9098280"/>
            <a:ext cx="8686800" cy="594360"/>
          </a:xfrm>
          <a:prstGeom prst="rect">
            <a:avLst/>
          </a:prstGeom>
          <a:noFill/>
        </p:spPr>
        <p:txBody>
          <a:bodyPr wrap="square" lIns="0" tIns="0" rIns="0" bIns="0" anchor="t">
            <a:noAutofit/>
          </a:bodyPr>
          <a:lstStyle/>
          <a:p>
            <a:pPr algn="l">
              <a:spcAft>
                <a:spcPts val="600"/>
              </a:spcAft>
            </a:pPr>
            <a:r>
              <a:rPr sz="1900" b="1" i="0" dirty="0">
                <a:solidFill>
                  <a:srgbClr val="7A1F2B"/>
                </a:solidFill>
                <a:latin typeface="Times New Roman" panose="02020603050405020304" pitchFamily="18" charset="0"/>
                <a:cs typeface="Times New Roman" panose="02020603050405020304" pitchFamily="18" charset="0"/>
              </a:rPr>
              <a:t>Shed order in an outage: flexible loads </a:t>
            </a:r>
            <a:r>
              <a:rPr lang="en-IN" sz="1900" b="1" dirty="0">
                <a:solidFill>
                  <a:srgbClr val="7A1F2B"/>
                </a:solidFill>
                <a:latin typeface="Times New Roman" panose="02020603050405020304" pitchFamily="18" charset="0"/>
                <a:cs typeface="Times New Roman" panose="02020603050405020304" pitchFamily="18" charset="0"/>
              </a:rPr>
              <a:t>community load</a:t>
            </a:r>
            <a:r>
              <a:rPr sz="1900" b="1" i="0" dirty="0">
                <a:solidFill>
                  <a:srgbClr val="7A1F2B"/>
                </a:solidFill>
                <a:latin typeface="Times New Roman" panose="02020603050405020304" pitchFamily="18" charset="0"/>
                <a:cs typeface="Times New Roman" panose="02020603050405020304" pitchFamily="18" charset="0"/>
              </a:rPr>
              <a:t> →</a:t>
            </a:r>
            <a:r>
              <a:rPr lang="en-IN" sz="1900" b="1" i="0" dirty="0">
                <a:solidFill>
                  <a:srgbClr val="7A1F2B"/>
                </a:solidFill>
                <a:latin typeface="Times New Roman" panose="02020603050405020304" pitchFamily="18" charset="0"/>
                <a:cs typeface="Times New Roman" panose="02020603050405020304" pitchFamily="18" charset="0"/>
              </a:rPr>
              <a:t> House</a:t>
            </a:r>
            <a:r>
              <a:rPr sz="1900" b="1" i="0" dirty="0">
                <a:solidFill>
                  <a:srgbClr val="7A1F2B"/>
                </a:solidFill>
                <a:latin typeface="Times New Roman" panose="02020603050405020304" pitchFamily="18" charset="0"/>
                <a:cs typeface="Times New Roman" panose="02020603050405020304" pitchFamily="18" charset="0"/>
              </a:rPr>
              <a:t> 2 → </a:t>
            </a:r>
            <a:r>
              <a:rPr lang="en-IN" sz="1900" b="1" i="0" dirty="0">
                <a:solidFill>
                  <a:srgbClr val="7A1F2B"/>
                </a:solidFill>
                <a:latin typeface="Times New Roman" panose="02020603050405020304" pitchFamily="18" charset="0"/>
                <a:cs typeface="Times New Roman" panose="02020603050405020304" pitchFamily="18" charset="0"/>
              </a:rPr>
              <a:t>House </a:t>
            </a:r>
            <a:r>
              <a:rPr sz="1900" b="1" i="0" dirty="0">
                <a:solidFill>
                  <a:srgbClr val="7A1F2B"/>
                </a:solidFill>
                <a:latin typeface="Times New Roman" panose="02020603050405020304" pitchFamily="18" charset="0"/>
                <a:cs typeface="Times New Roman" panose="02020603050405020304" pitchFamily="18" charset="0"/>
              </a:rPr>
              <a:t>1; critical loads never shed</a:t>
            </a:r>
          </a:p>
        </p:txBody>
      </p:sp>
      <p:sp>
        <p:nvSpPr>
          <p:cNvPr id="31" name="Rounded Rectangle 30"/>
          <p:cNvSpPr/>
          <p:nvPr/>
        </p:nvSpPr>
        <p:spPr>
          <a:xfrm>
            <a:off x="5943600" y="6949440"/>
            <a:ext cx="2468880" cy="2011680"/>
          </a:xfrm>
          <a:prstGeom prst="roundRect">
            <a:avLst>
              <a:gd name="adj" fmla="val 8000"/>
            </a:avLst>
          </a:prstGeom>
          <a:solidFill>
            <a:srgbClr val="FEF3C7"/>
          </a:solidFill>
          <a:ln w="19050">
            <a:solidFill>
              <a:srgbClr val="B45309"/>
            </a:solidFill>
            <a:prstDash val="dash"/>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spcAft>
                <a:spcPts val="200"/>
              </a:spcAft>
            </a:pPr>
            <a:r>
              <a:rPr sz="2100" b="1" i="0">
                <a:solidFill>
                  <a:srgbClr val="1F2933"/>
                </a:solidFill>
                <a:latin typeface="Times New Roman" panose="02020603050405020304" pitchFamily="18" charset="0"/>
                <a:cs typeface="Times New Roman" panose="02020603050405020304" pitchFamily="18" charset="0"/>
              </a:rPr>
              <a:t>AI/ML advisor</a:t>
            </a:r>
          </a:p>
          <a:p>
            <a:pPr algn="ctr">
              <a:spcAft>
                <a:spcPts val="200"/>
              </a:spcAft>
            </a:pPr>
            <a:r>
              <a:rPr sz="1500" b="0" i="0">
                <a:solidFill>
                  <a:srgbClr val="4B5563"/>
                </a:solidFill>
                <a:latin typeface="Times New Roman" panose="02020603050405020304" pitchFamily="18" charset="0"/>
                <a:cs typeface="Times New Roman" panose="02020603050405020304" pitchFamily="18" charset="0"/>
              </a:rPr>
              <a:t>laptop · Python (planned)</a:t>
            </a:r>
          </a:p>
          <a:p>
            <a:pPr algn="ctr">
              <a:spcAft>
                <a:spcPts val="200"/>
              </a:spcAft>
            </a:pPr>
            <a:r>
              <a:rPr sz="1500" b="0" i="0">
                <a:solidFill>
                  <a:srgbClr val="1F2933"/>
                </a:solidFill>
                <a:latin typeface="Times New Roman" panose="02020603050405020304" pitchFamily="18" charset="0"/>
                <a:cs typeface="Times New Roman" panose="02020603050405020304" pitchFamily="18" charset="0"/>
              </a:rPr>
              <a:t>suggests battery set-point, loads to shed, price</a:t>
            </a:r>
          </a:p>
        </p:txBody>
      </p:sp>
      <p:cxnSp>
        <p:nvCxnSpPr>
          <p:cNvPr id="32" name="Connector 31"/>
          <p:cNvCxnSpPr/>
          <p:nvPr/>
        </p:nvCxnSpPr>
        <p:spPr>
          <a:xfrm>
            <a:off x="5577840" y="7955279"/>
            <a:ext cx="365760" cy="0"/>
          </a:xfrm>
          <a:prstGeom prst="line">
            <a:avLst/>
          </a:prstGeom>
          <a:ln w="22225">
            <a:solidFill>
              <a:srgbClr val="B45309"/>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34396"/>
          </a:xfrm>
          <a:prstGeom prst="rect">
            <a:avLst/>
          </a:prstGeom>
        </p:spPr>
        <p:txBody>
          <a:bodyPr wrap="square" lIns="0" tIns="0" rIns="0" bIns="0" rtlCol="0" anchor="t">
            <a:spAutoFit/>
          </a:bodyPr>
          <a:lstStyle/>
          <a:p>
            <a:pPr algn="l">
              <a:lnSpc>
                <a:spcPts val="7279"/>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Technical approach: Simulation &amp; AI/ML advisor</a:t>
            </a:r>
          </a:p>
        </p:txBody>
      </p:sp>
      <p:grpSp>
        <p:nvGrpSpPr>
          <p:cNvPr id="3" name="Group 3"/>
          <p:cNvGrpSpPr/>
          <p:nvPr/>
        </p:nvGrpSpPr>
        <p:grpSpPr>
          <a:xfrm>
            <a:off x="535200" y="-14246"/>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latin typeface="Times New Roman" panose="02020603050405020304" pitchFamily="18" charset="0"/>
                  <a:cs typeface="Times New Roman" panose="02020603050405020304" pitchFamily="18" charset="0"/>
                </a:endParaRPr>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dirty="0">
                  <a:solidFill>
                    <a:srgbClr val="692B39"/>
                  </a:solidFill>
                  <a:latin typeface="Times New Roman" panose="02020603050405020304" pitchFamily="18" charset="0"/>
                  <a:ea typeface="Times New Roman"/>
                  <a:cs typeface="Times New Roman" panose="02020603050405020304" pitchFamily="18" charset="0"/>
                  <a:sym typeface="Times New Roman"/>
                </a:rPr>
                <a:t>Walchand College of Engineering, Sangli</a:t>
              </a:r>
            </a:p>
            <a:p>
              <a:pPr algn="ctr">
                <a:lnSpc>
                  <a:spcPts val="4759"/>
                </a:lnSpc>
              </a:pPr>
              <a:r>
                <a:rPr lang="en-US" sz="3399" dirty="0">
                  <a:solidFill>
                    <a:srgbClr val="692B39"/>
                  </a:solidFill>
                  <a:latin typeface="Times New Roman" panose="02020603050405020304" pitchFamily="18" charset="0"/>
                  <a:ea typeface="Times New Roman"/>
                  <a:cs typeface="Times New Roman" panose="02020603050405020304" pitchFamily="18" charset="0"/>
                  <a:sym typeface="Times New Roman"/>
                </a:rPr>
                <a:t>A </a:t>
              </a:r>
              <a:r>
                <a:rPr lang="en-US" sz="3399" dirty="0" err="1">
                  <a:solidFill>
                    <a:srgbClr val="692B39"/>
                  </a:solidFill>
                  <a:latin typeface="Times New Roman" panose="02020603050405020304" pitchFamily="18" charset="0"/>
                  <a:ea typeface="Times New Roman"/>
                  <a:cs typeface="Times New Roman" panose="02020603050405020304" pitchFamily="18" charset="0"/>
                  <a:sym typeface="Times New Roman"/>
                </a:rPr>
                <a:t>Goverment</a:t>
              </a:r>
              <a:r>
                <a:rPr lang="en-US" sz="3399" dirty="0">
                  <a:solidFill>
                    <a:srgbClr val="692B39"/>
                  </a:solidFill>
                  <a:latin typeface="Times New Roman" panose="02020603050405020304" pitchFamily="18" charset="0"/>
                  <a:ea typeface="Times New Roman"/>
                  <a:cs typeface="Times New Roman" panose="02020603050405020304" pitchFamily="18" charset="0"/>
                  <a:sym typeface="Times New Roman"/>
                </a:rPr>
                <a:t>-Aided Autonomous Institute</a:t>
              </a:r>
            </a:p>
          </p:txBody>
        </p:sp>
      </p:grpSp>
      <p:sp>
        <p:nvSpPr>
          <p:cNvPr id="11" name="Rounded Rectangle 10"/>
          <p:cNvSpPr/>
          <p:nvPr/>
        </p:nvSpPr>
        <p:spPr>
          <a:xfrm>
            <a:off x="502218" y="2335108"/>
            <a:ext cx="7498079" cy="6858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spcAft>
                <a:spcPts val="400"/>
              </a:spcAft>
            </a:pPr>
            <a:r>
              <a:rPr lang="en-IN" sz="1900" b="1" i="0" dirty="0">
                <a:solidFill>
                  <a:srgbClr val="B45309"/>
                </a:solidFill>
                <a:latin typeface="Times New Roman" panose="02020603050405020304" pitchFamily="18" charset="0"/>
                <a:cs typeface="Times New Roman" panose="02020603050405020304" pitchFamily="18" charset="0"/>
              </a:rPr>
              <a:t>Demo scenario: AC microgrid, 4 ESP32 nodes in the loop</a:t>
            </a:r>
            <a:endParaRPr sz="1900" b="1" i="0" dirty="0">
              <a:solidFill>
                <a:srgbClr val="B45309"/>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555464" y="9334386"/>
            <a:ext cx="7498079" cy="548640"/>
          </a:xfrm>
          <a:prstGeom prst="rect">
            <a:avLst/>
          </a:prstGeom>
          <a:noFill/>
        </p:spPr>
        <p:txBody>
          <a:bodyPr wrap="square" lIns="0" tIns="0" rIns="0" bIns="0" anchor="t">
            <a:noAutofit/>
          </a:bodyPr>
          <a:lstStyle/>
          <a:p>
            <a:pPr algn="l">
              <a:spcAft>
                <a:spcPts val="600"/>
              </a:spcAft>
            </a:pPr>
            <a:r>
              <a:rPr lang="en-IN" sz="1800" b="0" i="0" dirty="0">
                <a:solidFill>
                  <a:srgbClr val="4B5563"/>
                </a:solidFill>
                <a:latin typeface="Times New Roman" panose="02020603050405020304" pitchFamily="18" charset="0"/>
                <a:cs typeface="Times New Roman" panose="02020603050405020304" pitchFamily="18" charset="0"/>
              </a:rPr>
              <a:t>G</a:t>
            </a:r>
            <a:r>
              <a:rPr lang="en-IN" dirty="0">
                <a:solidFill>
                  <a:srgbClr val="4B5563"/>
                </a:solidFill>
                <a:latin typeface="Times New Roman" panose="02020603050405020304" pitchFamily="18" charset="0"/>
                <a:cs typeface="Times New Roman" panose="02020603050405020304" pitchFamily="18" charset="0"/>
              </a:rPr>
              <a:t>rid Lost 17:57 – 18:07 islands at once, battery carries all 3.5 kW, </a:t>
            </a:r>
          </a:p>
          <a:p>
            <a:pPr algn="l">
              <a:spcAft>
                <a:spcPts val="600"/>
              </a:spcAft>
            </a:pPr>
            <a:r>
              <a:rPr lang="en-IN" sz="1800" b="0" i="0" dirty="0">
                <a:solidFill>
                  <a:srgbClr val="4B5563"/>
                </a:solidFill>
                <a:latin typeface="Times New Roman" panose="02020603050405020304" pitchFamily="18" charset="0"/>
                <a:cs typeface="Times New Roman" panose="02020603050405020304" pitchFamily="18" charset="0"/>
              </a:rPr>
              <a:t>RESYNCs within 5</a:t>
            </a:r>
            <a:r>
              <a:rPr lang="en-IN" dirty="0">
                <a:solidFill>
                  <a:srgbClr val="4B5563"/>
                </a:solidFill>
                <a:latin typeface="Times New Roman" panose="02020603050405020304" pitchFamily="18" charset="0"/>
                <a:cs typeface="Times New Roman" panose="02020603050405020304" pitchFamily="18" charset="0"/>
              </a:rPr>
              <a:t> and reconnects. No load is shed; Battery 80%      65%</a:t>
            </a:r>
            <a:endParaRPr sz="1800" b="0" i="0" dirty="0">
              <a:solidFill>
                <a:srgbClr val="4B5563"/>
              </a:solidFill>
              <a:latin typeface="Times New Roman" panose="02020603050405020304" pitchFamily="18" charset="0"/>
              <a:cs typeface="Times New Roman" panose="02020603050405020304" pitchFamily="18" charset="0"/>
            </a:endParaRPr>
          </a:p>
        </p:txBody>
      </p:sp>
      <p:sp>
        <p:nvSpPr>
          <p:cNvPr id="14" name="Rounded Rectangle 13"/>
          <p:cNvSpPr/>
          <p:nvPr/>
        </p:nvSpPr>
        <p:spPr>
          <a:xfrm>
            <a:off x="8595360" y="2423160"/>
            <a:ext cx="2926080" cy="265176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lang="en-IN" sz="4700" b="1" dirty="0">
                <a:solidFill>
                  <a:srgbClr val="0F766E"/>
                </a:solidFill>
                <a:latin typeface="Times New Roman" panose="02020603050405020304" pitchFamily="18" charset="0"/>
                <a:cs typeface="Times New Roman" panose="02020603050405020304" pitchFamily="18" charset="0"/>
              </a:rPr>
              <a:t>13 / 13</a:t>
            </a:r>
            <a:endParaRPr sz="4700" b="1" i="0" dirty="0">
              <a:solidFill>
                <a:srgbClr val="0F766E"/>
              </a:solidFill>
              <a:latin typeface="Times New Roman" panose="02020603050405020304" pitchFamily="18" charset="0"/>
              <a:cs typeface="Times New Roman" panose="02020603050405020304" pitchFamily="18" charset="0"/>
            </a:endParaRPr>
          </a:p>
          <a:p>
            <a:pPr algn="l">
              <a:spcAft>
                <a:spcPts val="400"/>
              </a:spcAft>
            </a:pPr>
            <a:r>
              <a:rPr lang="en-IN" dirty="0">
                <a:solidFill>
                  <a:srgbClr val="1F2933"/>
                </a:solidFill>
                <a:latin typeface="Times New Roman" panose="02020603050405020304" pitchFamily="18" charset="0"/>
                <a:cs typeface="Times New Roman" panose="02020603050405020304" pitchFamily="18" charset="0"/>
              </a:rPr>
              <a:t>T</a:t>
            </a:r>
            <a:r>
              <a:rPr sz="1800" b="0" i="0" dirty="0">
                <a:solidFill>
                  <a:srgbClr val="1F2933"/>
                </a:solidFill>
                <a:latin typeface="Times New Roman" panose="02020603050405020304" pitchFamily="18" charset="0"/>
                <a:cs typeface="Times New Roman" panose="02020603050405020304" pitchFamily="18" charset="0"/>
              </a:rPr>
              <a:t>est scenarios passed (outage, low battery, faulty house, zero credit</a:t>
            </a:r>
            <a:r>
              <a:rPr lang="en-IN" sz="1800" b="0" i="0" dirty="0">
                <a:solidFill>
                  <a:srgbClr val="1F2933"/>
                </a:solidFill>
                <a:latin typeface="Times New Roman" panose="02020603050405020304" pitchFamily="18" charset="0"/>
                <a:cs typeface="Times New Roman" panose="02020603050405020304" pitchFamily="18" charset="0"/>
              </a:rPr>
              <a:t>, comms loss, dashboard requests…</a:t>
            </a:r>
            <a:r>
              <a:rPr sz="1800" b="0" i="0" dirty="0">
                <a:solidFill>
                  <a:srgbClr val="1F2933"/>
                </a:solidFill>
                <a:latin typeface="Times New Roman" panose="02020603050405020304" pitchFamily="18" charset="0"/>
                <a:cs typeface="Times New Roman" panose="02020603050405020304" pitchFamily="18" charset="0"/>
              </a:rPr>
              <a:t>)</a:t>
            </a:r>
          </a:p>
        </p:txBody>
      </p:sp>
      <p:sp>
        <p:nvSpPr>
          <p:cNvPr id="15" name="Rounded Rectangle 14"/>
          <p:cNvSpPr/>
          <p:nvPr/>
        </p:nvSpPr>
        <p:spPr>
          <a:xfrm>
            <a:off x="11704320" y="2423160"/>
            <a:ext cx="2926080" cy="26517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dirty="0">
                <a:solidFill>
                  <a:srgbClr val="0F766E"/>
                </a:solidFill>
                <a:latin typeface="Times New Roman" panose="02020603050405020304" pitchFamily="18" charset="0"/>
                <a:cs typeface="Times New Roman" panose="02020603050405020304" pitchFamily="18" charset="0"/>
              </a:rPr>
              <a:t>40 / 40</a:t>
            </a:r>
          </a:p>
          <a:p>
            <a:pPr algn="l">
              <a:spcAft>
                <a:spcPts val="400"/>
              </a:spcAft>
            </a:pPr>
            <a:r>
              <a:rPr sz="1800" b="0" i="0" dirty="0">
                <a:solidFill>
                  <a:srgbClr val="1F2933"/>
                </a:solidFill>
                <a:latin typeface="Times New Roman" panose="02020603050405020304" pitchFamily="18" charset="0"/>
                <a:cs typeface="Times New Roman" panose="02020603050405020304" pitchFamily="18" charset="0"/>
              </a:rPr>
              <a:t>random Monte Carlo runs passed</a:t>
            </a:r>
          </a:p>
        </p:txBody>
      </p:sp>
      <p:sp>
        <p:nvSpPr>
          <p:cNvPr id="16" name="Rounded Rectangle 15"/>
          <p:cNvSpPr/>
          <p:nvPr/>
        </p:nvSpPr>
        <p:spPr>
          <a:xfrm>
            <a:off x="14813280" y="2423160"/>
            <a:ext cx="2926080" cy="265176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dirty="0">
                <a:solidFill>
                  <a:srgbClr val="0F766E"/>
                </a:solidFill>
                <a:latin typeface="Times New Roman" panose="02020603050405020304" pitchFamily="18" charset="0"/>
                <a:cs typeface="Times New Roman" panose="02020603050405020304" pitchFamily="18" charset="0"/>
              </a:rPr>
              <a:t>0</a:t>
            </a:r>
          </a:p>
          <a:p>
            <a:pPr algn="l">
              <a:spcAft>
                <a:spcPts val="400"/>
              </a:spcAft>
            </a:pPr>
            <a:r>
              <a:rPr sz="1800" b="0" i="0" dirty="0">
                <a:solidFill>
                  <a:srgbClr val="1F2933"/>
                </a:solidFill>
                <a:latin typeface="Times New Roman" panose="02020603050405020304" pitchFamily="18" charset="0"/>
                <a:cs typeface="Times New Roman" panose="02020603050405020304" pitchFamily="18" charset="0"/>
              </a:rPr>
              <a:t>differences: ESP32 firmware vs MATLAB model, </a:t>
            </a:r>
            <a:r>
              <a:rPr lang="en-IN" dirty="0">
                <a:solidFill>
                  <a:srgbClr val="1F2933"/>
                </a:solidFill>
                <a:latin typeface="Times New Roman" panose="02020603050405020304" pitchFamily="18" charset="0"/>
                <a:cs typeface="Times New Roman" panose="02020603050405020304" pitchFamily="18" charset="0"/>
              </a:rPr>
              <a:t>835,600 replies</a:t>
            </a:r>
            <a:endParaRPr sz="1800" b="0" i="0" dirty="0">
              <a:solidFill>
                <a:srgbClr val="1F2933"/>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8595360" y="5303520"/>
            <a:ext cx="9144000" cy="548640"/>
          </a:xfrm>
          <a:prstGeom prst="rect">
            <a:avLst/>
          </a:prstGeom>
          <a:noFill/>
        </p:spPr>
        <p:txBody>
          <a:bodyPr wrap="square" lIns="0" tIns="0" rIns="0" bIns="0" anchor="t">
            <a:noAutofit/>
          </a:bodyPr>
          <a:lstStyle/>
          <a:p>
            <a:pPr algn="l">
              <a:spcAft>
                <a:spcPts val="600"/>
              </a:spcAft>
            </a:pPr>
            <a:r>
              <a:rPr lang="en-IN" sz="2600" b="1" i="0" dirty="0">
                <a:solidFill>
                  <a:srgbClr val="7A1F2B"/>
                </a:solidFill>
                <a:latin typeface="Times New Roman" panose="02020603050405020304" pitchFamily="18" charset="0"/>
                <a:cs typeface="Times New Roman" panose="02020603050405020304" pitchFamily="18" charset="0"/>
              </a:rPr>
              <a:t>Real-Time Data on Dashboard</a:t>
            </a:r>
            <a:endParaRPr sz="2600" b="1" i="0" dirty="0">
              <a:solidFill>
                <a:srgbClr val="7A1F2B"/>
              </a:solidFill>
              <a:latin typeface="Times New Roman" panose="02020603050405020304" pitchFamily="18" charset="0"/>
              <a:cs typeface="Times New Roman" panose="02020603050405020304" pitchFamily="18" charset="0"/>
            </a:endParaRPr>
          </a:p>
        </p:txBody>
      </p:sp>
      <p:sp>
        <p:nvSpPr>
          <p:cNvPr id="18" name="Oval 17"/>
          <p:cNvSpPr/>
          <p:nvPr/>
        </p:nvSpPr>
        <p:spPr>
          <a:xfrm>
            <a:off x="8595360" y="605790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1900" b="1" i="0">
                <a:solidFill>
                  <a:srgbClr val="FFFFFF"/>
                </a:solidFill>
                <a:latin typeface="Times New Roman" panose="02020603050405020304" pitchFamily="18" charset="0"/>
                <a:cs typeface="Times New Roman" panose="02020603050405020304" pitchFamily="18" charset="0"/>
              </a:rPr>
              <a:t>1</a:t>
            </a:r>
          </a:p>
        </p:txBody>
      </p:sp>
      <p:sp>
        <p:nvSpPr>
          <p:cNvPr id="19" name="TextBox 18"/>
          <p:cNvSpPr txBox="1"/>
          <p:nvPr/>
        </p:nvSpPr>
        <p:spPr>
          <a:xfrm>
            <a:off x="9326880" y="5897880"/>
            <a:ext cx="8412480" cy="1143000"/>
          </a:xfrm>
          <a:prstGeom prst="rect">
            <a:avLst/>
          </a:prstGeom>
          <a:noFill/>
        </p:spPr>
        <p:txBody>
          <a:bodyPr wrap="square" lIns="0" tIns="0" rIns="0" bIns="0" anchor="t">
            <a:noAutofit/>
          </a:bodyPr>
          <a:lstStyle/>
          <a:p>
            <a:pPr algn="l">
              <a:spcAft>
                <a:spcPts val="0"/>
              </a:spcAft>
            </a:pPr>
            <a:r>
              <a:rPr lang="en-IN" sz="2000" b="1" dirty="0">
                <a:solidFill>
                  <a:srgbClr val="1F2933"/>
                </a:solidFill>
                <a:latin typeface="Times New Roman" panose="02020603050405020304" pitchFamily="18" charset="0"/>
                <a:cs typeface="Times New Roman" panose="02020603050405020304" pitchFamily="18" charset="0"/>
              </a:rPr>
              <a:t>Live demo Control Panel (MATLAB)</a:t>
            </a:r>
          </a:p>
          <a:p>
            <a:pPr algn="l">
              <a:spcAft>
                <a:spcPts val="600"/>
              </a:spcAft>
            </a:pPr>
            <a:r>
              <a:rPr lang="en-GB" sz="1600" dirty="0">
                <a:solidFill>
                  <a:srgbClr val="4B5563"/>
                </a:solidFill>
                <a:latin typeface="Times New Roman" panose="02020603050405020304" pitchFamily="18" charset="0"/>
                <a:cs typeface="Times New Roman" panose="02020603050405020304" pitchFamily="18" charset="0"/>
              </a:rPr>
              <a:t>Cut and restore the Grid, change sun and load, inject faults, press E-stop, cut a node link, tap an RFID card</a:t>
            </a:r>
            <a:endParaRPr lang="en-GB" sz="1600" b="0" i="0" dirty="0">
              <a:solidFill>
                <a:srgbClr val="4B5563"/>
              </a:solidFill>
              <a:latin typeface="Times New Roman" panose="02020603050405020304" pitchFamily="18" charset="0"/>
              <a:cs typeface="Times New Roman" panose="02020603050405020304" pitchFamily="18" charset="0"/>
            </a:endParaRPr>
          </a:p>
        </p:txBody>
      </p:sp>
      <p:sp>
        <p:nvSpPr>
          <p:cNvPr id="20" name="Oval 19"/>
          <p:cNvSpPr/>
          <p:nvPr/>
        </p:nvSpPr>
        <p:spPr>
          <a:xfrm>
            <a:off x="8595360" y="724662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1900" b="1" i="0">
                <a:solidFill>
                  <a:srgbClr val="FFFFFF"/>
                </a:solidFill>
                <a:latin typeface="Times New Roman" panose="02020603050405020304" pitchFamily="18" charset="0"/>
                <a:cs typeface="Times New Roman" panose="02020603050405020304" pitchFamily="18" charset="0"/>
              </a:rPr>
              <a:t>2</a:t>
            </a:r>
          </a:p>
        </p:txBody>
      </p:sp>
      <p:sp>
        <p:nvSpPr>
          <p:cNvPr id="21" name="TextBox 20"/>
          <p:cNvSpPr txBox="1"/>
          <p:nvPr/>
        </p:nvSpPr>
        <p:spPr>
          <a:xfrm>
            <a:off x="9326880" y="7086600"/>
            <a:ext cx="8412480" cy="1143000"/>
          </a:xfrm>
          <a:prstGeom prst="rect">
            <a:avLst/>
          </a:prstGeom>
          <a:noFill/>
        </p:spPr>
        <p:txBody>
          <a:bodyPr wrap="square" lIns="0" tIns="0" rIns="0" bIns="0" anchor="t">
            <a:noAutofit/>
          </a:bodyPr>
          <a:lstStyle/>
          <a:p>
            <a:pPr algn="l">
              <a:spcAft>
                <a:spcPts val="0"/>
              </a:spcAft>
            </a:pPr>
            <a:r>
              <a:rPr lang="en-IN" sz="2000" b="1" i="0" dirty="0">
                <a:solidFill>
                  <a:srgbClr val="1F2933"/>
                </a:solidFill>
                <a:latin typeface="Times New Roman" panose="02020603050405020304" pitchFamily="18" charset="0"/>
                <a:cs typeface="Times New Roman" panose="02020603050405020304" pitchFamily="18" charset="0"/>
              </a:rPr>
              <a:t>Live Dashboard (in the browser)</a:t>
            </a:r>
            <a:endParaRPr sz="2000" b="1" i="0" dirty="0">
              <a:solidFill>
                <a:srgbClr val="1F2933"/>
              </a:solidFill>
              <a:latin typeface="Times New Roman" panose="02020603050405020304" pitchFamily="18" charset="0"/>
              <a:cs typeface="Times New Roman" panose="02020603050405020304" pitchFamily="18" charset="0"/>
            </a:endParaRPr>
          </a:p>
          <a:p>
            <a:pPr algn="l">
              <a:spcAft>
                <a:spcPts val="600"/>
              </a:spcAft>
            </a:pPr>
            <a:r>
              <a:rPr lang="en-IN" sz="1600" dirty="0">
                <a:solidFill>
                  <a:srgbClr val="4B5563"/>
                </a:solidFill>
                <a:latin typeface="Times New Roman" panose="02020603050405020304" pitchFamily="18" charset="0"/>
                <a:cs typeface="Times New Roman" panose="02020603050405020304" pitchFamily="18" charset="0"/>
              </a:rPr>
              <a:t>Raspberry Pi : MQTT      Node-Red + </a:t>
            </a:r>
            <a:r>
              <a:rPr lang="en-IN" sz="1600" dirty="0" err="1">
                <a:solidFill>
                  <a:srgbClr val="4B5563"/>
                </a:solidFill>
                <a:latin typeface="Times New Roman" panose="02020603050405020304" pitchFamily="18" charset="0"/>
                <a:cs typeface="Times New Roman" panose="02020603050405020304" pitchFamily="18" charset="0"/>
              </a:rPr>
              <a:t>InfluxDB</a:t>
            </a:r>
            <a:r>
              <a:rPr lang="en-IN" sz="1600" dirty="0">
                <a:solidFill>
                  <a:srgbClr val="4B5563"/>
                </a:solidFill>
                <a:latin typeface="Times New Roman" panose="02020603050405020304" pitchFamily="18" charset="0"/>
                <a:cs typeface="Times New Roman" panose="02020603050405020304" pitchFamily="18" charset="0"/>
              </a:rPr>
              <a:t>. Energy flow, Battery, Node status, prepaid balances and event log.</a:t>
            </a:r>
            <a:endParaRPr sz="1600" b="0" i="0" dirty="0">
              <a:solidFill>
                <a:srgbClr val="4B5563"/>
              </a:solidFill>
              <a:latin typeface="Times New Roman" panose="02020603050405020304" pitchFamily="18" charset="0"/>
              <a:cs typeface="Times New Roman" panose="02020603050405020304" pitchFamily="18" charset="0"/>
            </a:endParaRPr>
          </a:p>
        </p:txBody>
      </p:sp>
      <p:sp>
        <p:nvSpPr>
          <p:cNvPr id="22" name="Oval 21"/>
          <p:cNvSpPr/>
          <p:nvPr/>
        </p:nvSpPr>
        <p:spPr>
          <a:xfrm>
            <a:off x="8595360" y="832866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1900" b="1" i="0">
                <a:solidFill>
                  <a:srgbClr val="FFFFFF"/>
                </a:solidFill>
                <a:latin typeface="Times New Roman" panose="02020603050405020304" pitchFamily="18" charset="0"/>
                <a:cs typeface="Times New Roman" panose="02020603050405020304" pitchFamily="18" charset="0"/>
              </a:rPr>
              <a:t>3</a:t>
            </a:r>
          </a:p>
        </p:txBody>
      </p:sp>
      <p:sp>
        <p:nvSpPr>
          <p:cNvPr id="23" name="TextBox 22"/>
          <p:cNvSpPr txBox="1"/>
          <p:nvPr/>
        </p:nvSpPr>
        <p:spPr>
          <a:xfrm>
            <a:off x="9326880" y="8275320"/>
            <a:ext cx="8412480" cy="1143000"/>
          </a:xfrm>
          <a:prstGeom prst="rect">
            <a:avLst/>
          </a:prstGeom>
          <a:noFill/>
        </p:spPr>
        <p:txBody>
          <a:bodyPr wrap="square" lIns="0" tIns="0" rIns="0" bIns="0" anchor="t">
            <a:noAutofit/>
          </a:bodyPr>
          <a:lstStyle/>
          <a:p>
            <a:pPr algn="l">
              <a:spcAft>
                <a:spcPts val="0"/>
              </a:spcAft>
            </a:pPr>
            <a:r>
              <a:rPr lang="en-IN" sz="2000" b="1" dirty="0">
                <a:solidFill>
                  <a:srgbClr val="1F2933"/>
                </a:solidFill>
                <a:latin typeface="Times New Roman" panose="02020603050405020304" pitchFamily="18" charset="0"/>
                <a:cs typeface="Times New Roman" panose="02020603050405020304" pitchFamily="18" charset="0"/>
              </a:rPr>
              <a:t>Real Boards in the Loop</a:t>
            </a:r>
            <a:endParaRPr sz="2000" b="1" i="0" dirty="0">
              <a:solidFill>
                <a:srgbClr val="1F2933"/>
              </a:solidFill>
              <a:latin typeface="Times New Roman" panose="02020603050405020304" pitchFamily="18" charset="0"/>
              <a:cs typeface="Times New Roman" panose="02020603050405020304" pitchFamily="18" charset="0"/>
            </a:endParaRPr>
          </a:p>
          <a:p>
            <a:pPr algn="l">
              <a:spcAft>
                <a:spcPts val="600"/>
              </a:spcAft>
            </a:pPr>
            <a:r>
              <a:rPr lang="en-IN" sz="1600" dirty="0">
                <a:solidFill>
                  <a:srgbClr val="4B5563"/>
                </a:solidFill>
                <a:latin typeface="Times New Roman" panose="02020603050405020304" pitchFamily="18" charset="0"/>
                <a:cs typeface="Times New Roman" panose="02020603050405020304" pitchFamily="18" charset="0"/>
              </a:rPr>
              <a:t>Controller Hardware in loop run : 0 of 30,000 board replies differed from the MATLAB.</a:t>
            </a:r>
            <a:endParaRPr sz="1600" b="0" i="0" dirty="0">
              <a:solidFill>
                <a:srgbClr val="4B5563"/>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8595360" y="9464040"/>
            <a:ext cx="9144000" cy="365760"/>
          </a:xfrm>
          <a:prstGeom prst="rect">
            <a:avLst/>
          </a:prstGeom>
          <a:noFill/>
        </p:spPr>
        <p:txBody>
          <a:bodyPr wrap="square" lIns="0" tIns="0" rIns="0" bIns="0" anchor="t">
            <a:noAutofit/>
          </a:bodyPr>
          <a:lstStyle/>
          <a:p>
            <a:pPr algn="l">
              <a:spcAft>
                <a:spcPts val="600"/>
              </a:spcAft>
            </a:pPr>
            <a:r>
              <a:rPr lang="en-IN" sz="1600" dirty="0">
                <a:solidFill>
                  <a:srgbClr val="4B5563"/>
                </a:solidFill>
                <a:latin typeface="Times New Roman" panose="02020603050405020304" pitchFamily="18" charset="0"/>
                <a:cs typeface="Times New Roman" panose="02020603050405020304" pitchFamily="18" charset="0"/>
              </a:rPr>
              <a:t>Same rules in Firmware and model: one parameter file feeds both </a:t>
            </a:r>
            <a:endParaRPr sz="1600" b="0" i="0" dirty="0">
              <a:solidFill>
                <a:srgbClr val="4B5563"/>
              </a:solidFill>
              <a:latin typeface="Times New Roman" panose="02020603050405020304" pitchFamily="18" charset="0"/>
              <a:cs typeface="Times New Roman" panose="02020603050405020304" pitchFamily="18" charset="0"/>
            </a:endParaRPr>
          </a:p>
        </p:txBody>
      </p:sp>
      <p:pic>
        <p:nvPicPr>
          <p:cNvPr id="26" name="Picture 25">
            <a:extLst>
              <a:ext uri="{FF2B5EF4-FFF2-40B4-BE49-F238E27FC236}">
                <a16:creationId xmlns:a16="http://schemas.microsoft.com/office/drawing/2014/main" id="{CD0F4A49-95A8-C5B9-F4C8-51B8D3A992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2741" y="3111666"/>
            <a:ext cx="7077031" cy="6021529"/>
          </a:xfrm>
          <a:prstGeom prst="rect">
            <a:avLst/>
          </a:prstGeom>
        </p:spPr>
      </p:pic>
      <p:cxnSp>
        <p:nvCxnSpPr>
          <p:cNvPr id="28" name="Straight Arrow Connector 27">
            <a:extLst>
              <a:ext uri="{FF2B5EF4-FFF2-40B4-BE49-F238E27FC236}">
                <a16:creationId xmlns:a16="http://schemas.microsoft.com/office/drawing/2014/main" id="{5D8E2313-59F6-96E8-5051-4ACCD60EDDD5}"/>
              </a:ext>
            </a:extLst>
          </p:cNvPr>
          <p:cNvCxnSpPr>
            <a:cxnSpLocks/>
          </p:cNvCxnSpPr>
          <p:nvPr/>
        </p:nvCxnSpPr>
        <p:spPr>
          <a:xfrm>
            <a:off x="6629400" y="9829800"/>
            <a:ext cx="2286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56D7F707-05C5-9FBE-8DDE-EF326D7E87A9}"/>
              </a:ext>
            </a:extLst>
          </p:cNvPr>
          <p:cNvCxnSpPr>
            <a:cxnSpLocks/>
          </p:cNvCxnSpPr>
          <p:nvPr/>
        </p:nvCxnSpPr>
        <p:spPr>
          <a:xfrm>
            <a:off x="11201400" y="7505700"/>
            <a:ext cx="152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34396"/>
          </a:xfrm>
          <a:prstGeom prst="rect">
            <a:avLst/>
          </a:prstGeom>
        </p:spPr>
        <p:txBody>
          <a:bodyPr wrap="square" lIns="0" tIns="0" rIns="0" bIns="0" rtlCol="0" anchor="t">
            <a:spAutoFit/>
          </a:bodyPr>
          <a:lstStyle/>
          <a:p>
            <a:pPr algn="l">
              <a:lnSpc>
                <a:spcPts val="7279"/>
              </a:lnSpc>
            </a:pPr>
            <a:r>
              <a:rPr lang="en-US" sz="4400" b="1">
                <a:solidFill>
                  <a:srgbClr val="000000"/>
                </a:solidFill>
                <a:latin typeface="Times New Roman" panose="02020603050405020304" pitchFamily="18" charset="0"/>
                <a:ea typeface="Canva Sans Bold"/>
                <a:cs typeface="Times New Roman" panose="02020603050405020304" pitchFamily="18" charset="0"/>
                <a:sym typeface="Canva Sans Bold"/>
              </a:rPr>
              <a:t>Impact and benefits: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latin typeface="Times New Roman" panose="02020603050405020304" pitchFamily="18" charset="0"/>
                  <a:cs typeface="Times New Roman" panose="02020603050405020304" pitchFamily="18" charset="0"/>
                </a:endParaRPr>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panose="02020603050405020304" pitchFamily="18" charset="0"/>
                  <a:ea typeface="Times New Roman"/>
                  <a:cs typeface="Times New Roman" panose="02020603050405020304" pitchFamily="18" charset="0"/>
                  <a:sym typeface="Times New Roman"/>
                </a:rPr>
                <a:t>Walchand College of Engineering, Sangli</a:t>
              </a:r>
            </a:p>
            <a:p>
              <a:pPr algn="ctr">
                <a:lnSpc>
                  <a:spcPts val="4759"/>
                </a:lnSpc>
              </a:pPr>
              <a:r>
                <a:rPr lang="en-US" sz="3399">
                  <a:solidFill>
                    <a:srgbClr val="692B39"/>
                  </a:solidFill>
                  <a:latin typeface="Times New Roman" panose="02020603050405020304" pitchFamily="18" charset="0"/>
                  <a:ea typeface="Times New Roman"/>
                  <a:cs typeface="Times New Roman" panose="02020603050405020304" pitchFamily="18" charset="0"/>
                  <a:sym typeface="Times New Roman"/>
                </a:rPr>
                <a:t>A Goverment-Aided Autonomous Institute</a:t>
              </a:r>
            </a:p>
          </p:txBody>
        </p:sp>
      </p:grpSp>
      <p:sp>
        <p:nvSpPr>
          <p:cNvPr id="11" name="Rounded Rectangle 10"/>
          <p:cNvSpPr/>
          <p:nvPr/>
        </p:nvSpPr>
        <p:spPr>
          <a:xfrm>
            <a:off x="548640" y="2468880"/>
            <a:ext cx="8412480" cy="484632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t">
            <a:noAutofit/>
          </a:bodyPr>
          <a:lstStyle/>
          <a:p>
            <a:pPr algn="l">
              <a:spcAft>
                <a:spcPts val="1000"/>
              </a:spcAft>
            </a:pPr>
            <a:r>
              <a:rPr sz="3500" b="1" i="0" dirty="0">
                <a:solidFill>
                  <a:srgbClr val="B45309"/>
                </a:solidFill>
                <a:latin typeface="Times New Roman" panose="02020603050405020304" pitchFamily="18" charset="0"/>
                <a:cs typeface="Times New Roman" panose="02020603050405020304" pitchFamily="18" charset="0"/>
              </a:rPr>
              <a:t>Energy sharing</a:t>
            </a:r>
          </a:p>
          <a:p>
            <a:pPr marL="274320" indent="-228600" algn="l">
              <a:spcAft>
                <a:spcPts val="800"/>
              </a:spcAft>
              <a:buChar char="•"/>
            </a:pPr>
            <a:r>
              <a:rPr sz="2500" b="0" i="0" dirty="0">
                <a:solidFill>
                  <a:srgbClr val="1F2933"/>
                </a:solidFill>
                <a:latin typeface="Times New Roman" panose="02020603050405020304" pitchFamily="18" charset="0"/>
                <a:cs typeface="Times New Roman" panose="02020603050405020304" pitchFamily="18" charset="0"/>
              </a:rPr>
              <a:t>Solar surplus stays in the </a:t>
            </a:r>
            <a:r>
              <a:rPr sz="2500" b="0" i="0" dirty="0" err="1">
                <a:solidFill>
                  <a:srgbClr val="1F2933"/>
                </a:solidFill>
                <a:latin typeface="Times New Roman" panose="02020603050405020304" pitchFamily="18" charset="0"/>
                <a:cs typeface="Times New Roman" panose="02020603050405020304" pitchFamily="18" charset="0"/>
              </a:rPr>
              <a:t>neighbourhood</a:t>
            </a:r>
            <a:r>
              <a:rPr sz="2500" b="0" i="0" dirty="0">
                <a:solidFill>
                  <a:srgbClr val="1F2933"/>
                </a:solidFill>
                <a:latin typeface="Times New Roman" panose="02020603050405020304" pitchFamily="18" charset="0"/>
                <a:cs typeface="Times New Roman" panose="02020603050405020304" pitchFamily="18" charset="0"/>
              </a:rPr>
              <a:t> instead of being wasted</a:t>
            </a:r>
          </a:p>
          <a:p>
            <a:pPr marL="274320" indent="-228600" algn="l">
              <a:spcAft>
                <a:spcPts val="800"/>
              </a:spcAft>
              <a:buChar char="•"/>
            </a:pPr>
            <a:r>
              <a:rPr sz="2500" b="0" i="0" dirty="0">
                <a:solidFill>
                  <a:srgbClr val="1F2933"/>
                </a:solidFill>
                <a:latin typeface="Times New Roman" panose="02020603050405020304" pitchFamily="18" charset="0"/>
                <a:cs typeface="Times New Roman" panose="02020603050405020304" pitchFamily="18" charset="0"/>
              </a:rPr>
              <a:t>Sellers earn credit; buyers pay less than peak grid power</a:t>
            </a:r>
          </a:p>
          <a:p>
            <a:pPr marL="274320" indent="-228600" algn="l">
              <a:spcAft>
                <a:spcPts val="800"/>
              </a:spcAft>
              <a:buChar char="•"/>
            </a:pPr>
            <a:r>
              <a:rPr sz="2500" b="0" i="0" dirty="0">
                <a:solidFill>
                  <a:srgbClr val="1F2933"/>
                </a:solidFill>
                <a:latin typeface="Times New Roman" panose="02020603050405020304" pitchFamily="18" charset="0"/>
                <a:cs typeface="Times New Roman" panose="02020603050405020304" pitchFamily="18" charset="0"/>
              </a:rPr>
              <a:t>Less grid import at peak hours</a:t>
            </a:r>
          </a:p>
          <a:p>
            <a:pPr marL="274320" indent="-228600" algn="l">
              <a:spcAft>
                <a:spcPts val="400"/>
              </a:spcAft>
              <a:buChar char="•"/>
            </a:pPr>
            <a:r>
              <a:rPr sz="2500" b="0" i="0" dirty="0">
                <a:solidFill>
                  <a:srgbClr val="1F2933"/>
                </a:solidFill>
                <a:latin typeface="Times New Roman" panose="02020603050405020304" pitchFamily="18" charset="0"/>
                <a:cs typeface="Times New Roman" panose="02020603050405020304" pitchFamily="18" charset="0"/>
              </a:rPr>
              <a:t>Homes without panels still benefit from solar</a:t>
            </a:r>
          </a:p>
        </p:txBody>
      </p:sp>
      <p:sp>
        <p:nvSpPr>
          <p:cNvPr id="12" name="Rounded Rectangle 11"/>
          <p:cNvSpPr/>
          <p:nvPr/>
        </p:nvSpPr>
        <p:spPr>
          <a:xfrm>
            <a:off x="9326880" y="2468880"/>
            <a:ext cx="411480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Times New Roman" panose="02020603050405020304" pitchFamily="18" charset="0"/>
                <a:cs typeface="Times New Roman" panose="02020603050405020304" pitchFamily="18" charset="0"/>
              </a:rPr>
              <a:t>Fair prepaid ledger</a:t>
            </a:r>
          </a:p>
          <a:p>
            <a:pPr algn="l">
              <a:spcAft>
                <a:spcPts val="400"/>
              </a:spcAft>
            </a:pPr>
            <a:r>
              <a:rPr sz="2100" b="0" i="0">
                <a:solidFill>
                  <a:srgbClr val="4B5563"/>
                </a:solidFill>
                <a:latin typeface="Times New Roman" panose="02020603050405020304" pitchFamily="18" charset="0"/>
                <a:cs typeface="Times New Roman" panose="02020603050405020304" pitchFamily="18" charset="0"/>
              </a:rPr>
              <a:t>Every unit bought and sold is recorded per house.</a:t>
            </a:r>
          </a:p>
        </p:txBody>
      </p:sp>
      <p:sp>
        <p:nvSpPr>
          <p:cNvPr id="13" name="Rounded Rectangle 12"/>
          <p:cNvSpPr/>
          <p:nvPr/>
        </p:nvSpPr>
        <p:spPr>
          <a:xfrm>
            <a:off x="13578840" y="2468880"/>
            <a:ext cx="4114800" cy="2286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Times New Roman" panose="02020603050405020304" pitchFamily="18" charset="0"/>
                <a:cs typeface="Times New Roman" panose="02020603050405020304" pitchFamily="18" charset="0"/>
              </a:rPr>
              <a:t>Resilience</a:t>
            </a:r>
          </a:p>
          <a:p>
            <a:pPr algn="l">
              <a:spcAft>
                <a:spcPts val="400"/>
              </a:spcAft>
            </a:pPr>
            <a:r>
              <a:rPr sz="2100" b="0" i="0">
                <a:solidFill>
                  <a:srgbClr val="4B5563"/>
                </a:solidFill>
                <a:latin typeface="Times New Roman" panose="02020603050405020304" pitchFamily="18" charset="0"/>
                <a:cs typeface="Times New Roman" panose="02020603050405020304" pitchFamily="18" charset="0"/>
              </a:rPr>
              <a:t>Critical loads stay on in outages and at zero credit.</a:t>
            </a:r>
          </a:p>
        </p:txBody>
      </p:sp>
      <p:sp>
        <p:nvSpPr>
          <p:cNvPr id="14" name="Rounded Rectangle 13"/>
          <p:cNvSpPr/>
          <p:nvPr/>
        </p:nvSpPr>
        <p:spPr>
          <a:xfrm>
            <a:off x="9326880" y="4937760"/>
            <a:ext cx="4114800" cy="228600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Times New Roman" panose="02020603050405020304" pitchFamily="18" charset="0"/>
                <a:cs typeface="Times New Roman" panose="02020603050405020304" pitchFamily="18" charset="0"/>
              </a:rPr>
              <a:t>Safe islanding</a:t>
            </a:r>
          </a:p>
          <a:p>
            <a:pPr algn="l">
              <a:spcAft>
                <a:spcPts val="400"/>
              </a:spcAft>
            </a:pPr>
            <a:r>
              <a:rPr sz="2100" b="0" i="0">
                <a:solidFill>
                  <a:srgbClr val="4B5563"/>
                </a:solidFill>
                <a:latin typeface="Times New Roman" panose="02020603050405020304" pitchFamily="18" charset="0"/>
                <a:cs typeface="Times New Roman" panose="02020603050405020304" pitchFamily="18" charset="0"/>
              </a:rPr>
              <a:t>No back-feed to a dead grid line.</a:t>
            </a:r>
          </a:p>
        </p:txBody>
      </p:sp>
      <p:sp>
        <p:nvSpPr>
          <p:cNvPr id="15" name="Rounded Rectangle 14"/>
          <p:cNvSpPr/>
          <p:nvPr/>
        </p:nvSpPr>
        <p:spPr>
          <a:xfrm>
            <a:off x="13578840" y="4937760"/>
            <a:ext cx="411480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lang="en-IN" sz="2600" b="1" dirty="0">
                <a:solidFill>
                  <a:srgbClr val="1F2933"/>
                </a:solidFill>
                <a:latin typeface="Times New Roman" panose="02020603050405020304" pitchFamily="18" charset="0"/>
                <a:cs typeface="Times New Roman" panose="02020603050405020304" pitchFamily="18" charset="0"/>
              </a:rPr>
              <a:t>Basic Load Forecasting</a:t>
            </a:r>
          </a:p>
          <a:p>
            <a:pPr>
              <a:spcAft>
                <a:spcPts val="400"/>
              </a:spcAft>
            </a:pPr>
            <a:r>
              <a:rPr lang="en-GB" sz="2100" dirty="0">
                <a:solidFill>
                  <a:srgbClr val="4B5563"/>
                </a:solidFill>
                <a:latin typeface="Times New Roman" panose="02020603050405020304" pitchFamily="18" charset="0"/>
                <a:cs typeface="Times New Roman" panose="02020603050405020304" pitchFamily="18" charset="0"/>
              </a:rPr>
              <a:t>Logged demand gives a next-hour trend to plan battery</a:t>
            </a:r>
            <a:endParaRPr lang="en-GB" sz="2100" b="0" i="0" dirty="0">
              <a:solidFill>
                <a:srgbClr val="4B5563"/>
              </a:solidFill>
              <a:latin typeface="Times New Roman" panose="02020603050405020304" pitchFamily="18" charset="0"/>
              <a:cs typeface="Times New Roman" panose="02020603050405020304" pitchFamily="18" charset="0"/>
            </a:endParaRPr>
          </a:p>
        </p:txBody>
      </p:sp>
      <p:sp>
        <p:nvSpPr>
          <p:cNvPr id="16" name="Rounded Rectangle 15"/>
          <p:cNvSpPr/>
          <p:nvPr/>
        </p:nvSpPr>
        <p:spPr>
          <a:xfrm>
            <a:off x="548640" y="7635240"/>
            <a:ext cx="17190720" cy="205740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ctr">
            <a:noAutofit/>
          </a:bodyPr>
          <a:lstStyle/>
          <a:p>
            <a:pPr algn="l">
              <a:spcAft>
                <a:spcPts val="600"/>
              </a:spcAft>
            </a:pPr>
            <a:r>
              <a:rPr sz="2600" b="1" i="0" dirty="0">
                <a:solidFill>
                  <a:srgbClr val="FEF3C7"/>
                </a:solidFill>
                <a:latin typeface="Times New Roman" panose="02020603050405020304" pitchFamily="18" charset="0"/>
                <a:cs typeface="Times New Roman" panose="02020603050405020304" pitchFamily="18" charset="0"/>
              </a:rPr>
              <a:t>Expected outcome</a:t>
            </a:r>
          </a:p>
          <a:p>
            <a:pPr algn="l">
              <a:spcAft>
                <a:spcPts val="400"/>
              </a:spcAft>
            </a:pPr>
            <a:r>
              <a:rPr sz="2300" b="0" i="0" dirty="0">
                <a:solidFill>
                  <a:srgbClr val="FFFFFF"/>
                </a:solidFill>
                <a:latin typeface="Times New Roman" panose="02020603050405020304" pitchFamily="18" charset="0"/>
                <a:cs typeface="Times New Roman" panose="02020603050405020304" pitchFamily="18" charset="0"/>
              </a:rPr>
              <a:t>A simulated community microgrid run by a real ESP32 </a:t>
            </a:r>
            <a:r>
              <a:rPr lang="en-IN" sz="2300" b="0" i="0" dirty="0">
                <a:solidFill>
                  <a:srgbClr val="FFFFFF"/>
                </a:solidFill>
                <a:latin typeface="Times New Roman" panose="02020603050405020304" pitchFamily="18" charset="0"/>
                <a:cs typeface="Times New Roman" panose="02020603050405020304" pitchFamily="18" charset="0"/>
              </a:rPr>
              <a:t>node </a:t>
            </a:r>
            <a:r>
              <a:rPr sz="2300" b="0" i="0" dirty="0">
                <a:solidFill>
                  <a:srgbClr val="FFFFFF"/>
                </a:solidFill>
                <a:latin typeface="Times New Roman" panose="02020603050405020304" pitchFamily="18" charset="0"/>
                <a:cs typeface="Times New Roman" panose="02020603050405020304" pitchFamily="18" charset="0"/>
              </a:rPr>
              <a:t>controller</a:t>
            </a:r>
            <a:r>
              <a:rPr lang="en-IN" sz="2300" b="0" i="0" dirty="0">
                <a:solidFill>
                  <a:srgbClr val="FFFFFF"/>
                </a:solidFill>
                <a:latin typeface="Times New Roman" panose="02020603050405020304" pitchFamily="18" charset="0"/>
                <a:cs typeface="Times New Roman" panose="02020603050405020304" pitchFamily="18" charset="0"/>
              </a:rPr>
              <a:t>s</a:t>
            </a:r>
            <a:r>
              <a:rPr sz="2300" b="0" i="0" dirty="0">
                <a:solidFill>
                  <a:srgbClr val="FFFFFF"/>
                </a:solidFill>
                <a:latin typeface="Times New Roman" panose="02020603050405020304" pitchFamily="18" charset="0"/>
                <a:cs typeface="Times New Roman" panose="02020603050405020304" pitchFamily="18" charset="0"/>
              </a:rPr>
              <a:t> with a</a:t>
            </a:r>
            <a:r>
              <a:rPr lang="en-IN" sz="2300" b="0" i="0" dirty="0" err="1">
                <a:solidFill>
                  <a:srgbClr val="FFFFFF"/>
                </a:solidFill>
                <a:latin typeface="Times New Roman" panose="02020603050405020304" pitchFamily="18" charset="0"/>
                <a:cs typeface="Times New Roman" panose="02020603050405020304" pitchFamily="18" charset="0"/>
              </a:rPr>
              <a:t>nd</a:t>
            </a:r>
            <a:r>
              <a:rPr lang="en-IN" sz="2300" b="0" i="0" dirty="0">
                <a:solidFill>
                  <a:srgbClr val="FFFFFF"/>
                </a:solidFill>
                <a:latin typeface="Times New Roman" panose="02020603050405020304" pitchFamily="18" charset="0"/>
                <a:cs typeface="Times New Roman" panose="02020603050405020304" pitchFamily="18" charset="0"/>
              </a:rPr>
              <a:t> a main controller</a:t>
            </a:r>
            <a:r>
              <a:rPr sz="2300" b="0" i="0" dirty="0">
                <a:solidFill>
                  <a:srgbClr val="FFFFFF"/>
                </a:solidFill>
                <a:latin typeface="Times New Roman" panose="02020603050405020304" pitchFamily="18" charset="0"/>
                <a:cs typeface="Times New Roman" panose="02020603050405020304" pitchFamily="18" charset="0"/>
              </a:rPr>
              <a:t>: it shares solar between neighbors through a prepaid ledger, plans the battery from forecasts, islands safely when the grid fails, and keeps critical loads on</a:t>
            </a:r>
            <a:r>
              <a:rPr lang="en-IN" sz="2300" dirty="0">
                <a:solidFill>
                  <a:srgbClr val="FFFFFF"/>
                </a:solidFill>
                <a:latin typeface="Times New Roman" panose="02020603050405020304" pitchFamily="18" charset="0"/>
                <a:cs typeface="Times New Roman" panose="02020603050405020304" pitchFamily="18" charset="0"/>
              </a:rPr>
              <a:t> and shows everything live on dashboard.</a:t>
            </a:r>
            <a:endParaRPr sz="2300" b="0" i="0" dirty="0">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509790"/>
            <a:ext cx="17190720" cy="834396"/>
          </a:xfrm>
          <a:prstGeom prst="rect">
            <a:avLst/>
          </a:prstGeom>
        </p:spPr>
        <p:txBody>
          <a:bodyPr wrap="square" lIns="0" tIns="0" rIns="0" bIns="0" rtlCol="0" anchor="t">
            <a:spAutoFit/>
          </a:bodyPr>
          <a:lstStyle/>
          <a:p>
            <a:pPr algn="l">
              <a:lnSpc>
                <a:spcPts val="7279"/>
              </a:lnSpc>
            </a:pPr>
            <a:r>
              <a:rPr lang="en-US" sz="4400" b="1" dirty="0">
                <a:solidFill>
                  <a:srgbClr val="000000"/>
                </a:solidFill>
                <a:latin typeface="Times New Roman" panose="02020603050405020304" pitchFamily="18" charset="0"/>
                <a:ea typeface="Canva Sans Bold"/>
                <a:cs typeface="Times New Roman" panose="02020603050405020304" pitchFamily="18" charset="0"/>
                <a:sym typeface="Canva Sans Bold"/>
              </a:rPr>
              <a:t>Link of sources and Reference:</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txBody>
              <a:bodyPr/>
              <a:lstStyle/>
              <a:p>
                <a:endParaRPr lang="en-US" dirty="0">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txBody>
              <a:bodyPr/>
              <a:lstStyle/>
              <a:p>
                <a:endParaRPr lang="en-US" dirty="0">
                  <a:latin typeface="Times New Roman" panose="02020603050405020304" pitchFamily="18" charset="0"/>
                  <a:cs typeface="Times New Roman" panose="02020603050405020304" pitchFamily="18" charset="0"/>
                </a:endParaRPr>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txBody>
              <a:bodyPr/>
              <a:lstStyle/>
              <a:p>
                <a:endParaRPr lang="en-US" dirty="0">
                  <a:latin typeface="Times New Roman" panose="02020603050405020304" pitchFamily="18" charset="0"/>
                  <a:cs typeface="Times New Roman" panose="02020603050405020304" pitchFamily="18" charset="0"/>
                </a:endParaRPr>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dirty="0">
                  <a:solidFill>
                    <a:srgbClr val="692B39"/>
                  </a:solidFill>
                  <a:latin typeface="Times New Roman" panose="02020603050405020304" pitchFamily="18" charset="0"/>
                  <a:ea typeface="Times New Roman"/>
                  <a:cs typeface="Times New Roman" panose="02020603050405020304" pitchFamily="18" charset="0"/>
                  <a:sym typeface="Times New Roman"/>
                </a:rPr>
                <a:t>Walchand College of Engineering, Sangli</a:t>
              </a:r>
            </a:p>
            <a:p>
              <a:pPr algn="ctr">
                <a:lnSpc>
                  <a:spcPts val="4759"/>
                </a:lnSpc>
              </a:pPr>
              <a:r>
                <a:rPr lang="en-US" sz="3399" dirty="0">
                  <a:solidFill>
                    <a:srgbClr val="692B39"/>
                  </a:solidFill>
                  <a:latin typeface="Times New Roman" panose="02020603050405020304" pitchFamily="18" charset="0"/>
                  <a:ea typeface="Times New Roman"/>
                  <a:cs typeface="Times New Roman" panose="02020603050405020304" pitchFamily="18" charset="0"/>
                  <a:sym typeface="Times New Roman"/>
                </a:rPr>
                <a:t>A </a:t>
              </a:r>
              <a:r>
                <a:rPr lang="en-US" sz="3399" dirty="0" err="1">
                  <a:solidFill>
                    <a:srgbClr val="692B39"/>
                  </a:solidFill>
                  <a:latin typeface="Times New Roman" panose="02020603050405020304" pitchFamily="18" charset="0"/>
                  <a:ea typeface="Times New Roman"/>
                  <a:cs typeface="Times New Roman" panose="02020603050405020304" pitchFamily="18" charset="0"/>
                  <a:sym typeface="Times New Roman"/>
                </a:rPr>
                <a:t>Goverment</a:t>
              </a:r>
              <a:r>
                <a:rPr lang="en-US" sz="3399" dirty="0">
                  <a:solidFill>
                    <a:srgbClr val="692B39"/>
                  </a:solidFill>
                  <a:latin typeface="Times New Roman" panose="02020603050405020304" pitchFamily="18" charset="0"/>
                  <a:ea typeface="Times New Roman"/>
                  <a:cs typeface="Times New Roman" panose="02020603050405020304" pitchFamily="18" charset="0"/>
                  <a:sym typeface="Times New Roman"/>
                </a:rPr>
                <a:t>-Aided Autonomous Institute</a:t>
              </a:r>
            </a:p>
          </p:txBody>
        </p:sp>
      </p:grpSp>
      <p:sp>
        <p:nvSpPr>
          <p:cNvPr id="11" name="TextBox 10"/>
          <p:cNvSpPr txBox="1"/>
          <p:nvPr/>
        </p:nvSpPr>
        <p:spPr>
          <a:xfrm>
            <a:off x="548640" y="2514600"/>
            <a:ext cx="17190720" cy="7223760"/>
          </a:xfrm>
          <a:prstGeom prst="rect">
            <a:avLst/>
          </a:prstGeom>
          <a:noFill/>
        </p:spPr>
        <p:txBody>
          <a:bodyPr wrap="square" lIns="0" tIns="0" rIns="0" bIns="0" anchor="t">
            <a:noAutofit/>
          </a:bodyPr>
          <a:lstStyle/>
          <a:p>
            <a:pPr>
              <a:lnSpc>
                <a:spcPct val="150000"/>
              </a:lnSpc>
              <a:spcAft>
                <a:spcPts val="1400"/>
              </a:spcAft>
            </a:pPr>
            <a:r>
              <a:rPr sz="2300" b="1" i="0" dirty="0">
                <a:solidFill>
                  <a:srgbClr val="7A1F2B"/>
                </a:solidFill>
                <a:latin typeface="Times New Roman" panose="02020603050405020304" pitchFamily="18" charset="0"/>
                <a:cs typeface="Times New Roman" panose="02020603050405020304" pitchFamily="18" charset="0"/>
              </a:rPr>
              <a:t>[1] </a:t>
            </a:r>
            <a:r>
              <a:rPr lang="en-US" sz="2300" dirty="0">
                <a:latin typeface="Times New Roman" panose="02020603050405020304" pitchFamily="18" charset="0"/>
                <a:cs typeface="Times New Roman" panose="02020603050405020304" pitchFamily="18" charset="0"/>
              </a:rPr>
              <a:t>A. S. Aralkar et al., "</a:t>
            </a:r>
            <a:r>
              <a:rPr lang="en-US" sz="2300" dirty="0" err="1">
                <a:latin typeface="Times New Roman" panose="02020603050405020304" pitchFamily="18" charset="0"/>
                <a:cs typeface="Times New Roman" panose="02020603050405020304" pitchFamily="18" charset="0"/>
              </a:rPr>
              <a:t>Goodwatts</a:t>
            </a:r>
            <a:r>
              <a:rPr lang="en-US" sz="2300" dirty="0">
                <a:latin typeface="Times New Roman" panose="02020603050405020304" pitchFamily="18" charset="0"/>
                <a:cs typeface="Times New Roman" panose="02020603050405020304" pitchFamily="18" charset="0"/>
              </a:rPr>
              <a:t>-Intelligent Power Monitoring &amp; Fault Protection System for Residential Buildings," in </a:t>
            </a:r>
            <a:r>
              <a:rPr lang="en-US" sz="2300" i="1" dirty="0">
                <a:latin typeface="Times New Roman" panose="02020603050405020304" pitchFamily="18" charset="0"/>
                <a:cs typeface="Times New Roman" panose="02020603050405020304" pitchFamily="18" charset="0"/>
              </a:rPr>
              <a:t>Advances in Power       Systems and Applications</a:t>
            </a:r>
            <a:r>
              <a:rPr lang="en-US" sz="2300" dirty="0">
                <a:latin typeface="Times New Roman" panose="02020603050405020304" pitchFamily="18" charset="0"/>
                <a:cs typeface="Times New Roman" panose="02020603050405020304" pitchFamily="18" charset="0"/>
              </a:rPr>
              <a:t>, vol. 6, IIP, 2026, pp. 39-54. DOI: 10.58532/nbennurAPSAV6B1P1C3</a:t>
            </a:r>
            <a:r>
              <a:rPr lang="en-US" sz="2300" b="1" dirty="0">
                <a:solidFill>
                  <a:srgbClr val="7A1F2B"/>
                </a:solidFill>
                <a:latin typeface="Times New Roman" panose="02020603050405020304" pitchFamily="18" charset="0"/>
                <a:cs typeface="Times New Roman" panose="02020603050405020304" pitchFamily="18" charset="0"/>
              </a:rPr>
              <a:t> </a:t>
            </a:r>
            <a:endParaRPr lang="en-US" sz="2300" dirty="0">
              <a:solidFill>
                <a:srgbClr val="1F2933"/>
              </a:solidFill>
              <a:latin typeface="Times New Roman" panose="02020603050405020304" pitchFamily="18" charset="0"/>
              <a:cs typeface="Times New Roman" panose="02020603050405020304" pitchFamily="18" charset="0"/>
            </a:endParaRPr>
          </a:p>
          <a:p>
            <a:pPr algn="l">
              <a:lnSpc>
                <a:spcPct val="150000"/>
              </a:lnSpc>
              <a:spcAft>
                <a:spcPts val="1400"/>
              </a:spcAft>
            </a:pPr>
            <a:r>
              <a:rPr sz="2300" b="1" i="0" dirty="0">
                <a:solidFill>
                  <a:srgbClr val="7A1F2B"/>
                </a:solidFill>
                <a:latin typeface="Times New Roman" panose="02020603050405020304" pitchFamily="18" charset="0"/>
                <a:cs typeface="Times New Roman" panose="02020603050405020304" pitchFamily="18" charset="0"/>
              </a:rPr>
              <a:t>[2]  </a:t>
            </a:r>
            <a:r>
              <a:rPr sz="2300" b="0" i="0" dirty="0">
                <a:solidFill>
                  <a:srgbClr val="1F2933"/>
                </a:solidFill>
                <a:latin typeface="Times New Roman" panose="02020603050405020304" pitchFamily="18" charset="0"/>
                <a:cs typeface="Times New Roman" panose="02020603050405020304" pitchFamily="18" charset="0"/>
              </a:rPr>
              <a:t>PIB, Ministry of Power (2023): Electricity (Rights of Consumers) Amendment Rules, Time-of-Day tariff. pib.gov.in/</a:t>
            </a:r>
            <a:r>
              <a:rPr sz="2300" b="0" i="0" dirty="0" err="1">
                <a:solidFill>
                  <a:srgbClr val="1F2933"/>
                </a:solidFill>
                <a:latin typeface="Times New Roman" panose="02020603050405020304" pitchFamily="18" charset="0"/>
                <a:cs typeface="Times New Roman" panose="02020603050405020304" pitchFamily="18" charset="0"/>
              </a:rPr>
              <a:t>PressReleasePage.aspx?PRID</a:t>
            </a:r>
            <a:r>
              <a:rPr sz="2300" b="0" i="0" dirty="0">
                <a:solidFill>
                  <a:srgbClr val="1F2933"/>
                </a:solidFill>
                <a:latin typeface="Times New Roman" panose="02020603050405020304" pitchFamily="18" charset="0"/>
                <a:cs typeface="Times New Roman" panose="02020603050405020304" pitchFamily="18" charset="0"/>
              </a:rPr>
              <a:t>=1934673</a:t>
            </a:r>
          </a:p>
          <a:p>
            <a:pPr algn="l">
              <a:lnSpc>
                <a:spcPct val="150000"/>
              </a:lnSpc>
              <a:spcAft>
                <a:spcPts val="1400"/>
              </a:spcAft>
            </a:pPr>
            <a:r>
              <a:rPr sz="2300" b="1" i="0" dirty="0">
                <a:solidFill>
                  <a:srgbClr val="7A1F2B"/>
                </a:solidFill>
                <a:latin typeface="Times New Roman" panose="02020603050405020304" pitchFamily="18" charset="0"/>
                <a:cs typeface="Times New Roman" panose="02020603050405020304" pitchFamily="18" charset="0"/>
              </a:rPr>
              <a:t>[3]  </a:t>
            </a:r>
            <a:r>
              <a:rPr sz="2300" b="0" i="0" dirty="0">
                <a:solidFill>
                  <a:srgbClr val="1F2933"/>
                </a:solidFill>
                <a:latin typeface="Times New Roman" panose="02020603050405020304" pitchFamily="18" charset="0"/>
                <a:cs typeface="Times New Roman" panose="02020603050405020304" pitchFamily="18" charset="0"/>
              </a:rPr>
              <a:t>PIB: Nationwide push for smart prepaid meters. pib.gov.in/</a:t>
            </a:r>
            <a:r>
              <a:rPr sz="2300" b="0" i="0" dirty="0" err="1">
                <a:solidFill>
                  <a:srgbClr val="1F2933"/>
                </a:solidFill>
                <a:latin typeface="Times New Roman" panose="02020603050405020304" pitchFamily="18" charset="0"/>
                <a:cs typeface="Times New Roman" panose="02020603050405020304" pitchFamily="18" charset="0"/>
              </a:rPr>
              <a:t>PressReleaseIframePage.aspx?PRID</a:t>
            </a:r>
            <a:r>
              <a:rPr sz="2300" b="0" i="0" dirty="0">
                <a:solidFill>
                  <a:srgbClr val="1F2933"/>
                </a:solidFill>
                <a:latin typeface="Times New Roman" panose="02020603050405020304" pitchFamily="18" charset="0"/>
                <a:cs typeface="Times New Roman" panose="02020603050405020304" pitchFamily="18" charset="0"/>
              </a:rPr>
              <a:t>=2202459</a:t>
            </a:r>
          </a:p>
          <a:p>
            <a:pPr algn="l">
              <a:lnSpc>
                <a:spcPct val="150000"/>
              </a:lnSpc>
              <a:spcAft>
                <a:spcPts val="1400"/>
              </a:spcAft>
            </a:pPr>
            <a:r>
              <a:rPr sz="2300" b="1" i="0" dirty="0">
                <a:solidFill>
                  <a:srgbClr val="7A1F2B"/>
                </a:solidFill>
                <a:latin typeface="Times New Roman" panose="02020603050405020304" pitchFamily="18" charset="0"/>
                <a:cs typeface="Times New Roman" panose="02020603050405020304" pitchFamily="18" charset="0"/>
              </a:rPr>
              <a:t>[4]  </a:t>
            </a:r>
            <a:r>
              <a:rPr sz="2300" b="0" i="0" dirty="0">
                <a:solidFill>
                  <a:srgbClr val="1F2933"/>
                </a:solidFill>
                <a:latin typeface="Times New Roman" panose="02020603050405020304" pitchFamily="18" charset="0"/>
                <a:cs typeface="Times New Roman" panose="02020603050405020304" pitchFamily="18" charset="0"/>
              </a:rPr>
              <a:t>IEEE 1547-2018: Interconnection of distributed energy resources with electric power systems (islanding)</a:t>
            </a:r>
          </a:p>
          <a:p>
            <a:pPr algn="l">
              <a:lnSpc>
                <a:spcPct val="150000"/>
              </a:lnSpc>
              <a:spcAft>
                <a:spcPts val="1400"/>
              </a:spcAft>
            </a:pPr>
            <a:r>
              <a:rPr sz="2300" b="1" i="0" dirty="0">
                <a:solidFill>
                  <a:srgbClr val="7A1F2B"/>
                </a:solidFill>
                <a:latin typeface="Times New Roman" panose="02020603050405020304" pitchFamily="18" charset="0"/>
                <a:cs typeface="Times New Roman" panose="02020603050405020304" pitchFamily="18" charset="0"/>
              </a:rPr>
              <a:t>[5]  </a:t>
            </a:r>
            <a:r>
              <a:rPr sz="2300" b="0" i="0" dirty="0" err="1">
                <a:solidFill>
                  <a:srgbClr val="1F2933"/>
                </a:solidFill>
                <a:latin typeface="Times New Roman" panose="02020603050405020304" pitchFamily="18" charset="0"/>
                <a:cs typeface="Times New Roman" panose="02020603050405020304" pitchFamily="18" charset="0"/>
              </a:rPr>
              <a:t>Espressif</a:t>
            </a:r>
            <a:r>
              <a:rPr sz="2300" b="0" i="0" dirty="0">
                <a:solidFill>
                  <a:srgbClr val="1F2933"/>
                </a:solidFill>
                <a:latin typeface="Times New Roman" panose="02020603050405020304" pitchFamily="18" charset="0"/>
                <a:cs typeface="Times New Roman" panose="02020603050405020304" pitchFamily="18" charset="0"/>
              </a:rPr>
              <a:t> ESP32 datasheet. espressif.com</a:t>
            </a:r>
          </a:p>
          <a:p>
            <a:pPr algn="l">
              <a:lnSpc>
                <a:spcPct val="150000"/>
              </a:lnSpc>
              <a:spcAft>
                <a:spcPts val="1400"/>
              </a:spcAft>
            </a:pPr>
            <a:r>
              <a:rPr sz="2300" b="1" i="0" dirty="0">
                <a:solidFill>
                  <a:srgbClr val="7A1F2B"/>
                </a:solidFill>
                <a:latin typeface="Times New Roman" panose="02020603050405020304" pitchFamily="18" charset="0"/>
                <a:cs typeface="Times New Roman" panose="02020603050405020304" pitchFamily="18" charset="0"/>
              </a:rPr>
              <a:t>[6]  </a:t>
            </a:r>
            <a:r>
              <a:rPr sz="2300" b="0" i="0" dirty="0">
                <a:solidFill>
                  <a:srgbClr val="1F2933"/>
                </a:solidFill>
                <a:latin typeface="Times New Roman" panose="02020603050405020304" pitchFamily="18" charset="0"/>
                <a:cs typeface="Times New Roman" panose="02020603050405020304" pitchFamily="18" charset="0"/>
              </a:rPr>
              <a:t>MathWorks </a:t>
            </a:r>
            <a:r>
              <a:rPr sz="2300" b="0" i="0" dirty="0" err="1">
                <a:solidFill>
                  <a:srgbClr val="1F2933"/>
                </a:solidFill>
                <a:latin typeface="Times New Roman" panose="02020603050405020304" pitchFamily="18" charset="0"/>
                <a:cs typeface="Times New Roman" panose="02020603050405020304" pitchFamily="18" charset="0"/>
              </a:rPr>
              <a:t>Simscape</a:t>
            </a:r>
            <a:r>
              <a:rPr sz="2300" b="0" i="0" dirty="0">
                <a:solidFill>
                  <a:srgbClr val="1F2933"/>
                </a:solidFill>
                <a:latin typeface="Times New Roman" panose="02020603050405020304" pitchFamily="18" charset="0"/>
                <a:cs typeface="Times New Roman" panose="02020603050405020304" pitchFamily="18" charset="0"/>
              </a:rPr>
              <a:t> Electrical. mathworks.com/products/simscape-electrical.html</a:t>
            </a:r>
            <a:r>
              <a:rPr lang="en-IN" sz="2300" b="0" i="0" dirty="0">
                <a:solidFill>
                  <a:srgbClr val="1F2933"/>
                </a:solidFill>
                <a:latin typeface="Times New Roman" panose="02020603050405020304" pitchFamily="18" charset="0"/>
                <a:cs typeface="Times New Roman" panose="02020603050405020304" pitchFamily="18" charset="0"/>
              </a:rPr>
              <a:t>]</a:t>
            </a:r>
          </a:p>
          <a:p>
            <a:pPr algn="l">
              <a:spcAft>
                <a:spcPts val="1400"/>
              </a:spcAft>
            </a:pPr>
            <a:endParaRPr sz="2300" b="0" i="0" dirty="0">
              <a:solidFill>
                <a:srgbClr val="1F2933"/>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1670</TotalTime>
  <Words>1846</Words>
  <Application>Microsoft Office PowerPoint</Application>
  <PresentationFormat>Custom</PresentationFormat>
  <Paragraphs>148</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Times New Roman</vt:lpstr>
      <vt:lpstr>Calibri</vt:lpstr>
      <vt:lpstr>The Seasons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- 26179 • Problem Statement Title On-device Al for re_20261002_093029_0000.pptx</dc:title>
  <dc:creator>Ganesh Tatgunti</dc:creator>
  <cp:lastModifiedBy>Ganesh Tatgunti</cp:lastModifiedBy>
  <cp:revision>49</cp:revision>
  <dcterms:created xsi:type="dcterms:W3CDTF">2006-08-16T00:00:00Z</dcterms:created>
  <dcterms:modified xsi:type="dcterms:W3CDTF">2026-10-10T11:53:48Z</dcterms:modified>
  <dc:identifier>DAHW05TWix4</dc:identifier>
</cp:coreProperties>
</file>