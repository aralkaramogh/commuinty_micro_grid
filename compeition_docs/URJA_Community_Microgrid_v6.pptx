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9" r:id="rId7"/>
    <p:sldId id="261" r:id="rId8"/>
    <p:sldId id="270" r:id="rId17"/>
    <p:sldId id="262" r:id="rId9"/>
  </p:sldIdLst>
  <p:sldSz cx="18288000" cy="10287000"/>
  <p:notesSz cx="6858000" cy="9144000"/>
  <p:embeddedFontLst>
    <p:embeddedFont>
      <p:font typeface="Canva Sans Bold" panose="020B0604020202020204" charset="0"/>
      <p:regular r:id="rId11"/>
    </p:embeddedFon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settle shared energy through a prepaid ledger,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 Hierarchical control means two levels: small local controllers (nodes) protect their own equipment, and one main controller coordinates the whole community.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simulated in MATLAB: the main grid, the grid switch, one solar + battery plant (5 kWp, 10 kWh), two houses and a community load. House 1 has rooftop solar and sells its surplus; House 2 has no solar and buys through a prepaid RFID card. The community load has 600 W of critical load (lights, hall) and a 1.5 kW pump that can be shed. The real hardware is four ESP32 boards, one per component, connected by USB: each switches its relays, trips on over-current and has an E-stop. The main controller (MATLAB logic) decides the mode, the battery set-point, shedding and the ledger, and publishes everything to the Raspberry Pi over MQTT for the dashboard. Active power P does useful work; reactive power Q sloshes back and forth in AC systems and must also be supplied.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four ESP32 boards are real; the power system around them is simulated. Every second MATLAB sends each board its measurements over USB and the board replies, exactly as it would with real sensors. The main controller reads only those replies and the grid meter, then sends commands back. Right: a state machine, so the system is always in one clear mode. It islands when the grid is lost and reconnects only when the grid is stable and voltage and phase match (within 5 degrees), so it does not flap on and off. If the battery runs low in an outage, flexible loads are shed in a fixed order: the community pump first, then House 2, then House 1. Critical loads are never shed.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chart is our demo scenario: an evening outage of about 10 minutes. Top: the battery (orange) supplies the loads (black dashed). Middle: the mode goes GRID → ISLAND → RESYNC → GRID; frequency stays near 50 Hz. Bottom: battery charge falls slowly from 80% to 65%. Be honest if asked: our model steps once per second, so at the instant the grid fails the bus is dead for one step before the switch opens; a real transfer switch is much faster. Monte Carlo = many random variations of the same day; 0 differences means the C++ firmware on the ESP32 made exactly the same decisions as the MATLAB model for 835,600 replies. On the right is what we will show live: the MATLAB demo panel and the Node-RED dashboard in the browser.</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it is what makes this a community microgrid rather than just a backup system. Load forecasting here is basic: a trend from the logged demand, used to plan when to charge the battery.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7"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3493905"/>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mj-lt"/>
              </a:rPr>
              <a:t>Title:</a:t>
            </a:r>
            <a:r>
              <a:rPr lang="en-IN" sz="3200" b="1" dirty="0">
                <a:solidFill>
                  <a:srgbClr val="1F2933"/>
                </a:solidFill>
                <a:latin typeface="+mj-lt"/>
              </a:rPr>
              <a:t> Community Microgrid &amp; Energy Sharing with Hierarchical Control</a:t>
            </a:r>
          </a:p>
          <a:p>
            <a:pPr algn="l">
              <a:lnSpc>
                <a:spcPct val="150000"/>
              </a:lnSpc>
              <a:spcAft>
                <a:spcPts val="1600"/>
              </a:spcAft>
            </a:pPr>
            <a:r>
              <a:rPr sz="3200" b="1" i="0" dirty="0">
                <a:solidFill>
                  <a:srgbClr val="1F2933"/>
                </a:solidFill>
                <a:latin typeface="+mj-lt"/>
              </a:rPr>
              <a:t>Team:</a:t>
            </a:r>
            <a:r>
              <a:rPr lang="en-IN" sz="3200" b="1" i="0" dirty="0">
                <a:solidFill>
                  <a:srgbClr val="1F2933"/>
                </a:solidFill>
                <a:latin typeface="+mj-lt"/>
              </a:rPr>
              <a:t> URJA </a:t>
            </a:r>
            <a:r>
              <a:rPr lang="en-IN" sz="2400" b="1" i="0" dirty="0">
                <a:solidFill>
                  <a:srgbClr val="1F2933"/>
                </a:solidFill>
                <a:latin typeface="+mj-lt"/>
              </a:rPr>
              <a:t>– </a:t>
            </a:r>
            <a:r>
              <a:rPr lang="en-IN" sz="3200" i="0" dirty="0">
                <a:solidFill>
                  <a:srgbClr val="1F2933"/>
                </a:solidFill>
                <a:latin typeface="+mj-lt"/>
              </a:rPr>
              <a:t>Amogh Aralkar, Ganesh Tatgunti, Mohammad Zakir, Pranali Shinde, Atharva Shrivastava</a:t>
            </a:r>
            <a:endParaRPr lang="en-IN" sz="3600" i="0" dirty="0">
              <a:solidFill>
                <a:srgbClr val="1F2933"/>
              </a:solidFill>
              <a:latin typeface="+mj-lt"/>
            </a:endParaRPr>
          </a:p>
          <a:p>
            <a:pPr algn="l">
              <a:lnSpc>
                <a:spcPct val="150000"/>
              </a:lnSpc>
              <a:spcAft>
                <a:spcPts val="1600"/>
              </a:spcAft>
            </a:pPr>
            <a:r>
              <a:rPr sz="3200" b="1" i="0" dirty="0">
                <a:solidFill>
                  <a:srgbClr val="1F2933"/>
                </a:solidFill>
                <a:latin typeface="+mj-lt"/>
              </a:rPr>
              <a:t>Category:</a:t>
            </a:r>
            <a:r>
              <a:rPr lang="en-IN" sz="3200" b="1" i="0" dirty="0">
                <a:solidFill>
                  <a:srgbClr val="1F2933"/>
                </a:solidFill>
                <a:latin typeface="+mj-lt"/>
              </a:rPr>
              <a:t> </a:t>
            </a:r>
            <a:r>
              <a:rPr lang="en-IN" sz="3200" i="0" dirty="0">
                <a:solidFill>
                  <a:srgbClr val="1F2933"/>
                </a:solidFill>
                <a:latin typeface="+mj-lt"/>
              </a:rPr>
              <a:t>Hardware</a:t>
            </a:r>
            <a:endParaRPr sz="2800" i="0" dirty="0">
              <a:solidFill>
                <a:srgbClr val="1F2933"/>
              </a:solidFill>
              <a:latin typeface="+mj-lt"/>
            </a:endParaRPr>
          </a:p>
          <a:p>
            <a:pPr algn="l">
              <a:lnSpc>
                <a:spcPct val="150000"/>
              </a:lnSpc>
              <a:spcAft>
                <a:spcPts val="1600"/>
              </a:spcAft>
            </a:pPr>
            <a:r>
              <a:rPr sz="3200" b="1" i="0" dirty="0">
                <a:solidFill>
                  <a:srgbClr val="1F2933"/>
                </a:solidFill>
                <a:latin typeface="+mj-lt"/>
              </a:rPr>
              <a:t>Track: </a:t>
            </a:r>
            <a:r>
              <a:rPr lang="en-IN" sz="3200" i="0" dirty="0">
                <a:solidFill>
                  <a:srgbClr val="1F2933"/>
                </a:solidFill>
                <a:latin typeface="+mj-lt"/>
              </a:rPr>
              <a:t>Renewable Energy</a:t>
            </a:r>
            <a:endParaRPr sz="2800" i="0" dirty="0">
              <a:solidFill>
                <a:srgbClr val="1F2933"/>
              </a:solidFill>
              <a:latin typeface="+mj-lt"/>
            </a:endParaRP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17264" y="6591300"/>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800"/>
              </a:spcAft>
            </a:pPr>
            <a:r>
              <a:rPr lang="en-IN" sz="2600" b="1" dirty="0">
                <a:solidFill>
                  <a:srgbClr val="B45309"/>
                </a:solidFill>
                <a:latin typeface="Calibri"/>
              </a:rPr>
              <a:t>1 line C</a:t>
            </a:r>
            <a:r>
              <a:rPr sz="2600" b="1" i="0" dirty="0">
                <a:solidFill>
                  <a:srgbClr val="B45309"/>
                </a:solidFill>
                <a:latin typeface="Calibri"/>
              </a:rPr>
              <a:t>ore </a:t>
            </a:r>
            <a:r>
              <a:rPr lang="en-IN" sz="2600" b="1" dirty="0">
                <a:solidFill>
                  <a:srgbClr val="B45309"/>
                </a:solidFill>
                <a:latin typeface="Calibri"/>
              </a:rPr>
              <a:t>I</a:t>
            </a:r>
            <a:r>
              <a:rPr sz="2600" b="1" i="0" dirty="0" err="1">
                <a:solidFill>
                  <a:srgbClr val="B45309"/>
                </a:solidFill>
                <a:latin typeface="Calibri"/>
              </a:rPr>
              <a:t>nnovation</a:t>
            </a:r>
            <a:r>
              <a:rPr sz="2600" b="1" i="0" dirty="0">
                <a:solidFill>
                  <a:srgbClr val="B45309"/>
                </a:solidFill>
                <a:latin typeface="Calibri"/>
              </a:rPr>
              <a:t> </a:t>
            </a:r>
            <a:r>
              <a:rPr lang="en-IN" sz="2600" b="1" dirty="0">
                <a:solidFill>
                  <a:srgbClr val="B45309"/>
                </a:solidFill>
                <a:latin typeface="Calibri"/>
              </a:rPr>
              <a:t>S</a:t>
            </a:r>
            <a:r>
              <a:rPr sz="2600" b="1" i="0" dirty="0">
                <a:solidFill>
                  <a:srgbClr val="B45309"/>
                </a:solidFill>
                <a:latin typeface="Calibri"/>
              </a:rPr>
              <a:t>ummary</a:t>
            </a:r>
          </a:p>
          <a:p>
            <a:pPr algn="l">
              <a:spcAft>
                <a:spcPts val="400"/>
              </a:spcAft>
            </a:pPr>
            <a:r>
              <a:rPr sz="2800" b="1" i="0" dirty="0">
                <a:solidFill>
                  <a:srgbClr val="1F2933"/>
                </a:solidFill>
                <a:latin typeface="Calibri"/>
              </a:rPr>
              <a:t>A community microgrid where neighbours share surplus solar through a prepaid energy ledger: four ESP32 node controllers protect each house, the solar + battery plant and the community load, a main controller islands the community safely when the grid fails without ever cutting critical loads, and a Raspberry Pi shows it all live on a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a:solidFill>
                  <a:srgbClr val="7A1F2B"/>
                </a:solidFill>
                <a:latin typeface="Calibri"/>
              </a:rPr>
              <a:t>PS #38 in brief</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Energy sharing: let neighbouring households trade and route localised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Solar surplus is not shared</a:t>
            </a:r>
          </a:p>
          <a:p>
            <a:pPr algn="l">
              <a:spcAft>
                <a:spcPts val="600"/>
              </a:spcAft>
            </a:pPr>
            <a:r>
              <a:rPr sz="2100" b="0" i="0">
                <a:solidFill>
                  <a:srgbClr val="4B5563"/>
                </a:solidFill>
                <a:latin typeface="Calibri"/>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No fair way to trade locally</a:t>
            </a:r>
          </a:p>
          <a:p>
            <a:pPr algn="l">
              <a:spcAft>
                <a:spcPts val="600"/>
              </a:spcAft>
            </a:pPr>
            <a:r>
              <a:rPr sz="2100" b="0" i="0">
                <a:solidFill>
                  <a:srgbClr val="4B5563"/>
                </a:solidFill>
                <a:latin typeface="Calibri"/>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Outages hit essentials first</a:t>
            </a:r>
          </a:p>
          <a:p>
            <a:pPr algn="l">
              <a:spcAft>
                <a:spcPts val="600"/>
              </a:spcAft>
            </a:pPr>
            <a:r>
              <a:rPr sz="2100" b="0" i="0">
                <a:solidFill>
                  <a:srgbClr val="4B5563"/>
                </a:solidFill>
                <a:latin typeface="Calibri"/>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Islanding must be safe</a:t>
            </a:r>
          </a:p>
          <a:p>
            <a:pPr algn="l">
              <a:spcAft>
                <a:spcPts val="600"/>
              </a:spcAft>
            </a:pPr>
            <a:r>
              <a:rPr sz="2100" b="0" i="0">
                <a:solidFill>
                  <a:srgbClr val="4B5563"/>
                </a:solidFill>
                <a:latin typeface="Calibri"/>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Storage is used blindly</a:t>
            </a:r>
          </a:p>
          <a:p>
            <a:pPr algn="l">
              <a:spcAft>
                <a:spcPts val="600"/>
              </a:spcAft>
            </a:pPr>
            <a:r>
              <a:rPr sz="2100" b="0" i="0">
                <a:solidFill>
                  <a:srgbClr val="4B5563"/>
                </a:solidFill>
                <a:latin typeface="Calibri"/>
              </a:rPr>
              <a:t>Batteries charge and discharge without regard to price or neighbours' needs.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11521440" cy="5486400"/>
          </a:xfrm>
          <a:prstGeom prst="roundRect">
            <a:avLst>
              <a:gd name="adj" fmla="val 3000"/>
            </a:avLst>
          </a:prstGeom>
          <a:noFill/>
          <a:ln w="25400">
            <a:solidFill>
              <a:srgbClr val="0F766E"/>
            </a:solidFill>
            <a:prstDash val="dash"/>
          </a:ln>
          <a:effectLst/>
        </p:spPr>
        <p:style>
          <a:lnRef idx="1">
            <a:schemeClr val="accent1"/>
          </a:lnRef>
          <a:fillRef idx="3">
            <a:schemeClr val="accent1"/>
          </a:fillRef>
          <a:effectRef idx="2">
            <a:schemeClr val="accent1"/>
          </a:effectRef>
          <a:fontRef idx="minor">
            <a:schemeClr val="lt1"/>
          </a:fontRef>
        </p:style>
        <p:txBody>
          <a:bodyPr lIns="137160" tIns="54864" rIns="137160" bIns="54864" rtlCol="0" anchor="ctr"/>
          <a:lstStyle/>
          <a:p>
            <a:pPr algn="ctr"/>
            <a:endParaRPr/>
          </a:p>
        </p:txBody>
      </p:sp>
      <p:sp>
        <p:nvSpPr>
          <p:cNvPr id="12" name="TextBox 11"/>
          <p:cNvSpPr txBox="1"/>
          <p:nvPr/>
        </p:nvSpPr>
        <p:spPr>
          <a:xfrm>
            <a:off x="777240" y="2514600"/>
            <a:ext cx="7315200" cy="457200"/>
          </a:xfrm>
          <a:prstGeom prst="rect">
            <a:avLst/>
          </a:prstGeom>
          <a:noFill/>
        </p:spPr>
        <p:txBody>
          <a:bodyPr wrap="square" lIns="0" tIns="0" rIns="0" bIns="0" anchor="t">
            <a:noAutofit/>
          </a:bodyPr>
          <a:lstStyle/>
          <a:p>
            <a:pPr algn="l">
              <a:spcAft>
                <a:spcPts val="600"/>
              </a:spcAft>
            </a:pPr>
            <a:r>
              <a:rPr sz="2000" b="1" i="0">
                <a:solidFill>
                  <a:srgbClr val="0F766E"/>
                </a:solidFill>
                <a:latin typeface="Calibri"/>
              </a:rPr>
              <a:t>Power system simulated in MATLAB (AC: P and Q)</a:t>
            </a:r>
          </a:p>
        </p:txBody>
      </p:sp>
      <p:sp>
        <p:nvSpPr>
          <p:cNvPr id="13" name="Rounded Rectangle 12"/>
          <p:cNvSpPr/>
          <p:nvPr/>
        </p:nvSpPr>
        <p:spPr>
          <a:xfrm>
            <a:off x="822960" y="3063240"/>
            <a:ext cx="260604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Main grid</a:t>
            </a:r>
          </a:p>
          <a:p>
            <a:pPr algn="ctr">
              <a:spcAft>
                <a:spcPts val="400"/>
              </a:spcAft>
            </a:pPr>
            <a:r>
              <a:rPr sz="1800" b="0" i="0">
                <a:solidFill>
                  <a:srgbClr val="4B5563"/>
                </a:solidFill>
                <a:latin typeface="Calibri"/>
              </a:rPr>
              <a:t>230 V AC</a:t>
            </a:r>
          </a:p>
        </p:txBody>
      </p:sp>
      <p:sp>
        <p:nvSpPr>
          <p:cNvPr id="14" name="Rounded Rectangle 13"/>
          <p:cNvSpPr/>
          <p:nvPr/>
        </p:nvSpPr>
        <p:spPr>
          <a:xfrm>
            <a:off x="3611880" y="3063240"/>
            <a:ext cx="2606040" cy="118872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Grid switch</a:t>
            </a:r>
          </a:p>
          <a:p>
            <a:pPr algn="ctr">
              <a:spcAft>
                <a:spcPts val="400"/>
              </a:spcAft>
            </a:pPr>
            <a:r>
              <a:rPr sz="1800" b="0" i="0">
                <a:solidFill>
                  <a:srgbClr val="4B5563"/>
                </a:solidFill>
                <a:latin typeface="Calibri"/>
              </a:rPr>
              <a:t>point of connection</a:t>
            </a:r>
          </a:p>
        </p:txBody>
      </p:sp>
      <p:sp>
        <p:nvSpPr>
          <p:cNvPr id="15" name="Rounded Rectangle 14"/>
          <p:cNvSpPr/>
          <p:nvPr/>
        </p:nvSpPr>
        <p:spPr>
          <a:xfrm>
            <a:off x="6400800" y="3063240"/>
            <a:ext cx="5394960" cy="118872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Solar + BESS plant</a:t>
            </a:r>
          </a:p>
          <a:p>
            <a:pPr algn="ctr">
              <a:spcAft>
                <a:spcPts val="400"/>
              </a:spcAft>
            </a:pPr>
            <a:r>
              <a:rPr sz="1800" b="0" i="0">
                <a:solidFill>
                  <a:srgbClr val="4B5563"/>
                </a:solidFill>
                <a:latin typeface="Calibri"/>
              </a:rPr>
              <a:t>5 kWp PV · 10 kWh battery · inverter</a:t>
            </a:r>
          </a:p>
        </p:txBody>
      </p:sp>
      <p:cxnSp>
        <p:nvCxnSpPr>
          <p:cNvPr id="17" name="Connector 16"/>
          <p:cNvCxnSpPr/>
          <p:nvPr/>
        </p:nvCxnSpPr>
        <p:spPr>
          <a:xfrm>
            <a:off x="3429000" y="3657600"/>
            <a:ext cx="18288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4900" y="4251960"/>
            <a:ext cx="0" cy="6858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98280" y="4251960"/>
            <a:ext cx="0" cy="685800"/>
          </a:xfrm>
          <a:prstGeom prst="line">
            <a:avLst/>
          </a:prstGeom>
          <a:ln w="2857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 y="4937760"/>
            <a:ext cx="109728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434840"/>
            <a:ext cx="2560320" cy="4114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community AC bus</a:t>
            </a:r>
          </a:p>
        </p:txBody>
      </p:sp>
      <p:cxnSp>
        <p:nvCxnSpPr>
          <p:cNvPr id="23" name="Connector 22"/>
          <p:cNvCxnSpPr/>
          <p:nvPr/>
        </p:nvCxnSpPr>
        <p:spPr>
          <a:xfrm>
            <a:off x="258318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 y="5806440"/>
            <a:ext cx="35204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1</a:t>
            </a:r>
          </a:p>
          <a:p>
            <a:pPr algn="ctr">
              <a:spcAft>
                <a:spcPts val="200"/>
              </a:spcAft>
            </a:pPr>
            <a:r>
              <a:rPr sz="1800" b="1" i="0">
                <a:solidFill>
                  <a:srgbClr val="B45309"/>
                </a:solidFill>
                <a:latin typeface="Calibri"/>
              </a:rPr>
              <a:t>rooftop solar 3 kWp · seller</a:t>
            </a:r>
          </a:p>
          <a:p>
            <a:pPr algn="ctr">
              <a:spcAft>
                <a:spcPts val="400"/>
              </a:spcAft>
            </a:pPr>
            <a:r>
              <a:rPr sz="1600" b="0" i="0">
                <a:solidFill>
                  <a:srgbClr val="4B5563"/>
                </a:solidFill>
                <a:latin typeface="Calibri"/>
              </a:rPr>
              <a:t>ESP32 node · prepaid ledger</a:t>
            </a:r>
          </a:p>
        </p:txBody>
      </p:sp>
      <p:cxnSp>
        <p:nvCxnSpPr>
          <p:cNvPr id="25" name="Connector 24"/>
          <p:cNvCxnSpPr/>
          <p:nvPr/>
        </p:nvCxnSpPr>
        <p:spPr>
          <a:xfrm>
            <a:off x="6309359"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49140" y="5806440"/>
            <a:ext cx="35204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2</a:t>
            </a:r>
          </a:p>
          <a:p>
            <a:pPr algn="ctr">
              <a:spcAft>
                <a:spcPts val="200"/>
              </a:spcAft>
            </a:pPr>
            <a:r>
              <a:rPr sz="1800" b="1" i="0">
                <a:solidFill>
                  <a:srgbClr val="B45309"/>
                </a:solidFill>
                <a:latin typeface="Calibri"/>
              </a:rPr>
              <a:t>no solar · buyer</a:t>
            </a:r>
          </a:p>
          <a:p>
            <a:pPr algn="ctr">
              <a:spcAft>
                <a:spcPts val="400"/>
              </a:spcAft>
            </a:pPr>
            <a:r>
              <a:rPr sz="1600" b="0" i="0">
                <a:solidFill>
                  <a:srgbClr val="4B5563"/>
                </a:solidFill>
                <a:latin typeface="Calibri"/>
              </a:rPr>
              <a:t>ESP32 node · RFID prepaid card</a:t>
            </a:r>
          </a:p>
        </p:txBody>
      </p:sp>
      <p:cxnSp>
        <p:nvCxnSpPr>
          <p:cNvPr id="27" name="Connector 26"/>
          <p:cNvCxnSpPr/>
          <p:nvPr/>
        </p:nvCxnSpPr>
        <p:spPr>
          <a:xfrm>
            <a:off x="1003554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275320" y="5806440"/>
            <a:ext cx="35204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Community load</a:t>
            </a:r>
          </a:p>
          <a:p>
            <a:pPr algn="ctr">
              <a:spcAft>
                <a:spcPts val="200"/>
              </a:spcAft>
            </a:pPr>
            <a:r>
              <a:rPr sz="1800" b="1" i="0">
                <a:solidFill>
                  <a:srgbClr val="4B5563"/>
                </a:solidFill>
                <a:latin typeface="Calibri"/>
              </a:rPr>
              <a:t>600 W critical + 1.5 kW pump</a:t>
            </a:r>
          </a:p>
          <a:p>
            <a:pPr algn="ctr">
              <a:spcAft>
                <a:spcPts val="400"/>
              </a:spcAft>
            </a:pPr>
            <a:r>
              <a:rPr sz="1600" b="0" i="0">
                <a:solidFill>
                  <a:srgbClr val="4B5563"/>
                </a:solidFill>
                <a:latin typeface="Calibri"/>
              </a:rPr>
              <a:t>ESP32 node</a:t>
            </a:r>
          </a:p>
        </p:txBody>
      </p:sp>
      <p:cxnSp>
        <p:nvCxnSpPr>
          <p:cNvPr id="31" name="Connector 30"/>
          <p:cNvCxnSpPr/>
          <p:nvPr/>
        </p:nvCxnSpPr>
        <p:spPr>
          <a:xfrm>
            <a:off x="6309360" y="7909560"/>
            <a:ext cx="0" cy="548640"/>
          </a:xfrm>
          <a:prstGeom prst="line">
            <a:avLst/>
          </a:prstGeom>
          <a:ln w="25400">
            <a:solidFill>
              <a:srgbClr val="4B556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7955279"/>
            <a:ext cx="3200400" cy="45720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USB serial</a:t>
            </a:r>
          </a:p>
        </p:txBody>
      </p:sp>
      <p:sp>
        <p:nvSpPr>
          <p:cNvPr id="33" name="Rounded Rectangle 32"/>
          <p:cNvSpPr/>
          <p:nvPr/>
        </p:nvSpPr>
        <p:spPr>
          <a:xfrm>
            <a:off x="548640" y="8458200"/>
            <a:ext cx="7315200" cy="123444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300" b="1" i="0">
                <a:solidFill>
                  <a:srgbClr val="FFFFFF"/>
                </a:solidFill>
                <a:latin typeface="Calibri"/>
              </a:rPr>
              <a:t>Real hardware: 4 ESP32 node controllers</a:t>
            </a:r>
          </a:p>
          <a:p>
            <a:pPr algn="ctr">
              <a:spcAft>
                <a:spcPts val="400"/>
              </a:spcAft>
            </a:pPr>
            <a:r>
              <a:rPr sz="1900" b="0" i="0">
                <a:solidFill>
                  <a:srgbClr val="FFFFFF"/>
                </a:solidFill>
                <a:latin typeface="Calibri"/>
              </a:rPr>
              <a:t>H1 · H2 · Solar+BESS · Community load: relays, trip, E-stop, LEDs</a:t>
            </a:r>
          </a:p>
        </p:txBody>
      </p:sp>
      <p:sp>
        <p:nvSpPr>
          <p:cNvPr id="34" name="Oval 33"/>
          <p:cNvSpPr/>
          <p:nvPr/>
        </p:nvSpPr>
        <p:spPr>
          <a:xfrm>
            <a:off x="12435840" y="2578608"/>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213080" y="2468880"/>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Peer-to-peer energy sharing</a:t>
            </a:r>
          </a:p>
          <a:p>
            <a:pPr algn="l">
              <a:spcAft>
                <a:spcPts val="600"/>
              </a:spcAft>
            </a:pPr>
            <a:r>
              <a:rPr sz="1700" b="0" i="0">
                <a:solidFill>
                  <a:srgbClr val="4B5563"/>
                </a:solidFill>
                <a:latin typeface="Calibri"/>
              </a:rPr>
              <a:t>Surplus solar from House 1 and the community plant flows to House 2 and the community load.</a:t>
            </a:r>
          </a:p>
        </p:txBody>
      </p:sp>
      <p:sp>
        <p:nvSpPr>
          <p:cNvPr id="36" name="Oval 35"/>
          <p:cNvSpPr/>
          <p:nvPr/>
        </p:nvSpPr>
        <p:spPr>
          <a:xfrm>
            <a:off x="12435840" y="5010912"/>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3</a:t>
            </a:r>
          </a:p>
        </p:txBody>
      </p:sp>
      <p:sp>
        <p:nvSpPr>
          <p:cNvPr id="37" name="TextBox 36"/>
          <p:cNvSpPr txBox="1"/>
          <p:nvPr/>
        </p:nvSpPr>
        <p:spPr>
          <a:xfrm>
            <a:off x="13213080" y="4901184"/>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Prepaid energy ledger</a:t>
            </a:r>
          </a:p>
          <a:p>
            <a:pPr algn="l">
              <a:spcAft>
                <a:spcPts val="600"/>
              </a:spcAft>
            </a:pPr>
            <a:r>
              <a:rPr sz="1700" b="0" i="0">
                <a:solidFill>
                  <a:srgbClr val="4B5563"/>
                </a:solidFill>
                <a:latin typeface="Calibri"/>
              </a:rPr>
              <a:t>Each house's import/export is metered and settled as credit; RFID card top-up.</a:t>
            </a:r>
          </a:p>
        </p:txBody>
      </p:sp>
      <p:sp>
        <p:nvSpPr>
          <p:cNvPr id="38" name="Oval 37"/>
          <p:cNvSpPr/>
          <p:nvPr/>
        </p:nvSpPr>
        <p:spPr>
          <a:xfrm>
            <a:off x="12435840" y="6227064"/>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4</a:t>
            </a:r>
          </a:p>
        </p:txBody>
      </p:sp>
      <p:sp>
        <p:nvSpPr>
          <p:cNvPr id="39" name="TextBox 38"/>
          <p:cNvSpPr txBox="1"/>
          <p:nvPr/>
        </p:nvSpPr>
        <p:spPr>
          <a:xfrm>
            <a:off x="13213080" y="6117336"/>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Grid-failure detection &amp; islanding</a:t>
            </a:r>
          </a:p>
          <a:p>
            <a:pPr algn="l">
              <a:spcAft>
                <a:spcPts val="600"/>
              </a:spcAft>
            </a:pPr>
            <a:r>
              <a:rPr sz="1700" b="0" i="0">
                <a:solidFill>
                  <a:srgbClr val="4B5563"/>
                </a:solidFill>
                <a:latin typeface="Calibri"/>
              </a:rPr>
              <a:t>Main controller opens the grid switch; the battery holds the community up.</a:t>
            </a:r>
          </a:p>
        </p:txBody>
      </p:sp>
      <p:sp>
        <p:nvSpPr>
          <p:cNvPr id="40" name="Oval 39"/>
          <p:cNvSpPr/>
          <p:nvPr/>
        </p:nvSpPr>
        <p:spPr>
          <a:xfrm>
            <a:off x="12435840" y="7443215"/>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5</a:t>
            </a:r>
          </a:p>
        </p:txBody>
      </p:sp>
      <p:sp>
        <p:nvSpPr>
          <p:cNvPr id="41" name="TextBox 40"/>
          <p:cNvSpPr txBox="1"/>
          <p:nvPr/>
        </p:nvSpPr>
        <p:spPr>
          <a:xfrm>
            <a:off x="13213080" y="7333488"/>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Critical-load lifeline</a:t>
            </a:r>
          </a:p>
          <a:p>
            <a:pPr algn="l">
              <a:spcAft>
                <a:spcPts val="600"/>
              </a:spcAft>
            </a:pPr>
            <a:r>
              <a:rPr sz="1700" b="0" i="0">
                <a:solidFill>
                  <a:srgbClr val="4B5563"/>
                </a:solidFill>
                <a:latin typeface="Calibri"/>
              </a:rPr>
              <a:t>Essentials stay on, even at zero credit.</a:t>
            </a:r>
          </a:p>
        </p:txBody>
      </p:sp>
      <p:sp>
        <p:nvSpPr>
          <p:cNvPr id="42" name="Oval 41"/>
          <p:cNvSpPr/>
          <p:nvPr/>
        </p:nvSpPr>
        <p:spPr>
          <a:xfrm>
            <a:off x="12435840" y="8659368"/>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6</a:t>
            </a:r>
          </a:p>
        </p:txBody>
      </p:sp>
      <p:sp>
        <p:nvSpPr>
          <p:cNvPr id="43" name="TextBox 42"/>
          <p:cNvSpPr txBox="1"/>
          <p:nvPr/>
        </p:nvSpPr>
        <p:spPr>
          <a:xfrm>
            <a:off x="13213080" y="8549640"/>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Active &amp; reactive power</a:t>
            </a:r>
          </a:p>
          <a:p>
            <a:pPr algn="l">
              <a:spcAft>
                <a:spcPts val="600"/>
              </a:spcAft>
            </a:pPr>
            <a:r>
              <a:rPr sz="1700" b="0" i="0">
                <a:solidFill>
                  <a:srgbClr val="4B5563"/>
                </a:solidFill>
                <a:latin typeface="Calibri"/>
              </a:rPr>
              <a:t>AC model tracks both P (real work) and Q (reactive) flows.</a:t>
            </a:r>
          </a:p>
        </p:txBody>
      </p:sp>
      <p:sp>
        <p:nvSpPr>
          <p:cNvPr id="44" name="Rounded Rectangle 43"/>
          <p:cNvSpPr/>
          <p:nvPr/>
        </p:nvSpPr>
        <p:spPr>
          <a:xfrm>
            <a:off x="8229600" y="8458200"/>
            <a:ext cx="3840480" cy="123444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0"/>
              </a:spcAft>
            </a:pPr>
            <a:r>
              <a:rPr sz="2200" b="1" i="0">
                <a:solidFill>
                  <a:srgbClr val="1F2933"/>
                </a:solidFill>
                <a:latin typeface="Calibri"/>
              </a:rPr>
              <a:t>Main controller (MATLAB)</a:t>
            </a:r>
          </a:p>
          <a:p>
            <a:pPr algn="ctr">
              <a:spcAft>
                <a:spcPts val="0"/>
              </a:spcAft>
            </a:pPr>
            <a:r>
              <a:rPr sz="1600" b="0" i="0">
                <a:solidFill>
                  <a:srgbClr val="4B5563"/>
                </a:solidFill>
                <a:latin typeface="Calibri"/>
              </a:rPr>
              <a:t>modes · dispatch · ledger → Raspberry Pi</a:t>
            </a:r>
          </a:p>
        </p:txBody>
      </p:sp>
      <p:cxnSp>
        <p:nvCxnSpPr>
          <p:cNvPr id="45" name="Connector 44"/>
          <p:cNvCxnSpPr/>
          <p:nvPr/>
        </p:nvCxnSpPr>
        <p:spPr>
          <a:xfrm>
            <a:off x="7863840" y="9075420"/>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2435840" y="3794760"/>
            <a:ext cx="594360" cy="59436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000" b="1" i="0">
                <a:solidFill>
                  <a:srgbClr val="FFFFFF"/>
                </a:solidFill>
                <a:latin typeface="Calibri"/>
              </a:rPr>
              <a:t>2</a:t>
            </a:r>
          </a:p>
        </p:txBody>
      </p:sp>
      <p:sp>
        <p:nvSpPr>
          <p:cNvPr id="47" name="TextBox 46"/>
          <p:cNvSpPr txBox="1"/>
          <p:nvPr/>
        </p:nvSpPr>
        <p:spPr>
          <a:xfrm>
            <a:off x="13213080" y="3685032"/>
            <a:ext cx="4526280" cy="1188720"/>
          </a:xfrm>
          <a:prstGeom prst="rect">
            <a:avLst/>
          </a:prstGeom>
          <a:noFill/>
        </p:spPr>
        <p:txBody>
          <a:bodyPr wrap="square" lIns="0" rIns="0" tIns="0" bIns="0" anchor="t">
            <a:noAutofit/>
          </a:bodyPr>
          <a:lstStyle/>
          <a:p>
            <a:pPr algn="l">
              <a:spcAft>
                <a:spcPts val="100"/>
              </a:spcAft>
            </a:pPr>
            <a:r>
              <a:rPr sz="2100" b="1" i="0">
                <a:solidFill>
                  <a:srgbClr val="7A1F2B"/>
                </a:solidFill>
                <a:latin typeface="Calibri"/>
              </a:rPr>
              <a:t>Hierarchical control</a:t>
            </a:r>
          </a:p>
          <a:p>
            <a:pPr algn="l">
              <a:spcAft>
                <a:spcPts val="600"/>
              </a:spcAft>
            </a:pPr>
            <a:r>
              <a:rPr sz="1800" b="0" i="0">
                <a:solidFill>
                  <a:srgbClr val="4B5563"/>
                </a:solidFill>
                <a:latin typeface="Calibri"/>
              </a:rPr>
              <a:t>Nodes protect their own equipment, the main controller coordinates, the Pi shows it live.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How it works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Hierarchical 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MATLAB plant</a:t>
            </a:r>
          </a:p>
          <a:p>
            <a:pPr algn="ctr">
              <a:spcAft>
                <a:spcPts val="400"/>
              </a:spcAft>
            </a:pPr>
            <a:r>
              <a:rPr sz="1900" b="0" i="0">
                <a:solidFill>
                  <a:srgbClr val="4B5563"/>
                </a:solidFill>
                <a:latin typeface="Calibri"/>
              </a:rPr>
              <a:t>grid · switch · solar + battery plant · 2 houses · community load</a:t>
            </a:r>
          </a:p>
        </p:txBody>
      </p:sp>
      <p:sp>
        <p:nvSpPr>
          <p:cNvPr id="13" name="Rounded Rectangle 12"/>
          <p:cNvSpPr/>
          <p:nvPr/>
        </p:nvSpPr>
        <p:spPr>
          <a:xfrm>
            <a:off x="548640" y="6949440"/>
            <a:ext cx="502920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FFFFFF"/>
                </a:solidFill>
                <a:latin typeface="Calibri"/>
              </a:rPr>
              <a:t>4 ESP32 node controllers (real boards)</a:t>
            </a:r>
          </a:p>
          <a:p>
            <a:pPr algn="ctr">
              <a:spcAft>
                <a:spcPts val="400"/>
              </a:spcAft>
            </a:pPr>
            <a:r>
              <a:rPr sz="1900" b="0" i="0">
                <a:solidFill>
                  <a:srgbClr val="FFFFFF"/>
                </a:solidFill>
                <a:latin typeface="Calibri"/>
              </a:rPr>
              <a:t>H1 · H2 · Solar+BESS · Community load: relays, trip, E-stop, LEDs</a:t>
            </a: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14600" y="5257800"/>
            <a:ext cx="192024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measurements</a:t>
            </a:r>
          </a:p>
          <a:p>
            <a:pPr algn="l">
              <a:spcAft>
                <a:spcPts val="600"/>
              </a:spcAft>
            </a:pPr>
            <a:r>
              <a:rPr sz="1900" b="0" i="0">
                <a:solidFill>
                  <a:srgbClr val="0F766E"/>
                </a:solidFill>
                <a:latin typeface="Calibri"/>
              </a:rPr>
              <a:t>V, f, P, Q, battery SOC</a:t>
            </a:r>
          </a:p>
        </p:txBody>
      </p:sp>
      <p:sp>
        <p:nvSpPr>
          <p:cNvPr id="17" name="TextBox 16"/>
          <p:cNvSpPr txBox="1"/>
          <p:nvPr/>
        </p:nvSpPr>
        <p:spPr>
          <a:xfrm>
            <a:off x="4709160" y="5669280"/>
            <a:ext cx="2194560" cy="109728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commands</a:t>
            </a:r>
          </a:p>
          <a:p>
            <a:pPr algn="l">
              <a:spcAft>
                <a:spcPts val="600"/>
              </a:spcAft>
            </a:pPr>
            <a:r>
              <a:rPr sz="1900" b="0" i="0">
                <a:solidFill>
                  <a:srgbClr val="7A1F2B"/>
                </a:solidFill>
                <a:latin typeface="Calibri"/>
              </a:rPr>
              <a:t>switch, shed, battery</a:t>
            </a:r>
          </a:p>
        </p:txBody>
      </p:sp>
      <p:sp>
        <p:nvSpPr>
          <p:cNvPr id="18" name="TextBox 17"/>
          <p:cNvSpPr txBox="1"/>
          <p:nvPr/>
        </p:nvSpPr>
        <p:spPr>
          <a:xfrm>
            <a:off x="548640" y="9098280"/>
            <a:ext cx="7863840" cy="64008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Safety stays local: each node protects its own equipment and never cuts a critical load; the main controller checks every dashboard request.</a:t>
            </a: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BOOT</a:t>
            </a:r>
          </a:p>
          <a:p>
            <a:pPr algn="ctr">
              <a:spcAft>
                <a:spcPts val="400"/>
              </a:spcAft>
            </a:pPr>
            <a:r>
              <a:rPr sz="1800" b="0" i="0">
                <a:solidFill>
                  <a:srgbClr val="4B5563"/>
                </a:solidFill>
                <a:latin typeface="Calibri"/>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GRID</a:t>
            </a:r>
          </a:p>
          <a:p>
            <a:pPr algn="ctr">
              <a:spcAft>
                <a:spcPts val="400"/>
              </a:spcAft>
            </a:pPr>
            <a:r>
              <a:rPr sz="1800" b="0" i="0">
                <a:solidFill>
                  <a:srgbClr val="4B5563"/>
                </a:solidFill>
                <a:latin typeface="Calibri"/>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ISLAND</a:t>
            </a:r>
          </a:p>
          <a:p>
            <a:pPr algn="ctr">
              <a:spcAft>
                <a:spcPts val="400"/>
              </a:spcAft>
            </a:pPr>
            <a:r>
              <a:rPr sz="1800" b="0" i="0">
                <a:solidFill>
                  <a:srgbClr val="4B5563"/>
                </a:solidFill>
                <a:latin typeface="Calibri"/>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RESYNC</a:t>
            </a:r>
          </a:p>
          <a:p>
            <a:pPr algn="ctr">
              <a:spcAft>
                <a:spcPts val="400"/>
              </a:spcAft>
            </a:pPr>
            <a:r>
              <a:rPr sz="1800" b="0" i="0">
                <a:solidFill>
                  <a:srgbClr val="4B5563"/>
                </a:solidFill>
                <a:latin typeface="Calibri"/>
              </a:rPr>
              <a:t>Grid back: match voltage and phase</a:t>
            </a: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grid lost</a:t>
            </a:r>
          </a:p>
        </p:txBody>
      </p:sp>
      <p:sp>
        <p:nvSpPr>
          <p:cNvPr id="29" name="TextBox 28"/>
          <p:cNvSpPr txBox="1"/>
          <p:nvPr/>
        </p:nvSpPr>
        <p:spPr>
          <a:xfrm>
            <a:off x="9144000" y="5394960"/>
            <a:ext cx="2743200" cy="12801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Shed order in an outage: community pump → House 2 → House 1 flexible loads; critical loads never shed</a:t>
            </a:r>
          </a:p>
        </p:txBody>
      </p:sp>
      <p:sp>
        <p:nvSpPr>
          <p:cNvPr id="31" name="Rounded Rectangle 30"/>
          <p:cNvSpPr/>
          <p:nvPr/>
        </p:nvSpPr>
        <p:spPr>
          <a:xfrm>
            <a:off x="5943600" y="6949440"/>
            <a:ext cx="2468880" cy="2011680"/>
          </a:xfrm>
          <a:prstGeom prst="roundRect">
            <a:avLst>
              <a:gd name="adj" fmla="val 8000"/>
            </a:avLst>
          </a:prstGeom>
          <a:solidFill>
            <a:srgbClr val="FEF3C7"/>
          </a:solidFill>
          <a:ln w="1905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200"/>
              </a:spcAft>
            </a:pPr>
            <a:r>
              <a:rPr sz="2100" b="1" i="0">
                <a:solidFill>
                  <a:srgbClr val="1F2933"/>
                </a:solidFill>
                <a:latin typeface="Calibri"/>
              </a:rPr>
              <a:t>Main controller</a:t>
            </a:r>
          </a:p>
          <a:p>
            <a:pPr algn="ctr">
              <a:spcAft>
                <a:spcPts val="200"/>
              </a:spcAft>
            </a:pPr>
            <a:r>
              <a:rPr sz="1500" b="0" i="0">
                <a:solidFill>
                  <a:srgbClr val="4B5563"/>
                </a:solidFill>
                <a:latin typeface="Calibri"/>
              </a:rPr>
              <a:t>MATLAB logic: modes, dispatch, ledger → Pi</a:t>
            </a:r>
          </a:p>
        </p:txBody>
      </p:sp>
      <p:cxnSp>
        <p:nvCxnSpPr>
          <p:cNvPr id="32" name="Connector 31"/>
          <p:cNvCxnSpPr/>
          <p:nvPr/>
        </p:nvCxnSpPr>
        <p:spPr>
          <a:xfrm>
            <a:off x="5577840" y="7955279"/>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Simulation &amp; results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sz="1900" b="1" i="0">
                <a:solidFill>
                  <a:srgbClr val="B45309"/>
                </a:solidFill>
                <a:latin typeface="Calibri"/>
              </a:rPr>
              <a:t>Demo scenario: AC microgrid, 4 ESP32 nodes in the loop</a:t>
            </a:r>
          </a:p>
        </p:txBody>
      </p:sp>
      <p:pic>
        <p:nvPicPr>
          <p:cNvPr id="25" name="Picture 11" descr="s11_crop.png"/>
          <p:cNvPicPr>
            <a:picLocks noChangeAspect="1"/>
          </p:cNvPicPr>
          <p:nvPr/>
        </p:nvPicPr>
        <p:blipFill>
          <a:blip r:embed="rId7"/>
          <a:stretch>
            <a:fillRect/>
          </a:stretch>
        </p:blipFill>
        <p:spPr>
          <a:xfrm>
            <a:off x="548640" y="3246120"/>
            <a:ext cx="7498079" cy="4273767"/>
          </a:xfrm>
          <a:prstGeom prst="rect">
            <a:avLst/>
          </a:prstGeom>
        </p:spPr>
      </p:pic>
      <p:sp>
        <p:nvSpPr>
          <p:cNvPr id="13" name="TextBox 12"/>
          <p:cNvSpPr txBox="1"/>
          <p:nvPr/>
        </p:nvSpPr>
        <p:spPr>
          <a:xfrm>
            <a:off x="548640" y="7611327"/>
            <a:ext cx="7498079" cy="109728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Grid lost 17:57–18:07: islands at once, battery carries all 3.5 kW, resyncs within 5° and reconnects. No load is shed; battery 80% → 65%.</a:t>
            </a: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13 / 13</a:t>
            </a:r>
          </a:p>
          <a:p>
            <a:pPr algn="l">
              <a:spcAft>
                <a:spcPts val="400"/>
              </a:spcAft>
            </a:pPr>
            <a:r>
              <a:rPr sz="1800" b="0" i="0">
                <a:solidFill>
                  <a:srgbClr val="1F2933"/>
                </a:solidFill>
                <a:latin typeface="Calibri"/>
              </a:rPr>
              <a:t>test scenarios passed (outage, low battery, faulty house, prepaid, comms loss, dashboard requests)</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Calibri"/>
              </a:rPr>
              <a:t>40 / 40</a:t>
            </a:r>
          </a:p>
          <a:p>
            <a:pPr algn="l">
              <a:spcAft>
                <a:spcPts val="400"/>
              </a:spcAft>
            </a:pPr>
            <a:r>
              <a:rPr sz="1800" b="0" i="0" dirty="0">
                <a:solidFill>
                  <a:srgbClr val="1F2933"/>
                </a:solidFill>
                <a:latin typeface="Calibri"/>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0</a:t>
            </a:r>
          </a:p>
          <a:p>
            <a:pPr algn="l">
              <a:spcAft>
                <a:spcPts val="400"/>
              </a:spcAft>
            </a:pPr>
            <a:r>
              <a:rPr sz="1800" b="0" i="0">
                <a:solidFill>
                  <a:srgbClr val="1F2933"/>
                </a:solidFill>
                <a:latin typeface="Calibri"/>
              </a:rPr>
              <a:t>differences: ESP32 firmware vs MATLAB, 835,600 replies</a:t>
            </a:r>
          </a:p>
        </p:txBody>
      </p:sp>
      <p:sp>
        <p:nvSpPr>
          <p:cNvPr id="17" name="TextBox 16"/>
          <p:cNvSpPr txBox="1"/>
          <p:nvPr/>
        </p:nvSpPr>
        <p:spPr>
          <a:xfrm>
            <a:off x="8595360" y="5303520"/>
            <a:ext cx="914400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What we will show live</a:t>
            </a:r>
          </a:p>
        </p:txBody>
      </p:sp>
      <p:sp>
        <p:nvSpPr>
          <p:cNvPr id="18" name="Oval 17"/>
          <p:cNvSpPr/>
          <p:nvPr/>
        </p:nvSpPr>
        <p:spPr>
          <a:xfrm>
            <a:off x="8595360" y="608076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1</a:t>
            </a:r>
          </a:p>
        </p:txBody>
      </p:sp>
      <p:sp>
        <p:nvSpPr>
          <p:cNvPr id="19" name="TextBox 18"/>
          <p:cNvSpPr txBox="1"/>
          <p:nvPr/>
        </p:nvSpPr>
        <p:spPr>
          <a:xfrm>
            <a:off x="9326880" y="589788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Live demo panel (MATLAB)</a:t>
            </a:r>
          </a:p>
          <a:p>
            <a:pPr algn="l">
              <a:spcAft>
                <a:spcPts val="600"/>
              </a:spcAft>
            </a:pPr>
            <a:r>
              <a:rPr sz="1600" b="0" i="0">
                <a:solidFill>
                  <a:srgbClr val="4B5563"/>
                </a:solidFill>
                <a:latin typeface="Calibri"/>
              </a:rPr>
              <a:t>Cut and restore the grid, change sun and load, inject faults, press E-stop, cut a node link, tap an RFID card.</a:t>
            </a:r>
          </a:p>
        </p:txBody>
      </p:sp>
      <p:sp>
        <p:nvSpPr>
          <p:cNvPr id="20" name="Oval 19"/>
          <p:cNvSpPr/>
          <p:nvPr/>
        </p:nvSpPr>
        <p:spPr>
          <a:xfrm>
            <a:off x="8595360" y="726948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2</a:t>
            </a:r>
          </a:p>
        </p:txBody>
      </p:sp>
      <p:sp>
        <p:nvSpPr>
          <p:cNvPr id="21" name="TextBox 20"/>
          <p:cNvSpPr txBox="1"/>
          <p:nvPr/>
        </p:nvSpPr>
        <p:spPr>
          <a:xfrm>
            <a:off x="9326880" y="708660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Live dashboard (in the browser)</a:t>
            </a:r>
          </a:p>
          <a:p>
            <a:pPr algn="l">
              <a:spcAft>
                <a:spcPts val="600"/>
              </a:spcAft>
            </a:pPr>
            <a:r>
              <a:rPr sz="1600" b="0" i="0">
                <a:solidFill>
                  <a:srgbClr val="4B5563"/>
                </a:solidFill>
                <a:latin typeface="Calibri"/>
              </a:rPr>
              <a:t>Raspberry Pi: MQTT → Node-RED + InfluxDB. Energy flow, battery, node status, prepaid balances and event log.</a:t>
            </a:r>
          </a:p>
        </p:txBody>
      </p:sp>
      <p:sp>
        <p:nvSpPr>
          <p:cNvPr id="22" name="Oval 21"/>
          <p:cNvSpPr/>
          <p:nvPr/>
        </p:nvSpPr>
        <p:spPr>
          <a:xfrm>
            <a:off x="8595360" y="845820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3</a:t>
            </a:r>
          </a:p>
        </p:txBody>
      </p:sp>
      <p:sp>
        <p:nvSpPr>
          <p:cNvPr id="23" name="TextBox 22"/>
          <p:cNvSpPr txBox="1"/>
          <p:nvPr/>
        </p:nvSpPr>
        <p:spPr>
          <a:xfrm>
            <a:off x="9326880" y="827532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Real boards in the loop</a:t>
            </a:r>
          </a:p>
          <a:p>
            <a:pPr algn="l">
              <a:spcAft>
                <a:spcPts val="600"/>
              </a:spcAft>
            </a:pPr>
            <a:r>
              <a:rPr sz="1600" b="0" i="0">
                <a:solidFill>
                  <a:srgbClr val="4B5563"/>
                </a:solidFill>
                <a:latin typeface="Calibri"/>
              </a:rPr>
              <a:t>Hardware-in-the-loop run: 0 of 3,000 board replies differed from the MATLAB model.</a:t>
            </a:r>
          </a:p>
        </p:txBody>
      </p:sp>
      <p:sp>
        <p:nvSpPr>
          <p:cNvPr id="24" name="TextBox 23"/>
          <p:cNvSpPr txBox="1"/>
          <p:nvPr/>
        </p:nvSpPr>
        <p:spPr>
          <a:xfrm>
            <a:off x="8595360" y="9464040"/>
            <a:ext cx="9144000" cy="365760"/>
          </a:xfrm>
          <a:prstGeom prst="rect">
            <a:avLst/>
          </a:prstGeom>
          <a:noFill/>
        </p:spPr>
        <p:txBody>
          <a:bodyPr wrap="square" lIns="0" rIns="0" tIns="0" bIns="0" anchor="t">
            <a:noAutofit/>
          </a:bodyPr>
          <a:lstStyle/>
          <a:p>
            <a:pPr algn="l">
              <a:spcAft>
                <a:spcPts val="600"/>
              </a:spcAft>
            </a:pPr>
            <a:r>
              <a:rPr sz="1600" b="0" i="0">
                <a:solidFill>
                  <a:srgbClr val="4B5563"/>
                </a:solidFill>
                <a:latin typeface="Calibri"/>
              </a:rPr>
              <a:t>Same rules in firmware and model: one parameter file feeds both.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Energy sharing</a:t>
            </a:r>
          </a:p>
          <a:p>
            <a:pPr marL="274320" indent="-228600" algn="l">
              <a:spcAft>
                <a:spcPts val="800"/>
              </a:spcAft>
              <a:buChar char="•"/>
            </a:pPr>
            <a:r>
              <a:rPr sz="2500" b="0" i="0">
                <a:solidFill>
                  <a:srgbClr val="1F2933"/>
                </a:solidFill>
                <a:latin typeface="Calibri"/>
              </a:rPr>
              <a:t>Solar surplus stays in the neighbourhood instead of being wasted</a:t>
            </a:r>
          </a:p>
          <a:p>
            <a:pPr marL="274320" indent="-228600" algn="l">
              <a:spcAft>
                <a:spcPts val="800"/>
              </a:spcAft>
              <a:buChar char="•"/>
            </a:pPr>
            <a:r>
              <a:rPr sz="2500" b="0" i="0">
                <a:solidFill>
                  <a:srgbClr val="1F2933"/>
                </a:solidFill>
                <a:latin typeface="Calibri"/>
              </a:rPr>
              <a:t>Sellers earn credit; buyers pay less than peak grid power</a:t>
            </a:r>
          </a:p>
          <a:p>
            <a:pPr marL="274320" indent="-228600" algn="l">
              <a:spcAft>
                <a:spcPts val="800"/>
              </a:spcAft>
              <a:buChar char="•"/>
            </a:pPr>
            <a:r>
              <a:rPr sz="2500" b="0" i="0">
                <a:solidFill>
                  <a:srgbClr val="1F2933"/>
                </a:solidFill>
                <a:latin typeface="Calibri"/>
              </a:rPr>
              <a:t>Less grid import at peak hours</a:t>
            </a:r>
          </a:p>
          <a:p>
            <a:pPr marL="274320" indent="-228600" algn="l">
              <a:spcAft>
                <a:spcPts val="400"/>
              </a:spcAft>
              <a:buChar char="•"/>
            </a:pPr>
            <a:r>
              <a:rPr sz="2500" b="0" i="0">
                <a:solidFill>
                  <a:srgbClr val="1F2933"/>
                </a:solidFill>
                <a:latin typeface="Calibri"/>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Fair prepaid ledger</a:t>
            </a:r>
          </a:p>
          <a:p>
            <a:pPr algn="l">
              <a:spcAft>
                <a:spcPts val="400"/>
              </a:spcAft>
            </a:pPr>
            <a:r>
              <a:rPr sz="2100" b="0" i="0">
                <a:solidFill>
                  <a:srgbClr val="4B5563"/>
                </a:solidFill>
                <a:latin typeface="Calibri"/>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Resilience</a:t>
            </a:r>
          </a:p>
          <a:p>
            <a:pPr algn="l">
              <a:spcAft>
                <a:spcPts val="400"/>
              </a:spcAft>
            </a:pPr>
            <a:r>
              <a:rPr sz="2100" b="0" i="0">
                <a:solidFill>
                  <a:srgbClr val="4B5563"/>
                </a:solidFill>
                <a:latin typeface="Calibri"/>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Safe islanding</a:t>
            </a:r>
          </a:p>
          <a:p>
            <a:pPr algn="l">
              <a:spcAft>
                <a:spcPts val="400"/>
              </a:spcAft>
            </a:pPr>
            <a:r>
              <a:rPr sz="2100" b="0" i="0">
                <a:solidFill>
                  <a:srgbClr val="4B5563"/>
                </a:solidFill>
                <a:latin typeface="Calibri"/>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Basic load forecasting</a:t>
            </a:r>
          </a:p>
          <a:p>
            <a:pPr algn="l">
              <a:spcAft>
                <a:spcPts val="400"/>
              </a:spcAft>
            </a:pPr>
            <a:r>
              <a:rPr sz="2100" b="0" i="0">
                <a:solidFill>
                  <a:srgbClr val="4B5563"/>
                </a:solidFill>
                <a:latin typeface="Calibri"/>
              </a:rPr>
              <a:t>Logged demand gives a next-hour trend to plan the battery.</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simulated community microgrid run by four real ESP32 node controllers and a main controller: it shares solar between neighbours through a prepaid ledger, islands safely when the grid fails, keeps critical loads on, and shows everything live on a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Future scope: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From model to real streets</a:t>
            </a:r>
          </a:p>
          <a:p>
            <a:pPr marL="274320" indent="-228600" algn="l">
              <a:spcAft>
                <a:spcPts val="800"/>
              </a:spcAft>
              <a:buChar char="•"/>
            </a:pPr>
            <a:r>
              <a:rPr sz="2500" b="0" i="0">
                <a:solidFill>
                  <a:srgbClr val="1F2933"/>
                </a:solidFill>
                <a:latin typeface="Calibri"/>
              </a:rPr>
              <a:t>Real power hardware: relays, energy meters, a bigger battery</a:t>
            </a:r>
          </a:p>
          <a:p>
            <a:pPr marL="274320" indent="-228600" algn="l">
              <a:spcAft>
                <a:spcPts val="800"/>
              </a:spcAft>
              <a:buChar char="•"/>
            </a:pPr>
            <a:r>
              <a:rPr sz="2500" b="0" i="0">
                <a:solidFill>
                  <a:srgbClr val="1F2933"/>
                </a:solidFill>
                <a:latin typeface="Calibri"/>
              </a:rPr>
              <a:t>Private dashboard per house and mobile top-up</a:t>
            </a:r>
          </a:p>
          <a:p>
            <a:pPr marL="274320" indent="-228600" algn="l">
              <a:spcAft>
                <a:spcPts val="800"/>
              </a:spcAft>
              <a:buChar char="•"/>
            </a:pPr>
            <a:r>
              <a:rPr sz="2500" b="0" i="0">
                <a:solidFill>
                  <a:srgbClr val="1F2933"/>
                </a:solidFill>
                <a:latin typeface="Calibri"/>
              </a:rPr>
              <a:t>More houses and a second solar plant</a:t>
            </a:r>
          </a:p>
          <a:p>
            <a:pPr marL="274320" indent="-228600" algn="l">
              <a:spcAft>
                <a:spcPts val="400"/>
              </a:spcAft>
              <a:buChar char="•"/>
            </a:pPr>
            <a:r>
              <a:rPr sz="2500" b="0" i="0">
                <a:solidFill>
                  <a:srgbClr val="1F2933"/>
                </a:solidFill>
                <a:latin typeface="Calibri"/>
              </a:rPr>
              <a:t>Field test of LCD and E-stop on every node</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Live SCADA view</a:t>
            </a:r>
          </a:p>
          <a:p>
            <a:pPr algn="l">
              <a:spcAft>
                <a:spcPts val="400"/>
              </a:spcAft>
            </a:pPr>
            <a:r>
              <a:rPr sz="2100" b="0" i="0">
                <a:solidFill>
                  <a:srgbClr val="4B5563"/>
                </a:solidFill>
                <a:latin typeface="Calibri"/>
              </a:rPr>
              <a:t>Animated single-line diagram of the grid in MATLAB.</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Nodes over MQTT</a:t>
            </a:r>
          </a:p>
          <a:p>
            <a:pPr algn="l">
              <a:spcAft>
                <a:spcPts val="400"/>
              </a:spcAft>
            </a:pPr>
            <a:r>
              <a:rPr sz="2100" b="0" i="0">
                <a:solidFill>
                  <a:srgbClr val="4B5563"/>
                </a:solidFill>
                <a:latin typeface="Calibri"/>
              </a:rPr>
              <a:t>ESP32 nodes talk over Wi-Fi instead of USB.</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Main controller on a board</a:t>
            </a:r>
          </a:p>
          <a:p>
            <a:pPr algn="l">
              <a:spcAft>
                <a:spcPts val="400"/>
              </a:spcAft>
            </a:pPr>
            <a:r>
              <a:rPr sz="2100" b="0" i="0">
                <a:solidFill>
                  <a:srgbClr val="4B5563"/>
                </a:solidFill>
                <a:latin typeface="Calibri"/>
              </a:rPr>
              <a:t>Move the MATLAB logic onto its own controller.</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AI/ML forecasting</a:t>
            </a:r>
          </a:p>
          <a:p>
            <a:pPr algn="l">
              <a:spcAft>
                <a:spcPts val="400"/>
              </a:spcAft>
            </a:pPr>
            <a:r>
              <a:rPr sz="2100" b="0" i="0">
                <a:solidFill>
                  <a:srgbClr val="4B5563"/>
                </a:solidFill>
                <a:latin typeface="Calibri"/>
              </a:rPr>
              <a:t>Solar and demand forecasts, anomaly detection.</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Goal</a:t>
            </a:r>
          </a:p>
          <a:p>
            <a:pPr algn="l">
              <a:spcAft>
                <a:spcPts val="400"/>
              </a:spcAft>
            </a:pPr>
            <a:r>
              <a:rPr sz="2300" b="0" i="0">
                <a:solidFill>
                  <a:srgbClr val="FFFFFF"/>
                </a:solidFill>
                <a:latin typeface="Calibri"/>
              </a:rPr>
              <a:t>A community microgrid that a real neighbourhood can install: safe islanding, fair sharing and essentials always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spcAft>
                <a:spcPts val="1400"/>
              </a:spcAft>
            </a:pPr>
            <a:r>
              <a:rPr sz="2300" b="1" i="0" dirty="0">
                <a:solidFill>
                  <a:srgbClr val="7A1F2B"/>
                </a:solidFill>
                <a:latin typeface="+mj-lt"/>
              </a:rPr>
              <a:t>[1] </a:t>
            </a:r>
            <a:r>
              <a:rPr lang="en-US" sz="2300" dirty="0">
                <a:latin typeface="+mj-lt"/>
              </a:rPr>
              <a:t>A. S. Aralkar et al., "</a:t>
            </a:r>
            <a:r>
              <a:rPr lang="en-US" sz="2300" dirty="0" err="1">
                <a:latin typeface="+mj-lt"/>
              </a:rPr>
              <a:t>Goodwatts</a:t>
            </a:r>
            <a:r>
              <a:rPr lang="en-US" sz="2300" dirty="0">
                <a:latin typeface="+mj-lt"/>
              </a:rPr>
              <a:t>-Intelligent Power Monitoring &amp; Fault Protection System for Residential Buildings," in </a:t>
            </a:r>
            <a:r>
              <a:rPr lang="en-US" sz="2300" i="1" dirty="0">
                <a:latin typeface="+mj-lt"/>
              </a:rPr>
              <a:t>Advances in Power       Systems and Applications</a:t>
            </a:r>
            <a:r>
              <a:rPr lang="en-US" sz="2300" dirty="0">
                <a:latin typeface="+mj-lt"/>
              </a:rPr>
              <a:t>, vol. 6, IIP, 2026, pp. 39-54. DOI: 10.58532/nbennurAPSAV6B1P1C3</a:t>
            </a:r>
            <a:r>
              <a:rPr lang="en-US" sz="2300" b="1" dirty="0">
                <a:solidFill>
                  <a:srgbClr val="7A1F2B"/>
                </a:solidFill>
                <a:latin typeface="+mj-lt"/>
              </a:rPr>
              <a:t> </a:t>
            </a:r>
            <a:endParaRPr lang="en-US" sz="2300" dirty="0">
              <a:solidFill>
                <a:srgbClr val="1F2933"/>
              </a:solidFill>
              <a:latin typeface="+mj-lt"/>
            </a:endParaRPr>
          </a:p>
          <a:p>
            <a:pPr algn="l">
              <a:spcAft>
                <a:spcPts val="1400"/>
              </a:spcAft>
            </a:pPr>
            <a:r>
              <a:rPr sz="2300" b="1" i="0" dirty="0">
                <a:solidFill>
                  <a:srgbClr val="7A1F2B"/>
                </a:solidFill>
                <a:latin typeface="+mj-lt"/>
              </a:rPr>
              <a:t>[2]  </a:t>
            </a:r>
            <a:r>
              <a:rPr sz="2300" b="0" i="0" dirty="0">
                <a:solidFill>
                  <a:srgbClr val="1F2933"/>
                </a:solidFill>
                <a:latin typeface="+mj-lt"/>
              </a:rPr>
              <a:t>PIB, Ministry of Power (2023): Electricity (Rights of Consumers) Amendment Rules, Time-of-Day tariff. pib.gov.in/</a:t>
            </a:r>
            <a:r>
              <a:rPr sz="2300" b="0" i="0" dirty="0" err="1">
                <a:solidFill>
                  <a:srgbClr val="1F2933"/>
                </a:solidFill>
                <a:latin typeface="+mj-lt"/>
              </a:rPr>
              <a:t>PressReleasePage.aspx?PRID</a:t>
            </a:r>
            <a:r>
              <a:rPr sz="2300" b="0" i="0" dirty="0">
                <a:solidFill>
                  <a:srgbClr val="1F2933"/>
                </a:solidFill>
                <a:latin typeface="+mj-lt"/>
              </a:rPr>
              <a:t>=1934673</a:t>
            </a:r>
          </a:p>
          <a:p>
            <a:pPr algn="l">
              <a:spcAft>
                <a:spcPts val="1400"/>
              </a:spcAft>
            </a:pPr>
            <a:r>
              <a:rPr sz="2300" b="1" i="0" dirty="0">
                <a:solidFill>
                  <a:srgbClr val="7A1F2B"/>
                </a:solidFill>
                <a:latin typeface="+mj-lt"/>
              </a:rPr>
              <a:t>[3]  </a:t>
            </a:r>
            <a:r>
              <a:rPr sz="2300" b="0" i="0" dirty="0">
                <a:solidFill>
                  <a:srgbClr val="1F2933"/>
                </a:solidFill>
                <a:latin typeface="+mj-lt"/>
              </a:rPr>
              <a:t>PIB: Nationwide push for smart prepaid meters. pib.gov.in/</a:t>
            </a:r>
            <a:r>
              <a:rPr sz="2300" b="0" i="0" dirty="0" err="1">
                <a:solidFill>
                  <a:srgbClr val="1F2933"/>
                </a:solidFill>
                <a:latin typeface="+mj-lt"/>
              </a:rPr>
              <a:t>PressReleaseIframePage.aspx?PRID</a:t>
            </a:r>
            <a:r>
              <a:rPr sz="2300" b="0" i="0" dirty="0">
                <a:solidFill>
                  <a:srgbClr val="1F2933"/>
                </a:solidFill>
                <a:latin typeface="+mj-lt"/>
              </a:rPr>
              <a:t>=2202459</a:t>
            </a:r>
          </a:p>
          <a:p>
            <a:pPr algn="l">
              <a:spcAft>
                <a:spcPts val="1400"/>
              </a:spcAft>
            </a:pPr>
            <a:r>
              <a:rPr sz="2300" b="1" i="0" dirty="0">
                <a:solidFill>
                  <a:srgbClr val="7A1F2B"/>
                </a:solidFill>
                <a:latin typeface="+mj-lt"/>
              </a:rPr>
              <a:t>[4]  </a:t>
            </a:r>
            <a:r>
              <a:rPr sz="2300" b="0" i="0" dirty="0">
                <a:solidFill>
                  <a:srgbClr val="1F2933"/>
                </a:solidFill>
                <a:latin typeface="+mj-lt"/>
              </a:rPr>
              <a:t>IEEE 1547-2018: Interconnection of distributed energy resources with electric power systems (islanding)</a:t>
            </a:r>
          </a:p>
          <a:p>
            <a:pPr algn="l">
              <a:spcAft>
                <a:spcPts val="1400"/>
              </a:spcAft>
            </a:pPr>
            <a:r>
              <a:rPr sz="2300" b="1" i="0" dirty="0">
                <a:solidFill>
                  <a:srgbClr val="7A1F2B"/>
                </a:solidFill>
                <a:latin typeface="+mj-lt"/>
              </a:rPr>
              <a:t>[5]  </a:t>
            </a:r>
            <a:r>
              <a:rPr sz="2300" b="0" i="0" dirty="0" err="1">
                <a:solidFill>
                  <a:srgbClr val="1F2933"/>
                </a:solidFill>
                <a:latin typeface="+mj-lt"/>
              </a:rPr>
              <a:t>Espressif</a:t>
            </a:r>
            <a:r>
              <a:rPr sz="2300" b="0" i="0" dirty="0">
                <a:solidFill>
                  <a:srgbClr val="1F2933"/>
                </a:solidFill>
                <a:latin typeface="+mj-lt"/>
              </a:rPr>
              <a:t> ESP32 datasheet. espressif.com</a:t>
            </a:r>
          </a:p>
          <a:p>
            <a:pPr algn="l">
              <a:spcAft>
                <a:spcPts val="1400"/>
              </a:spcAft>
            </a:pPr>
            <a:r>
              <a:rPr sz="2300" b="1" i="0" dirty="0">
                <a:solidFill>
                  <a:srgbClr val="7A1F2B"/>
                </a:solidFill>
                <a:latin typeface="+mj-lt"/>
              </a:rPr>
              <a:t>[6]  </a:t>
            </a:r>
            <a:r>
              <a:rPr sz="2300" b="0" i="0" dirty="0">
                <a:solidFill>
                  <a:srgbClr val="1F2933"/>
                </a:solidFill>
                <a:latin typeface="+mj-lt"/>
              </a:rPr>
              <a:t>MathWorks </a:t>
            </a:r>
            <a:r>
              <a:rPr sz="2300" b="0" i="0" dirty="0" err="1">
                <a:solidFill>
                  <a:srgbClr val="1F2933"/>
                </a:solidFill>
                <a:latin typeface="+mj-lt"/>
              </a:rPr>
              <a:t>Simscape</a:t>
            </a:r>
            <a:r>
              <a:rPr sz="2300" b="0" i="0" dirty="0">
                <a:solidFill>
                  <a:srgbClr val="1F2933"/>
                </a:solidFill>
                <a:latin typeface="+mj-lt"/>
              </a:rPr>
              <a:t> Electrical. mathworks.com/products/simscape-electrical.html</a:t>
            </a:r>
            <a:r>
              <a:rPr lang="en-IN" sz="2300" b="0" i="0" dirty="0">
                <a:solidFill>
                  <a:srgbClr val="1F2933"/>
                </a:solidFill>
                <a:latin typeface="+mj-lt"/>
              </a:rPr>
              <a:t>]</a:t>
            </a:r>
          </a:p>
          <a:p>
            <a:pPr algn="l">
              <a:spcAft>
                <a:spcPts val="1400"/>
              </a:spcAft>
            </a:pPr>
            <a:endParaRPr sz="2300" b="0" i="0" dirty="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1516</Words>
  <Application>Microsoft Office PowerPoint</Application>
  <PresentationFormat>Custom</PresentationFormat>
  <Paragraphs>152</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The Seasons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Amogh Aralkar</cp:lastModifiedBy>
  <cp:revision>8</cp:revision>
  <dcterms:created xsi:type="dcterms:W3CDTF">2006-08-16T00:00:00Z</dcterms:created>
  <dcterms:modified xsi:type="dcterms:W3CDTF">2026-10-07T08:18:56Z</dcterms:modified>
  <dc:identifier>DAHW05TWix4</dc:identifier>
</cp:coreProperties>
</file>