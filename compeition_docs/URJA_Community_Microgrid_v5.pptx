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257" r:id="rId3"/>
    <p:sldId id="258" r:id="rId4"/>
    <p:sldId id="259" r:id="rId5"/>
    <p:sldId id="260" r:id="rId6"/>
    <p:sldId id="269" r:id="rId7"/>
    <p:sldId id="261" r:id="rId8"/>
    <p:sldId id="262" r:id="rId9"/>
  </p:sldIdLst>
  <p:sldSz cx="18288000" cy="10287000"/>
  <p:notesSz cx="6858000" cy="9144000"/>
  <p:embeddedFontLst>
    <p:embeddedFont>
      <p:font typeface="Canva Sans Bold" panose="020B0604020202020204" charset="0"/>
      <p:regular r:id="rId11"/>
    </p:embeddedFont>
    <p:embeddedFont>
      <p:font typeface="The Seasons Bold"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8" d="100"/>
          <a:sy n="38" d="100"/>
        </p:scale>
        <p:origin x="948"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font" Target="fonts/font1.fntdata"/><Relationship Id="rId12" Type="http://schemas.openxmlformats.org/officeDocument/2006/relationships/font" Target="fonts/font2.fntdata"/><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3446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Introduce the team and the problem statement number. One sentence: we built a small community power network where neighbours share solar power, settle shared energy through a prepaid ledger, and keep their essential lights on when the main grid fails.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Read the one-line summary slowly; it is the whole pitch. Critical loads are the essentials (a light, a phone charger, a medical device) that must never be cut, even at zero credit.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Lead with energy sharing: points 1 and 2 are the heart of PS #38. Microgrid: a small local power network that can run with the main grid or on its own ('islanded'). Back-feed means pushing power into a grid line that workers believe is dead; it is dangerous.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Everything inside the dashed box is a MATLAB/Simulink model: main grid, grid switch, shared battery, solar, three houses and a community place (for example a community hall with critical lights). The only real hardware is the ESP32, connected by USB: MATLAB sends it measurements, it sends back decisions, and LEDs show what it decided. Active power P does useful work; reactive power Q sloshes back and forth in AC systems and must also be supplied. Prepaid ledger: each house's energy bought and sold is recorded as credit. The AI/ML energy advisor (planned) runs in Python on a laptop: it forecasts next-hour solar and demand, plans the battery and load shedding ahead of time, and flags faulty sensors or abnormal loads. It only suggests; the ESP32 checks every suggestion against safety limits.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Left: the ESP32 is a real board; the power system around it is simulated. Every step MATLAB sends measurements over USB and the ESP32 replies with decisions, exactly as it would with real sensors. Right: a state machine, so the controller is always in one clear mode. It islands when the grid is lost and only reconnects after the grid is stable and voltages match, so it does not flap on and off. The AI/ML advisor (planned) runs in Python on a laptop. It reads the same log the controller produces and suggests a battery set-point, which loads to shed and a price. It is only an advisor: the ESP32 checks every suggestion against its safety limits and ignores it if it is unsafe or missing, falling back to the fixed rules.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Be clear: these results come from our first model, a 12 V DC version used to prove the control logic; the AC model is in progress. Monte Carlo = many random variations; 0 differences means the C++ firmware made exactly the same decisions as the MATLAB model. AI/ML is planned and owned by our AI/ML team: (1) forecast solar and demand an hour ahead, (2) use the forecast to plan the battery and shed loads early, compared against our fixed-threshold rules, (3) detect faulty sensors or abnormal loads. Training data comes from thousands of simulated days plus real NASA POWER / PVGIS sunlight data; load data is synthetic, and we split train/test by day. The controller always keeps the final say on safety.</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Lead with energy sharing: it is what makes this a community microgrid rather than just a backup system.</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388200">
            <a:off x="-5445757" y="-2620004"/>
            <a:ext cx="11540195" cy="8229600"/>
            <a:chOff x="0" y="0"/>
            <a:chExt cx="15386926" cy="10972800"/>
          </a:xfrm>
        </p:grpSpPr>
        <p:sp>
          <p:nvSpPr>
            <p:cNvPr id="3" name="Freeform 3"/>
            <p:cNvSpPr/>
            <p:nvPr/>
          </p:nvSpPr>
          <p:spPr>
            <a:xfrm>
              <a:off x="0" y="0"/>
              <a:ext cx="15386938" cy="10972800"/>
            </a:xfrm>
            <a:custGeom>
              <a:avLst/>
              <a:gdLst/>
              <a:ahLst/>
              <a:cxnLst/>
              <a:rect l="l" t="t" r="r" b="b"/>
              <a:pathLst>
                <a:path w="15386938" h="10972800">
                  <a:moveTo>
                    <a:pt x="0" y="0"/>
                  </a:moveTo>
                  <a:lnTo>
                    <a:pt x="15386938" y="0"/>
                  </a:lnTo>
                  <a:lnTo>
                    <a:pt x="15386938" y="10972800"/>
                  </a:lnTo>
                  <a:lnTo>
                    <a:pt x="0" y="10972800"/>
                  </a:lnTo>
                  <a:lnTo>
                    <a:pt x="0" y="0"/>
                  </a:lnTo>
                  <a:close/>
                </a:path>
              </a:pathLst>
            </a:custGeom>
            <a:blipFill>
              <a:blip r:embed="rId3"/>
              <a:stretch>
                <a:fillRect l="-21" r="-21"/>
              </a:stretch>
            </a:blipFill>
          </p:spPr>
          <p:txBody>
            <a:bodyPr/>
            <a:lstStyle/>
            <a:p>
              <a:endParaRPr lang="en-US"/>
            </a:p>
          </p:txBody>
        </p:sp>
      </p:grpSp>
      <p:grpSp>
        <p:nvGrpSpPr>
          <p:cNvPr id="4" name="Group 4"/>
          <p:cNvGrpSpPr/>
          <p:nvPr/>
        </p:nvGrpSpPr>
        <p:grpSpPr>
          <a:xfrm rot="-388200">
            <a:off x="9570901" y="4178284"/>
            <a:ext cx="11540195" cy="8229600"/>
            <a:chOff x="0" y="0"/>
            <a:chExt cx="15386926" cy="10972800"/>
          </a:xfrm>
        </p:grpSpPr>
        <p:sp>
          <p:nvSpPr>
            <p:cNvPr id="5" name="Freeform 5"/>
            <p:cNvSpPr/>
            <p:nvPr/>
          </p:nvSpPr>
          <p:spPr>
            <a:xfrm>
              <a:off x="0" y="0"/>
              <a:ext cx="15386938" cy="10972800"/>
            </a:xfrm>
            <a:custGeom>
              <a:avLst/>
              <a:gdLst/>
              <a:ahLst/>
              <a:cxnLst/>
              <a:rect l="l" t="t" r="r" b="b"/>
              <a:pathLst>
                <a:path w="15386938" h="10972800">
                  <a:moveTo>
                    <a:pt x="0" y="0"/>
                  </a:moveTo>
                  <a:lnTo>
                    <a:pt x="15386938" y="0"/>
                  </a:lnTo>
                  <a:lnTo>
                    <a:pt x="15386938" y="10972800"/>
                  </a:lnTo>
                  <a:lnTo>
                    <a:pt x="0" y="10972800"/>
                  </a:lnTo>
                  <a:lnTo>
                    <a:pt x="0" y="0"/>
                  </a:lnTo>
                  <a:close/>
                </a:path>
              </a:pathLst>
            </a:custGeom>
            <a:blipFill>
              <a:blip r:embed="rId3"/>
              <a:stretch>
                <a:fillRect l="-21" r="-21"/>
              </a:stretch>
            </a:blipFill>
          </p:spPr>
          <p:txBody>
            <a:bodyPr/>
            <a:lstStyle/>
            <a:p>
              <a:endParaRPr lang="en-US"/>
            </a:p>
          </p:txBody>
        </p:sp>
      </p:grpSp>
      <p:sp>
        <p:nvSpPr>
          <p:cNvPr id="6" name="TextBox 6"/>
          <p:cNvSpPr txBox="1"/>
          <p:nvPr/>
        </p:nvSpPr>
        <p:spPr>
          <a:xfrm>
            <a:off x="3604317" y="3154250"/>
            <a:ext cx="11124171" cy="3406940"/>
          </a:xfrm>
          <a:prstGeom prst="rect">
            <a:avLst/>
          </a:prstGeom>
        </p:spPr>
        <p:txBody>
          <a:bodyPr lIns="0" tIns="0" rIns="0" bIns="0" rtlCol="0" anchor="t">
            <a:spAutoFit/>
          </a:bodyPr>
          <a:lstStyle/>
          <a:p>
            <a:pPr algn="ctr">
              <a:lnSpc>
                <a:spcPts val="23989"/>
              </a:lnSpc>
            </a:pPr>
            <a:r>
              <a:rPr lang="en-US" sz="17135">
                <a:solidFill>
                  <a:srgbClr val="000000"/>
                </a:solidFill>
                <a:latin typeface="Times New Roman"/>
                <a:ea typeface="Times New Roman"/>
                <a:cs typeface="Times New Roman"/>
                <a:sym typeface="Times New Roman"/>
              </a:rPr>
              <a:t>AARAMBH</a:t>
            </a:r>
          </a:p>
        </p:txBody>
      </p:sp>
      <p:sp>
        <p:nvSpPr>
          <p:cNvPr id="7" name="TextBox 7"/>
          <p:cNvSpPr txBox="1"/>
          <p:nvPr/>
        </p:nvSpPr>
        <p:spPr>
          <a:xfrm>
            <a:off x="2958810" y="6341524"/>
            <a:ext cx="11769678" cy="953743"/>
          </a:xfrm>
          <a:prstGeom prst="rect">
            <a:avLst/>
          </a:prstGeom>
        </p:spPr>
        <p:txBody>
          <a:bodyPr lIns="0" tIns="0" rIns="0" bIns="0" rtlCol="0" anchor="t">
            <a:spAutoFit/>
          </a:bodyPr>
          <a:lstStyle/>
          <a:p>
            <a:pPr algn="ctr">
              <a:lnSpc>
                <a:spcPts val="7279"/>
              </a:lnSpc>
            </a:pPr>
            <a:r>
              <a:rPr lang="en-US" sz="5198" b="1">
                <a:solidFill>
                  <a:srgbClr val="000000"/>
                </a:solidFill>
                <a:latin typeface="The Seasons Bold"/>
                <a:ea typeface="The Seasons Bold"/>
                <a:cs typeface="The Seasons Bold"/>
                <a:sym typeface="The Seasons Bold"/>
              </a:rPr>
              <a:t>WCE-HACKATHON 2026 </a:t>
            </a:r>
          </a:p>
        </p:txBody>
      </p:sp>
      <p:sp>
        <p:nvSpPr>
          <p:cNvPr id="8" name="TextBox 8"/>
          <p:cNvSpPr txBox="1"/>
          <p:nvPr/>
        </p:nvSpPr>
        <p:spPr>
          <a:xfrm>
            <a:off x="2328100" y="2600557"/>
            <a:ext cx="14088764" cy="953743"/>
          </a:xfrm>
          <a:prstGeom prst="rect">
            <a:avLst/>
          </a:prstGeom>
        </p:spPr>
        <p:txBody>
          <a:bodyPr lIns="0" tIns="0" rIns="0" bIns="0" rtlCol="0" anchor="t">
            <a:spAutoFit/>
          </a:bodyPr>
          <a:lstStyle/>
          <a:p>
            <a:pPr algn="ctr">
              <a:lnSpc>
                <a:spcPts val="7279"/>
              </a:lnSpc>
            </a:pPr>
            <a:r>
              <a:rPr lang="en-US" sz="5198" b="1">
                <a:solidFill>
                  <a:srgbClr val="000000"/>
                </a:solidFill>
                <a:latin typeface="The Seasons Bold"/>
                <a:ea typeface="The Seasons Bold"/>
                <a:cs typeface="The Seasons Bold"/>
                <a:sym typeface="The Seasons Bold"/>
              </a:rPr>
              <a:t>Department of Electrical Engineering</a:t>
            </a:r>
          </a:p>
        </p:txBody>
      </p:sp>
      <p:grpSp>
        <p:nvGrpSpPr>
          <p:cNvPr id="9" name="Group 9"/>
          <p:cNvGrpSpPr/>
          <p:nvPr/>
        </p:nvGrpSpPr>
        <p:grpSpPr>
          <a:xfrm>
            <a:off x="535200" y="-81549"/>
            <a:ext cx="17503283" cy="1576346"/>
            <a:chOff x="0" y="0"/>
            <a:chExt cx="23337711" cy="2101794"/>
          </a:xfrm>
        </p:grpSpPr>
        <p:grpSp>
          <p:nvGrpSpPr>
            <p:cNvPr id="10" name="Group 10"/>
            <p:cNvGrpSpPr/>
            <p:nvPr/>
          </p:nvGrpSpPr>
          <p:grpSpPr>
            <a:xfrm>
              <a:off x="0" y="0"/>
              <a:ext cx="2390534" cy="2101794"/>
              <a:chOff x="0" y="0"/>
              <a:chExt cx="2451880" cy="2155730"/>
            </a:xfrm>
          </p:grpSpPr>
          <p:sp>
            <p:nvSpPr>
              <p:cNvPr id="11" name="Freeform 11"/>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4"/>
                <a:stretch>
                  <a:fillRect l="-43229" r="-67848" b="-8030"/>
                </a:stretch>
              </a:blipFill>
            </p:spPr>
            <p:txBody>
              <a:bodyPr/>
              <a:lstStyle/>
              <a:p>
                <a:endParaRPr lang="en-US"/>
              </a:p>
            </p:txBody>
          </p:sp>
        </p:grpSp>
        <p:grpSp>
          <p:nvGrpSpPr>
            <p:cNvPr id="12" name="Group 12"/>
            <p:cNvGrpSpPr/>
            <p:nvPr/>
          </p:nvGrpSpPr>
          <p:grpSpPr>
            <a:xfrm>
              <a:off x="18545475" y="247188"/>
              <a:ext cx="1586845" cy="1627422"/>
              <a:chOff x="0" y="0"/>
              <a:chExt cx="1808366" cy="1854606"/>
            </a:xfrm>
          </p:grpSpPr>
          <p:sp>
            <p:nvSpPr>
              <p:cNvPr id="13" name="Freeform 13"/>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5"/>
                <a:stretch>
                  <a:fillRect l="-63953" r="-63953" b="-1"/>
                </a:stretch>
              </a:blipFill>
            </p:spPr>
            <p:txBody>
              <a:bodyPr/>
              <a:lstStyle/>
              <a:p>
                <a:endParaRPr lang="en-US"/>
              </a:p>
            </p:txBody>
          </p:sp>
        </p:grpSp>
        <p:grpSp>
          <p:nvGrpSpPr>
            <p:cNvPr id="14" name="Group 14"/>
            <p:cNvGrpSpPr/>
            <p:nvPr/>
          </p:nvGrpSpPr>
          <p:grpSpPr>
            <a:xfrm>
              <a:off x="20344893" y="291523"/>
              <a:ext cx="2992818" cy="1380820"/>
              <a:chOff x="0" y="0"/>
              <a:chExt cx="2992818" cy="1380820"/>
            </a:xfrm>
          </p:grpSpPr>
          <p:sp>
            <p:nvSpPr>
              <p:cNvPr id="15" name="Freeform 15"/>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6"/>
                <a:stretch>
                  <a:fillRect l="-1264" r="-1261" b="3"/>
                </a:stretch>
              </a:blipFill>
            </p:spPr>
            <p:txBody>
              <a:bodyPr/>
              <a:lstStyle/>
              <a:p>
                <a:endParaRPr lang="en-US"/>
              </a:p>
            </p:txBody>
          </p:sp>
        </p:grpSp>
        <p:sp>
          <p:nvSpPr>
            <p:cNvPr id="16" name="TextBox 16"/>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a:solidFill>
                  <a:srgbClr val="000000"/>
                </a:solidFill>
                <a:latin typeface="Canva Sans Bold"/>
                <a:ea typeface="Canva Sans Bold"/>
                <a:cs typeface="Canva Sans Bold"/>
                <a:sym typeface="Canva Sans Bold"/>
              </a:rPr>
              <a:t>Project overview</a:t>
            </a:r>
          </a:p>
        </p:txBody>
      </p:sp>
      <p:sp>
        <p:nvSpPr>
          <p:cNvPr id="3" name="TextBox 3"/>
          <p:cNvSpPr txBox="1"/>
          <p:nvPr/>
        </p:nvSpPr>
        <p:spPr>
          <a:xfrm>
            <a:off x="548640" y="2514600"/>
            <a:ext cx="17190720" cy="3493905"/>
          </a:xfrm>
          <a:prstGeom prst="rect">
            <a:avLst/>
          </a:prstGeom>
        </p:spPr>
        <p:txBody>
          <a:bodyPr wrap="square" lIns="0" tIns="0" rIns="0" bIns="0" rtlCol="0" anchor="t">
            <a:spAutoFit/>
          </a:bodyPr>
          <a:lstStyle/>
          <a:p>
            <a:pPr algn="l">
              <a:lnSpc>
                <a:spcPct val="150000"/>
              </a:lnSpc>
              <a:spcAft>
                <a:spcPts val="1600"/>
              </a:spcAft>
            </a:pPr>
            <a:r>
              <a:rPr sz="3200" b="1" i="0" dirty="0">
                <a:solidFill>
                  <a:srgbClr val="1F2933"/>
                </a:solidFill>
                <a:latin typeface="+mj-lt"/>
              </a:rPr>
              <a:t>Title:</a:t>
            </a:r>
            <a:r>
              <a:rPr lang="en-IN" sz="3200" b="1" dirty="0">
                <a:solidFill>
                  <a:srgbClr val="1F2933"/>
                </a:solidFill>
                <a:latin typeface="+mj-lt"/>
              </a:rPr>
              <a:t> </a:t>
            </a:r>
            <a:r>
              <a:rPr lang="en-IN" sz="3200" dirty="0">
                <a:solidFill>
                  <a:srgbClr val="1F2933"/>
                </a:solidFill>
                <a:latin typeface="+mj-lt"/>
              </a:rPr>
              <a:t>Community Microgrid &amp; Energy Sharing with an AI/ML Energy Advisor</a:t>
            </a:r>
          </a:p>
          <a:p>
            <a:pPr algn="l">
              <a:lnSpc>
                <a:spcPct val="150000"/>
              </a:lnSpc>
              <a:spcAft>
                <a:spcPts val="1600"/>
              </a:spcAft>
            </a:pPr>
            <a:r>
              <a:rPr sz="3200" b="1" i="0" dirty="0">
                <a:solidFill>
                  <a:srgbClr val="1F2933"/>
                </a:solidFill>
                <a:latin typeface="+mj-lt"/>
              </a:rPr>
              <a:t>Team:</a:t>
            </a:r>
            <a:r>
              <a:rPr lang="en-IN" sz="3200" b="1" i="0" dirty="0">
                <a:solidFill>
                  <a:srgbClr val="1F2933"/>
                </a:solidFill>
                <a:latin typeface="+mj-lt"/>
              </a:rPr>
              <a:t> URJA </a:t>
            </a:r>
            <a:r>
              <a:rPr lang="en-IN" sz="2400" b="1" i="0" dirty="0">
                <a:solidFill>
                  <a:srgbClr val="1F2933"/>
                </a:solidFill>
                <a:latin typeface="+mj-lt"/>
              </a:rPr>
              <a:t>– </a:t>
            </a:r>
            <a:r>
              <a:rPr lang="en-IN" sz="3200" i="0" dirty="0">
                <a:solidFill>
                  <a:srgbClr val="1F2933"/>
                </a:solidFill>
                <a:latin typeface="+mj-lt"/>
              </a:rPr>
              <a:t>Amogh Aralkar, Ganesh Tatgunti, Mohammad Zakir, Pranali Shinde, Atharva Shrivastava</a:t>
            </a:r>
            <a:endParaRPr lang="en-IN" sz="3600" i="0" dirty="0">
              <a:solidFill>
                <a:srgbClr val="1F2933"/>
              </a:solidFill>
              <a:latin typeface="+mj-lt"/>
            </a:endParaRPr>
          </a:p>
          <a:p>
            <a:pPr algn="l">
              <a:lnSpc>
                <a:spcPct val="150000"/>
              </a:lnSpc>
              <a:spcAft>
                <a:spcPts val="1600"/>
              </a:spcAft>
            </a:pPr>
            <a:r>
              <a:rPr sz="3200" b="1" i="0" dirty="0">
                <a:solidFill>
                  <a:srgbClr val="1F2933"/>
                </a:solidFill>
                <a:latin typeface="+mj-lt"/>
              </a:rPr>
              <a:t>Category:</a:t>
            </a:r>
            <a:r>
              <a:rPr lang="en-IN" sz="3200" b="1" i="0" dirty="0">
                <a:solidFill>
                  <a:srgbClr val="1F2933"/>
                </a:solidFill>
                <a:latin typeface="+mj-lt"/>
              </a:rPr>
              <a:t> </a:t>
            </a:r>
            <a:r>
              <a:rPr lang="en-IN" sz="3200" i="0" dirty="0">
                <a:solidFill>
                  <a:srgbClr val="1F2933"/>
                </a:solidFill>
                <a:latin typeface="+mj-lt"/>
              </a:rPr>
              <a:t>Hardware</a:t>
            </a:r>
            <a:endParaRPr sz="2800" i="0" dirty="0">
              <a:solidFill>
                <a:srgbClr val="1F2933"/>
              </a:solidFill>
              <a:latin typeface="+mj-lt"/>
            </a:endParaRPr>
          </a:p>
          <a:p>
            <a:pPr algn="l">
              <a:lnSpc>
                <a:spcPct val="150000"/>
              </a:lnSpc>
              <a:spcAft>
                <a:spcPts val="1600"/>
              </a:spcAft>
            </a:pPr>
            <a:r>
              <a:rPr sz="3200" b="1" i="0" dirty="0">
                <a:solidFill>
                  <a:srgbClr val="1F2933"/>
                </a:solidFill>
                <a:latin typeface="+mj-lt"/>
              </a:rPr>
              <a:t>Track: </a:t>
            </a:r>
            <a:r>
              <a:rPr lang="en-IN" sz="3200" i="0" dirty="0">
                <a:solidFill>
                  <a:srgbClr val="1F2933"/>
                </a:solidFill>
                <a:latin typeface="+mj-lt"/>
              </a:rPr>
              <a:t>Renewable Energy</a:t>
            </a:r>
            <a:endParaRPr sz="2800" i="0" dirty="0">
              <a:solidFill>
                <a:srgbClr val="1F2933"/>
              </a:solidFill>
              <a:latin typeface="+mj-lt"/>
            </a:endParaRPr>
          </a:p>
        </p:txBody>
      </p:sp>
      <p:grpSp>
        <p:nvGrpSpPr>
          <p:cNvPr id="4" name="Group 4"/>
          <p:cNvGrpSpPr/>
          <p:nvPr/>
        </p:nvGrpSpPr>
        <p:grpSpPr>
          <a:xfrm>
            <a:off x="535200" y="-81549"/>
            <a:ext cx="17503283" cy="1576346"/>
            <a:chOff x="0" y="0"/>
            <a:chExt cx="23337711" cy="2101794"/>
          </a:xfrm>
        </p:grpSpPr>
        <p:grpSp>
          <p:nvGrpSpPr>
            <p:cNvPr id="5" name="Group 5"/>
            <p:cNvGrpSpPr/>
            <p:nvPr/>
          </p:nvGrpSpPr>
          <p:grpSpPr>
            <a:xfrm>
              <a:off x="0" y="0"/>
              <a:ext cx="2390534" cy="2101794"/>
              <a:chOff x="0" y="0"/>
              <a:chExt cx="2451880" cy="2155730"/>
            </a:xfrm>
          </p:grpSpPr>
          <p:sp>
            <p:nvSpPr>
              <p:cNvPr id="6" name="Freeform 6"/>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p>
            </p:txBody>
          </p:sp>
        </p:grpSp>
        <p:grpSp>
          <p:nvGrpSpPr>
            <p:cNvPr id="7" name="Group 7"/>
            <p:cNvGrpSpPr/>
            <p:nvPr/>
          </p:nvGrpSpPr>
          <p:grpSpPr>
            <a:xfrm>
              <a:off x="18545475" y="247188"/>
              <a:ext cx="1586845" cy="1627422"/>
              <a:chOff x="0" y="0"/>
              <a:chExt cx="1808366" cy="1854606"/>
            </a:xfrm>
          </p:grpSpPr>
          <p:sp>
            <p:nvSpPr>
              <p:cNvPr id="8" name="Freeform 8"/>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p>
            </p:txBody>
          </p:sp>
        </p:grpSp>
        <p:grpSp>
          <p:nvGrpSpPr>
            <p:cNvPr id="9" name="Group 9"/>
            <p:cNvGrpSpPr/>
            <p:nvPr/>
          </p:nvGrpSpPr>
          <p:grpSpPr>
            <a:xfrm>
              <a:off x="20344893" y="291523"/>
              <a:ext cx="2992818" cy="1380820"/>
              <a:chOff x="0" y="0"/>
              <a:chExt cx="2992818" cy="1380820"/>
            </a:xfrm>
          </p:grpSpPr>
          <p:sp>
            <p:nvSpPr>
              <p:cNvPr id="10" name="Freeform 10"/>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p>
            </p:txBody>
          </p:sp>
        </p:grpSp>
        <p:sp>
          <p:nvSpPr>
            <p:cNvPr id="11" name="TextBox 11"/>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2" name="Rounded Rectangle 11"/>
          <p:cNvSpPr/>
          <p:nvPr/>
        </p:nvSpPr>
        <p:spPr>
          <a:xfrm>
            <a:off x="517264" y="6591300"/>
            <a:ext cx="17190720" cy="274320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54864" rIns="365760" bIns="54864" rtlCol="0" anchor="ctr">
            <a:noAutofit/>
          </a:bodyPr>
          <a:lstStyle/>
          <a:p>
            <a:pPr algn="l">
              <a:spcAft>
                <a:spcPts val="800"/>
              </a:spcAft>
            </a:pPr>
            <a:r>
              <a:rPr lang="en-IN" sz="2600" b="1" dirty="0">
                <a:solidFill>
                  <a:srgbClr val="B45309"/>
                </a:solidFill>
                <a:latin typeface="Calibri"/>
              </a:rPr>
              <a:t>1 line C</a:t>
            </a:r>
            <a:r>
              <a:rPr sz="2600" b="1" i="0" dirty="0">
                <a:solidFill>
                  <a:srgbClr val="B45309"/>
                </a:solidFill>
                <a:latin typeface="Calibri"/>
              </a:rPr>
              <a:t>ore </a:t>
            </a:r>
            <a:r>
              <a:rPr lang="en-IN" sz="2600" b="1" dirty="0">
                <a:solidFill>
                  <a:srgbClr val="B45309"/>
                </a:solidFill>
                <a:latin typeface="Calibri"/>
              </a:rPr>
              <a:t>I</a:t>
            </a:r>
            <a:r>
              <a:rPr sz="2600" b="1" i="0" dirty="0" err="1">
                <a:solidFill>
                  <a:srgbClr val="B45309"/>
                </a:solidFill>
                <a:latin typeface="Calibri"/>
              </a:rPr>
              <a:t>nnovation</a:t>
            </a:r>
            <a:r>
              <a:rPr sz="2600" b="1" i="0" dirty="0">
                <a:solidFill>
                  <a:srgbClr val="B45309"/>
                </a:solidFill>
                <a:latin typeface="Calibri"/>
              </a:rPr>
              <a:t> </a:t>
            </a:r>
            <a:r>
              <a:rPr lang="en-IN" sz="2600" b="1" dirty="0">
                <a:solidFill>
                  <a:srgbClr val="B45309"/>
                </a:solidFill>
                <a:latin typeface="Calibri"/>
              </a:rPr>
              <a:t>S</a:t>
            </a:r>
            <a:r>
              <a:rPr sz="2600" b="1" i="0" dirty="0">
                <a:solidFill>
                  <a:srgbClr val="B45309"/>
                </a:solidFill>
                <a:latin typeface="Calibri"/>
              </a:rPr>
              <a:t>summary</a:t>
            </a:r>
          </a:p>
          <a:p>
            <a:pPr algn="l">
              <a:spcAft>
                <a:spcPts val="400"/>
              </a:spcAft>
            </a:pPr>
            <a:r>
              <a:rPr sz="2800" b="1" i="0" dirty="0">
                <a:solidFill>
                  <a:srgbClr val="1F2933"/>
                </a:solidFill>
                <a:latin typeface="Calibri"/>
              </a:rPr>
              <a:t>A community microgrid where neighbours share surplus solar through a prepaid energy ledger, an AI/ML advisor forecasts solar and demand to plan the battery, and an ESP32 controller islands the community safely when the grid fails, never cutting critical loads.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a:solidFill>
                  <a:srgbClr val="000000"/>
                </a:solidFill>
                <a:latin typeface="Canva Sans Bold"/>
                <a:ea typeface="Canva Sans Bold"/>
                <a:cs typeface="Canva Sans Bold"/>
                <a:sym typeface="Canva Sans Bold"/>
              </a:rPr>
              <a:t>Problem statement:</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Rounded Rectangle 10"/>
          <p:cNvSpPr/>
          <p:nvPr/>
        </p:nvSpPr>
        <p:spPr>
          <a:xfrm>
            <a:off x="548640" y="2468880"/>
            <a:ext cx="7680960" cy="7223760"/>
          </a:xfrm>
          <a:prstGeom prst="roundRect">
            <a:avLst>
              <a:gd name="adj" fmla="val 8000"/>
            </a:avLst>
          </a:prstGeom>
          <a:solidFill>
            <a:srgbClr val="F7ECEE"/>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54864" rIns="365760" bIns="54864" rtlCol="0" anchor="t">
            <a:noAutofit/>
          </a:bodyPr>
          <a:lstStyle/>
          <a:p>
            <a:pPr algn="l">
              <a:spcAft>
                <a:spcPts val="1200"/>
              </a:spcAft>
            </a:pPr>
            <a:r>
              <a:rPr sz="2600" b="1" i="0">
                <a:solidFill>
                  <a:srgbClr val="7A1F2B"/>
                </a:solidFill>
                <a:latin typeface="Calibri"/>
              </a:rPr>
              <a:t>PS #38 in brief</a:t>
            </a:r>
          </a:p>
          <a:p>
            <a:pPr algn="l">
              <a:spcAft>
                <a:spcPts val="1400"/>
              </a:spcAft>
            </a:pPr>
            <a:r>
              <a:rPr sz="2600" b="0" i="0">
                <a:solidFill>
                  <a:srgbClr val="1F2933"/>
                </a:solidFill>
                <a:latin typeface="Calibri"/>
              </a:rPr>
              <a:t>Build an intelligent microgrid controller that detects grid failure, manages locally generated renewable energy and storage, prioritises critical loads, and safely manages the transition from grid-connected to islanded operation.</a:t>
            </a:r>
          </a:p>
          <a:p>
            <a:pPr algn="l">
              <a:spcAft>
                <a:spcPts val="0"/>
              </a:spcAft>
            </a:pPr>
            <a:r>
              <a:rPr sz="2600" b="0" i="0">
                <a:solidFill>
                  <a:srgbClr val="1F2933"/>
                </a:solidFill>
                <a:latin typeface="Calibri"/>
              </a:rPr>
              <a:t>Energy sharing: let neighbouring households trade and route localised solar power.</a:t>
            </a:r>
          </a:p>
        </p:txBody>
      </p:sp>
      <p:sp>
        <p:nvSpPr>
          <p:cNvPr id="12" name="Oval 11"/>
          <p:cNvSpPr/>
          <p:nvPr/>
        </p:nvSpPr>
        <p:spPr>
          <a:xfrm>
            <a:off x="8778240" y="2697480"/>
            <a:ext cx="685800" cy="6858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300" b="1" i="0">
                <a:solidFill>
                  <a:srgbClr val="FFFFFF"/>
                </a:solidFill>
                <a:latin typeface="Calibri"/>
              </a:rPr>
              <a:t>1</a:t>
            </a:r>
          </a:p>
        </p:txBody>
      </p:sp>
      <p:sp>
        <p:nvSpPr>
          <p:cNvPr id="13" name="TextBox 12"/>
          <p:cNvSpPr txBox="1"/>
          <p:nvPr/>
        </p:nvSpPr>
        <p:spPr>
          <a:xfrm>
            <a:off x="9692640" y="2514600"/>
            <a:ext cx="8046720" cy="1417320"/>
          </a:xfrm>
          <a:prstGeom prst="rect">
            <a:avLst/>
          </a:prstGeom>
          <a:noFill/>
        </p:spPr>
        <p:txBody>
          <a:bodyPr wrap="square" lIns="0" tIns="0" rIns="0" bIns="0" anchor="t">
            <a:noAutofit/>
          </a:bodyPr>
          <a:lstStyle/>
          <a:p>
            <a:pPr algn="l">
              <a:spcAft>
                <a:spcPts val="200"/>
              </a:spcAft>
            </a:pPr>
            <a:r>
              <a:rPr sz="2600" b="1" i="0">
                <a:solidFill>
                  <a:srgbClr val="1F2933"/>
                </a:solidFill>
                <a:latin typeface="Calibri"/>
              </a:rPr>
              <a:t>Solar surplus is not shared</a:t>
            </a:r>
          </a:p>
          <a:p>
            <a:pPr algn="l">
              <a:spcAft>
                <a:spcPts val="600"/>
              </a:spcAft>
            </a:pPr>
            <a:r>
              <a:rPr sz="2100" b="0" i="0">
                <a:solidFill>
                  <a:srgbClr val="4B5563"/>
                </a:solidFill>
                <a:latin typeface="Calibri"/>
              </a:rPr>
              <a:t>A home with spare rooftop solar cannot sell it to the neighbour next door; it is wasted or exported cheaply.</a:t>
            </a:r>
          </a:p>
        </p:txBody>
      </p:sp>
      <p:sp>
        <p:nvSpPr>
          <p:cNvPr id="14" name="Oval 13"/>
          <p:cNvSpPr/>
          <p:nvPr/>
        </p:nvSpPr>
        <p:spPr>
          <a:xfrm>
            <a:off x="8778240" y="4160520"/>
            <a:ext cx="685800" cy="6858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300" b="1" i="0">
                <a:solidFill>
                  <a:srgbClr val="FFFFFF"/>
                </a:solidFill>
                <a:latin typeface="Calibri"/>
              </a:rPr>
              <a:t>2</a:t>
            </a:r>
          </a:p>
        </p:txBody>
      </p:sp>
      <p:sp>
        <p:nvSpPr>
          <p:cNvPr id="15" name="TextBox 14"/>
          <p:cNvSpPr txBox="1"/>
          <p:nvPr/>
        </p:nvSpPr>
        <p:spPr>
          <a:xfrm>
            <a:off x="9692640" y="3977640"/>
            <a:ext cx="8046720" cy="1417320"/>
          </a:xfrm>
          <a:prstGeom prst="rect">
            <a:avLst/>
          </a:prstGeom>
          <a:noFill/>
        </p:spPr>
        <p:txBody>
          <a:bodyPr wrap="square" lIns="0" tIns="0" rIns="0" bIns="0" anchor="t">
            <a:noAutofit/>
          </a:bodyPr>
          <a:lstStyle/>
          <a:p>
            <a:pPr algn="l">
              <a:spcAft>
                <a:spcPts val="200"/>
              </a:spcAft>
            </a:pPr>
            <a:r>
              <a:rPr sz="2600" b="1" i="0">
                <a:solidFill>
                  <a:srgbClr val="1F2933"/>
                </a:solidFill>
                <a:latin typeface="Calibri"/>
              </a:rPr>
              <a:t>No fair way to trade locally</a:t>
            </a:r>
          </a:p>
          <a:p>
            <a:pPr algn="l">
              <a:spcAft>
                <a:spcPts val="600"/>
              </a:spcAft>
            </a:pPr>
            <a:r>
              <a:rPr sz="2100" b="0" i="0">
                <a:solidFill>
                  <a:srgbClr val="4B5563"/>
                </a:solidFill>
                <a:latin typeface="Calibri"/>
              </a:rPr>
              <a:t>Sharing needs per-household metering and a prepaid record of who bought and sold what.</a:t>
            </a:r>
          </a:p>
        </p:txBody>
      </p:sp>
      <p:sp>
        <p:nvSpPr>
          <p:cNvPr id="16" name="Oval 15"/>
          <p:cNvSpPr/>
          <p:nvPr/>
        </p:nvSpPr>
        <p:spPr>
          <a:xfrm>
            <a:off x="8778240" y="5623560"/>
            <a:ext cx="685800" cy="6858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300" b="1" i="0">
                <a:solidFill>
                  <a:srgbClr val="FFFFFF"/>
                </a:solidFill>
                <a:latin typeface="Calibri"/>
              </a:rPr>
              <a:t>3</a:t>
            </a:r>
          </a:p>
        </p:txBody>
      </p:sp>
      <p:sp>
        <p:nvSpPr>
          <p:cNvPr id="17" name="TextBox 16"/>
          <p:cNvSpPr txBox="1"/>
          <p:nvPr/>
        </p:nvSpPr>
        <p:spPr>
          <a:xfrm>
            <a:off x="9692640" y="5440680"/>
            <a:ext cx="8046720" cy="1417320"/>
          </a:xfrm>
          <a:prstGeom prst="rect">
            <a:avLst/>
          </a:prstGeom>
          <a:noFill/>
        </p:spPr>
        <p:txBody>
          <a:bodyPr wrap="square" lIns="0" tIns="0" rIns="0" bIns="0" anchor="t">
            <a:noAutofit/>
          </a:bodyPr>
          <a:lstStyle/>
          <a:p>
            <a:pPr algn="l">
              <a:spcAft>
                <a:spcPts val="200"/>
              </a:spcAft>
            </a:pPr>
            <a:r>
              <a:rPr sz="2600" b="1" i="0">
                <a:solidFill>
                  <a:srgbClr val="1F2933"/>
                </a:solidFill>
                <a:latin typeface="Calibri"/>
              </a:rPr>
              <a:t>Outages hit essentials first</a:t>
            </a:r>
          </a:p>
          <a:p>
            <a:pPr algn="l">
              <a:spcAft>
                <a:spcPts val="600"/>
              </a:spcAft>
            </a:pPr>
            <a:r>
              <a:rPr sz="2100" b="0" i="0">
                <a:solidFill>
                  <a:srgbClr val="4B5563"/>
                </a:solidFill>
                <a:latin typeface="Calibri"/>
              </a:rPr>
              <a:t>When the grid fails, every load goes dark, including the ones that matter most.</a:t>
            </a:r>
          </a:p>
        </p:txBody>
      </p:sp>
      <p:sp>
        <p:nvSpPr>
          <p:cNvPr id="18" name="Oval 17"/>
          <p:cNvSpPr/>
          <p:nvPr/>
        </p:nvSpPr>
        <p:spPr>
          <a:xfrm>
            <a:off x="8778240" y="7086600"/>
            <a:ext cx="685800" cy="6858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300" b="1" i="0">
                <a:solidFill>
                  <a:srgbClr val="FFFFFF"/>
                </a:solidFill>
                <a:latin typeface="Calibri"/>
              </a:rPr>
              <a:t>4</a:t>
            </a:r>
          </a:p>
        </p:txBody>
      </p:sp>
      <p:sp>
        <p:nvSpPr>
          <p:cNvPr id="19" name="TextBox 18"/>
          <p:cNvSpPr txBox="1"/>
          <p:nvPr/>
        </p:nvSpPr>
        <p:spPr>
          <a:xfrm>
            <a:off x="9692640" y="6903720"/>
            <a:ext cx="8046720" cy="1417320"/>
          </a:xfrm>
          <a:prstGeom prst="rect">
            <a:avLst/>
          </a:prstGeom>
          <a:noFill/>
        </p:spPr>
        <p:txBody>
          <a:bodyPr wrap="square" lIns="0" tIns="0" rIns="0" bIns="0" anchor="t">
            <a:noAutofit/>
          </a:bodyPr>
          <a:lstStyle/>
          <a:p>
            <a:pPr algn="l">
              <a:spcAft>
                <a:spcPts val="200"/>
              </a:spcAft>
            </a:pPr>
            <a:r>
              <a:rPr sz="2600" b="1" i="0">
                <a:solidFill>
                  <a:srgbClr val="1F2933"/>
                </a:solidFill>
                <a:latin typeface="Calibri"/>
              </a:rPr>
              <a:t>Islanding must be safe</a:t>
            </a:r>
          </a:p>
          <a:p>
            <a:pPr algn="l">
              <a:spcAft>
                <a:spcPts val="600"/>
              </a:spcAft>
            </a:pPr>
            <a:r>
              <a:rPr sz="2100" b="0" i="0">
                <a:solidFill>
                  <a:srgbClr val="4B5563"/>
                </a:solidFill>
                <a:latin typeface="Calibri"/>
              </a:rPr>
              <a:t>The community must disconnect from a dead grid (no back-feed) and reconnect smoothly.</a:t>
            </a:r>
          </a:p>
        </p:txBody>
      </p:sp>
      <p:sp>
        <p:nvSpPr>
          <p:cNvPr id="20" name="Oval 19"/>
          <p:cNvSpPr/>
          <p:nvPr/>
        </p:nvSpPr>
        <p:spPr>
          <a:xfrm>
            <a:off x="8778240" y="8549640"/>
            <a:ext cx="685800" cy="68580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300" b="1" i="0">
                <a:solidFill>
                  <a:srgbClr val="FFFFFF"/>
                </a:solidFill>
                <a:latin typeface="Calibri"/>
              </a:rPr>
              <a:t>5</a:t>
            </a:r>
          </a:p>
        </p:txBody>
      </p:sp>
      <p:sp>
        <p:nvSpPr>
          <p:cNvPr id="21" name="TextBox 20"/>
          <p:cNvSpPr txBox="1"/>
          <p:nvPr/>
        </p:nvSpPr>
        <p:spPr>
          <a:xfrm>
            <a:off x="9692640" y="8366760"/>
            <a:ext cx="8046720" cy="1417320"/>
          </a:xfrm>
          <a:prstGeom prst="rect">
            <a:avLst/>
          </a:prstGeom>
          <a:noFill/>
        </p:spPr>
        <p:txBody>
          <a:bodyPr wrap="square" lIns="0" tIns="0" rIns="0" bIns="0" anchor="t">
            <a:noAutofit/>
          </a:bodyPr>
          <a:lstStyle/>
          <a:p>
            <a:pPr algn="l">
              <a:spcAft>
                <a:spcPts val="200"/>
              </a:spcAft>
            </a:pPr>
            <a:r>
              <a:rPr sz="2600" b="1" i="0">
                <a:solidFill>
                  <a:srgbClr val="1F2933"/>
                </a:solidFill>
                <a:latin typeface="Calibri"/>
              </a:rPr>
              <a:t>Storage is used blindly</a:t>
            </a:r>
          </a:p>
          <a:p>
            <a:pPr algn="l">
              <a:spcAft>
                <a:spcPts val="600"/>
              </a:spcAft>
            </a:pPr>
            <a:r>
              <a:rPr sz="2100" b="0" i="0">
                <a:solidFill>
                  <a:srgbClr val="4B5563"/>
                </a:solidFill>
                <a:latin typeface="Calibri"/>
              </a:rPr>
              <a:t>Batteries charge and discharge without regard to price or neighbours' needs.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a:solidFill>
                  <a:srgbClr val="000000"/>
                </a:solidFill>
                <a:latin typeface="Canva Sans Bold"/>
                <a:ea typeface="Canva Sans Bold"/>
                <a:cs typeface="Canva Sans Bold"/>
                <a:sym typeface="Canva Sans Bold"/>
              </a:rPr>
              <a:t>Proposed solution:</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Rounded Rectangle 10"/>
          <p:cNvSpPr/>
          <p:nvPr/>
        </p:nvSpPr>
        <p:spPr>
          <a:xfrm>
            <a:off x="548640" y="2423160"/>
            <a:ext cx="11521440" cy="5486400"/>
          </a:xfrm>
          <a:prstGeom prst="roundRect">
            <a:avLst>
              <a:gd name="adj" fmla="val 3000"/>
            </a:avLst>
          </a:prstGeom>
          <a:noFill/>
          <a:ln w="25400">
            <a:solidFill>
              <a:srgbClr val="0F766E"/>
            </a:solidFill>
            <a:prstDash val="dash"/>
          </a:ln>
          <a:effectLst/>
        </p:spPr>
        <p:style>
          <a:lnRef idx="1">
            <a:schemeClr val="accent1"/>
          </a:lnRef>
          <a:fillRef idx="3">
            <a:schemeClr val="accent1"/>
          </a:fillRef>
          <a:effectRef idx="2">
            <a:schemeClr val="accent1"/>
          </a:effectRef>
          <a:fontRef idx="minor">
            <a:schemeClr val="lt1"/>
          </a:fontRef>
        </p:style>
        <p:txBody>
          <a:bodyPr lIns="137160" tIns="54864" rIns="137160" bIns="54864" rtlCol="0" anchor="ctr"/>
          <a:lstStyle/>
          <a:p>
            <a:pPr algn="ctr"/>
            <a:endParaRPr/>
          </a:p>
        </p:txBody>
      </p:sp>
      <p:sp>
        <p:nvSpPr>
          <p:cNvPr id="12" name="TextBox 11"/>
          <p:cNvSpPr txBox="1"/>
          <p:nvPr/>
        </p:nvSpPr>
        <p:spPr>
          <a:xfrm>
            <a:off x="777240" y="2514600"/>
            <a:ext cx="7315200" cy="457200"/>
          </a:xfrm>
          <a:prstGeom prst="rect">
            <a:avLst/>
          </a:prstGeom>
          <a:noFill/>
        </p:spPr>
        <p:txBody>
          <a:bodyPr wrap="square" lIns="0" tIns="0" rIns="0" bIns="0" anchor="t">
            <a:noAutofit/>
          </a:bodyPr>
          <a:lstStyle/>
          <a:p>
            <a:pPr algn="l">
              <a:spcAft>
                <a:spcPts val="600"/>
              </a:spcAft>
            </a:pPr>
            <a:r>
              <a:rPr sz="2000" b="1" i="0">
                <a:solidFill>
                  <a:srgbClr val="0F766E"/>
                </a:solidFill>
                <a:latin typeface="Calibri"/>
              </a:rPr>
              <a:t>Simulated in MATLAB / Simulink (AC microgrid)</a:t>
            </a:r>
          </a:p>
        </p:txBody>
      </p:sp>
      <p:sp>
        <p:nvSpPr>
          <p:cNvPr id="13" name="Rounded Rectangle 12"/>
          <p:cNvSpPr/>
          <p:nvPr/>
        </p:nvSpPr>
        <p:spPr>
          <a:xfrm>
            <a:off x="822960" y="3063240"/>
            <a:ext cx="2606040" cy="1188720"/>
          </a:xfrm>
          <a:prstGeom prst="roundRect">
            <a:avLst>
              <a:gd name="adj" fmla="val 8000"/>
            </a:avLst>
          </a:prstGeom>
          <a:solidFill>
            <a:srgbClr val="F3F4F6"/>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200" b="1" i="0">
                <a:solidFill>
                  <a:srgbClr val="1F2933"/>
                </a:solidFill>
                <a:latin typeface="Calibri"/>
              </a:rPr>
              <a:t>Main grid</a:t>
            </a:r>
          </a:p>
          <a:p>
            <a:pPr algn="ctr">
              <a:spcAft>
                <a:spcPts val="400"/>
              </a:spcAft>
            </a:pPr>
            <a:r>
              <a:rPr sz="1800" b="0" i="0">
                <a:solidFill>
                  <a:srgbClr val="4B5563"/>
                </a:solidFill>
                <a:latin typeface="Calibri"/>
              </a:rPr>
              <a:t>230 V AC</a:t>
            </a:r>
          </a:p>
        </p:txBody>
      </p:sp>
      <p:sp>
        <p:nvSpPr>
          <p:cNvPr id="14" name="Rounded Rectangle 13"/>
          <p:cNvSpPr/>
          <p:nvPr/>
        </p:nvSpPr>
        <p:spPr>
          <a:xfrm>
            <a:off x="3611880" y="3063240"/>
            <a:ext cx="2606040" cy="1188720"/>
          </a:xfrm>
          <a:prstGeom prst="roundRect">
            <a:avLst>
              <a:gd name="adj" fmla="val 8000"/>
            </a:avLst>
          </a:prstGeom>
          <a:solidFill>
            <a:srgbClr val="F7ECEE"/>
          </a:solidFill>
          <a:ln w="19050">
            <a:solidFill>
              <a:srgbClr val="7A1F2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200" b="1" i="0">
                <a:solidFill>
                  <a:srgbClr val="1F2933"/>
                </a:solidFill>
                <a:latin typeface="Calibri"/>
              </a:rPr>
              <a:t>Grid switch</a:t>
            </a:r>
          </a:p>
          <a:p>
            <a:pPr algn="ctr">
              <a:spcAft>
                <a:spcPts val="400"/>
              </a:spcAft>
            </a:pPr>
            <a:r>
              <a:rPr sz="1800" b="0" i="0">
                <a:solidFill>
                  <a:srgbClr val="4B5563"/>
                </a:solidFill>
                <a:latin typeface="Calibri"/>
              </a:rPr>
              <a:t>point of connection</a:t>
            </a:r>
          </a:p>
        </p:txBody>
      </p:sp>
      <p:sp>
        <p:nvSpPr>
          <p:cNvPr id="15" name="Rounded Rectangle 14"/>
          <p:cNvSpPr/>
          <p:nvPr/>
        </p:nvSpPr>
        <p:spPr>
          <a:xfrm>
            <a:off x="6400800" y="3063240"/>
            <a:ext cx="2606040" cy="1188720"/>
          </a:xfrm>
          <a:prstGeom prst="roundRect">
            <a:avLst>
              <a:gd name="adj" fmla="val 8000"/>
            </a:avLst>
          </a:prstGeom>
          <a:solidFill>
            <a:srgbClr val="E0F2E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200" b="1" i="0">
                <a:solidFill>
                  <a:srgbClr val="1F2933"/>
                </a:solidFill>
                <a:latin typeface="Calibri"/>
              </a:rPr>
              <a:t>Shared battery</a:t>
            </a:r>
          </a:p>
          <a:p>
            <a:pPr algn="ctr">
              <a:spcAft>
                <a:spcPts val="400"/>
              </a:spcAft>
            </a:pPr>
            <a:r>
              <a:rPr sz="1800" b="0" i="0">
                <a:solidFill>
                  <a:srgbClr val="4B5563"/>
                </a:solidFill>
                <a:latin typeface="Calibri"/>
              </a:rPr>
              <a:t>BESS + inverter</a:t>
            </a:r>
          </a:p>
        </p:txBody>
      </p:sp>
      <p:sp>
        <p:nvSpPr>
          <p:cNvPr id="16" name="Rounded Rectangle 15"/>
          <p:cNvSpPr/>
          <p:nvPr/>
        </p:nvSpPr>
        <p:spPr>
          <a:xfrm>
            <a:off x="9189720" y="3063240"/>
            <a:ext cx="2606040" cy="1188720"/>
          </a:xfrm>
          <a:prstGeom prst="roundRect">
            <a:avLst>
              <a:gd name="adj" fmla="val 8000"/>
            </a:avLst>
          </a:prstGeom>
          <a:solidFill>
            <a:srgbClr val="FEF3C7"/>
          </a:solidFill>
          <a:ln w="19050">
            <a:solidFill>
              <a:srgbClr val="B45309"/>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200" b="1" i="0">
                <a:solidFill>
                  <a:srgbClr val="1F2933"/>
                </a:solidFill>
                <a:latin typeface="Calibri"/>
              </a:rPr>
              <a:t>Solar PV</a:t>
            </a:r>
          </a:p>
          <a:p>
            <a:pPr algn="ctr">
              <a:spcAft>
                <a:spcPts val="400"/>
              </a:spcAft>
            </a:pPr>
            <a:r>
              <a:rPr sz="1800" b="0" i="0">
                <a:solidFill>
                  <a:srgbClr val="4B5563"/>
                </a:solidFill>
                <a:latin typeface="Calibri"/>
              </a:rPr>
              <a:t>+ inverter</a:t>
            </a:r>
          </a:p>
        </p:txBody>
      </p:sp>
      <p:cxnSp>
        <p:nvCxnSpPr>
          <p:cNvPr id="17" name="Connector 16"/>
          <p:cNvCxnSpPr/>
          <p:nvPr/>
        </p:nvCxnSpPr>
        <p:spPr>
          <a:xfrm>
            <a:off x="3429000" y="3657600"/>
            <a:ext cx="182880" cy="0"/>
          </a:xfrm>
          <a:prstGeom prst="line">
            <a:avLst/>
          </a:prstGeom>
          <a:ln w="28575">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914900" y="4251960"/>
            <a:ext cx="0" cy="685800"/>
          </a:xfrm>
          <a:prstGeom prst="line">
            <a:avLst/>
          </a:prstGeom>
          <a:ln w="28575">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703820" y="4251960"/>
            <a:ext cx="0" cy="685800"/>
          </a:xfrm>
          <a:prstGeom prst="line">
            <a:avLst/>
          </a:prstGeom>
          <a:ln w="28575">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492740" y="4251960"/>
            <a:ext cx="0" cy="685800"/>
          </a:xfrm>
          <a:prstGeom prst="line">
            <a:avLst/>
          </a:prstGeom>
          <a:ln w="285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822960" y="4937760"/>
            <a:ext cx="10972800" cy="1280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4434840"/>
            <a:ext cx="2560320" cy="411480"/>
          </a:xfrm>
          <a:prstGeom prst="rect">
            <a:avLst/>
          </a:prstGeom>
          <a:noFill/>
        </p:spPr>
        <p:txBody>
          <a:bodyPr wrap="square" lIns="0" tIns="0" rIns="0" bIns="0" anchor="t">
            <a:noAutofit/>
          </a:bodyPr>
          <a:lstStyle/>
          <a:p>
            <a:pPr algn="l">
              <a:spcAft>
                <a:spcPts val="600"/>
              </a:spcAft>
            </a:pPr>
            <a:r>
              <a:rPr sz="1900" b="1" i="0">
                <a:solidFill>
                  <a:srgbClr val="B45309"/>
                </a:solidFill>
                <a:latin typeface="Calibri"/>
              </a:rPr>
              <a:t>community AC bus</a:t>
            </a:r>
          </a:p>
        </p:txBody>
      </p:sp>
      <p:cxnSp>
        <p:nvCxnSpPr>
          <p:cNvPr id="23" name="Connector 22"/>
          <p:cNvCxnSpPr/>
          <p:nvPr/>
        </p:nvCxnSpPr>
        <p:spPr>
          <a:xfrm>
            <a:off x="2125980" y="5065776"/>
            <a:ext cx="0" cy="740664"/>
          </a:xfrm>
          <a:prstGeom prst="line">
            <a:avLst/>
          </a:prstGeom>
          <a:ln w="285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22960" y="5806440"/>
            <a:ext cx="2606040" cy="1828800"/>
          </a:xfrm>
          <a:prstGeom prst="roundRect">
            <a:avLst>
              <a:gd name="adj" fmla="val 8000"/>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t">
            <a:noAutofit/>
          </a:bodyPr>
          <a:lstStyle/>
          <a:p>
            <a:pPr algn="ctr">
              <a:spcAft>
                <a:spcPts val="200"/>
              </a:spcAft>
            </a:pPr>
            <a:r>
              <a:rPr sz="2200" b="1" i="0">
                <a:solidFill>
                  <a:srgbClr val="1F2933"/>
                </a:solidFill>
                <a:latin typeface="Calibri"/>
              </a:rPr>
              <a:t>House 1</a:t>
            </a:r>
          </a:p>
          <a:p>
            <a:pPr algn="ctr">
              <a:spcAft>
                <a:spcPts val="200"/>
              </a:spcAft>
            </a:pPr>
            <a:r>
              <a:rPr sz="1800" b="1" i="0">
                <a:solidFill>
                  <a:srgbClr val="B45309"/>
                </a:solidFill>
                <a:latin typeface="Calibri"/>
              </a:rPr>
              <a:t>rooftop solar · seller</a:t>
            </a:r>
          </a:p>
          <a:p>
            <a:pPr algn="ctr">
              <a:spcAft>
                <a:spcPts val="400"/>
              </a:spcAft>
            </a:pPr>
            <a:r>
              <a:rPr sz="1600" b="0" i="0">
                <a:solidFill>
                  <a:srgbClr val="4B5563"/>
                </a:solidFill>
                <a:latin typeface="Calibri"/>
              </a:rPr>
              <a:t>meter + prepaid ledger</a:t>
            </a:r>
          </a:p>
        </p:txBody>
      </p:sp>
      <p:cxnSp>
        <p:nvCxnSpPr>
          <p:cNvPr id="25" name="Connector 24"/>
          <p:cNvCxnSpPr/>
          <p:nvPr/>
        </p:nvCxnSpPr>
        <p:spPr>
          <a:xfrm>
            <a:off x="4914900" y="5065776"/>
            <a:ext cx="0" cy="740664"/>
          </a:xfrm>
          <a:prstGeom prst="line">
            <a:avLst/>
          </a:prstGeom>
          <a:ln w="285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3611879" y="5806440"/>
            <a:ext cx="2606040" cy="1828800"/>
          </a:xfrm>
          <a:prstGeom prst="roundRect">
            <a:avLst>
              <a:gd name="adj" fmla="val 8000"/>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t">
            <a:noAutofit/>
          </a:bodyPr>
          <a:lstStyle/>
          <a:p>
            <a:pPr algn="ctr">
              <a:spcAft>
                <a:spcPts val="200"/>
              </a:spcAft>
            </a:pPr>
            <a:r>
              <a:rPr sz="2200" b="1" i="0">
                <a:solidFill>
                  <a:srgbClr val="1F2933"/>
                </a:solidFill>
                <a:latin typeface="Calibri"/>
              </a:rPr>
              <a:t>House 2</a:t>
            </a:r>
          </a:p>
          <a:p>
            <a:pPr algn="ctr">
              <a:spcAft>
                <a:spcPts val="200"/>
              </a:spcAft>
            </a:pPr>
            <a:r>
              <a:rPr sz="1800" b="1" i="0">
                <a:solidFill>
                  <a:srgbClr val="B45309"/>
                </a:solidFill>
                <a:latin typeface="Calibri"/>
              </a:rPr>
              <a:t>rooftop solar · seller</a:t>
            </a:r>
          </a:p>
          <a:p>
            <a:pPr algn="ctr">
              <a:spcAft>
                <a:spcPts val="400"/>
              </a:spcAft>
            </a:pPr>
            <a:r>
              <a:rPr sz="1600" b="0" i="0">
                <a:solidFill>
                  <a:srgbClr val="4B5563"/>
                </a:solidFill>
                <a:latin typeface="Calibri"/>
              </a:rPr>
              <a:t>meter + prepaid ledger</a:t>
            </a:r>
          </a:p>
        </p:txBody>
      </p:sp>
      <p:cxnSp>
        <p:nvCxnSpPr>
          <p:cNvPr id="27" name="Connector 26"/>
          <p:cNvCxnSpPr/>
          <p:nvPr/>
        </p:nvCxnSpPr>
        <p:spPr>
          <a:xfrm>
            <a:off x="7703820" y="5065776"/>
            <a:ext cx="0" cy="740664"/>
          </a:xfrm>
          <a:prstGeom prst="line">
            <a:avLst/>
          </a:prstGeom>
          <a:ln w="28575">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400800" y="5806440"/>
            <a:ext cx="2606040" cy="1828800"/>
          </a:xfrm>
          <a:prstGeom prst="roundRect">
            <a:avLst>
              <a:gd name="adj" fmla="val 8000"/>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t">
            <a:noAutofit/>
          </a:bodyPr>
          <a:lstStyle/>
          <a:p>
            <a:pPr algn="ctr">
              <a:spcAft>
                <a:spcPts val="200"/>
              </a:spcAft>
            </a:pPr>
            <a:r>
              <a:rPr sz="2200" b="1" i="0">
                <a:solidFill>
                  <a:srgbClr val="1F2933"/>
                </a:solidFill>
                <a:latin typeface="Calibri"/>
              </a:rPr>
              <a:t>House 3</a:t>
            </a:r>
          </a:p>
          <a:p>
            <a:pPr algn="ctr">
              <a:spcAft>
                <a:spcPts val="200"/>
              </a:spcAft>
            </a:pPr>
            <a:r>
              <a:rPr sz="1800" b="1" i="0">
                <a:solidFill>
                  <a:srgbClr val="4B5563"/>
                </a:solidFill>
                <a:latin typeface="Calibri"/>
              </a:rPr>
              <a:t>no solar · buyer</a:t>
            </a:r>
          </a:p>
          <a:p>
            <a:pPr algn="ctr">
              <a:spcAft>
                <a:spcPts val="400"/>
              </a:spcAft>
            </a:pPr>
            <a:r>
              <a:rPr sz="1600" b="0" i="0">
                <a:solidFill>
                  <a:srgbClr val="4B5563"/>
                </a:solidFill>
                <a:latin typeface="Calibri"/>
              </a:rPr>
              <a:t>meter + prepaid ledger</a:t>
            </a:r>
          </a:p>
        </p:txBody>
      </p:sp>
      <p:cxnSp>
        <p:nvCxnSpPr>
          <p:cNvPr id="29" name="Connector 28"/>
          <p:cNvCxnSpPr/>
          <p:nvPr/>
        </p:nvCxnSpPr>
        <p:spPr>
          <a:xfrm>
            <a:off x="10492740" y="5065776"/>
            <a:ext cx="0" cy="740664"/>
          </a:xfrm>
          <a:prstGeom prst="line">
            <a:avLst/>
          </a:prstGeom>
          <a:ln w="28575">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189719" y="5806440"/>
            <a:ext cx="2606040" cy="1828800"/>
          </a:xfrm>
          <a:prstGeom prst="roundRect">
            <a:avLst>
              <a:gd name="adj" fmla="val 8000"/>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t">
            <a:noAutofit/>
          </a:bodyPr>
          <a:lstStyle/>
          <a:p>
            <a:pPr algn="ctr">
              <a:spcAft>
                <a:spcPts val="200"/>
              </a:spcAft>
            </a:pPr>
            <a:r>
              <a:rPr sz="2200" b="1" i="0">
                <a:solidFill>
                  <a:srgbClr val="1F2933"/>
                </a:solidFill>
                <a:latin typeface="Calibri"/>
              </a:rPr>
              <a:t>Community place</a:t>
            </a:r>
          </a:p>
          <a:p>
            <a:pPr algn="ctr">
              <a:spcAft>
                <a:spcPts val="200"/>
              </a:spcAft>
            </a:pPr>
            <a:r>
              <a:rPr sz="1800" b="1" i="0">
                <a:solidFill>
                  <a:srgbClr val="4B5563"/>
                </a:solidFill>
                <a:latin typeface="Calibri"/>
              </a:rPr>
              <a:t>critical loads</a:t>
            </a:r>
          </a:p>
          <a:p>
            <a:pPr algn="ctr">
              <a:spcAft>
                <a:spcPts val="400"/>
              </a:spcAft>
            </a:pPr>
            <a:r>
              <a:rPr sz="1600" b="0" i="0">
                <a:solidFill>
                  <a:srgbClr val="4B5563"/>
                </a:solidFill>
                <a:latin typeface="Calibri"/>
              </a:rPr>
              <a:t>meter + prepaid ledger</a:t>
            </a:r>
          </a:p>
        </p:txBody>
      </p:sp>
      <p:cxnSp>
        <p:nvCxnSpPr>
          <p:cNvPr id="31" name="Connector 30"/>
          <p:cNvCxnSpPr/>
          <p:nvPr/>
        </p:nvCxnSpPr>
        <p:spPr>
          <a:xfrm>
            <a:off x="6309360" y="7909560"/>
            <a:ext cx="0" cy="548640"/>
          </a:xfrm>
          <a:prstGeom prst="line">
            <a:avLst/>
          </a:prstGeom>
          <a:ln w="25400">
            <a:solidFill>
              <a:srgbClr val="4B556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446520" y="7955279"/>
            <a:ext cx="3200400" cy="457200"/>
          </a:xfrm>
          <a:prstGeom prst="rect">
            <a:avLst/>
          </a:prstGeom>
          <a:noFill/>
        </p:spPr>
        <p:txBody>
          <a:bodyPr wrap="square" lIns="0" tIns="0" rIns="0" bIns="0" anchor="t">
            <a:noAutofit/>
          </a:bodyPr>
          <a:lstStyle/>
          <a:p>
            <a:pPr algn="l">
              <a:spcAft>
                <a:spcPts val="600"/>
              </a:spcAft>
            </a:pPr>
            <a:r>
              <a:rPr sz="1800" b="0" i="0">
                <a:solidFill>
                  <a:srgbClr val="4B5563"/>
                </a:solidFill>
                <a:latin typeface="Calibri"/>
              </a:rPr>
              <a:t>USB serial</a:t>
            </a:r>
          </a:p>
        </p:txBody>
      </p:sp>
      <p:sp>
        <p:nvSpPr>
          <p:cNvPr id="33" name="Rounded Rectangle 32"/>
          <p:cNvSpPr/>
          <p:nvPr/>
        </p:nvSpPr>
        <p:spPr>
          <a:xfrm>
            <a:off x="548640" y="8458200"/>
            <a:ext cx="7315200" cy="1234440"/>
          </a:xfrm>
          <a:prstGeom prst="roundRect">
            <a:avLst>
              <a:gd name="adj" fmla="val 8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300" b="1" i="0">
                <a:solidFill>
                  <a:srgbClr val="FFFFFF"/>
                </a:solidFill>
                <a:latin typeface="Calibri"/>
              </a:rPr>
              <a:t>Real hardware: ESP32 controller</a:t>
            </a:r>
          </a:p>
          <a:p>
            <a:pPr algn="ctr">
              <a:spcAft>
                <a:spcPts val="400"/>
              </a:spcAft>
            </a:pPr>
            <a:r>
              <a:rPr sz="1900" b="0" i="0">
                <a:solidFill>
                  <a:srgbClr val="FFFFFF"/>
                </a:solidFill>
                <a:latin typeface="Calibri"/>
              </a:rPr>
              <a:t>islanding · load priority · sharing · LED indicators</a:t>
            </a:r>
          </a:p>
        </p:txBody>
      </p:sp>
      <p:sp>
        <p:nvSpPr>
          <p:cNvPr id="34" name="Oval 33"/>
          <p:cNvSpPr/>
          <p:nvPr/>
        </p:nvSpPr>
        <p:spPr>
          <a:xfrm>
            <a:off x="12435840" y="2578608"/>
            <a:ext cx="594360" cy="59436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100" b="1" i="0">
                <a:solidFill>
                  <a:srgbClr val="FFFFFF"/>
                </a:solidFill>
                <a:latin typeface="Calibri"/>
              </a:rPr>
              <a:t>1</a:t>
            </a:r>
          </a:p>
        </p:txBody>
      </p:sp>
      <p:sp>
        <p:nvSpPr>
          <p:cNvPr id="35" name="TextBox 34"/>
          <p:cNvSpPr txBox="1"/>
          <p:nvPr/>
        </p:nvSpPr>
        <p:spPr>
          <a:xfrm>
            <a:off x="13213080" y="2468880"/>
            <a:ext cx="4526280" cy="1188720"/>
          </a:xfrm>
          <a:prstGeom prst="rect">
            <a:avLst/>
          </a:prstGeom>
          <a:noFill/>
        </p:spPr>
        <p:txBody>
          <a:bodyPr wrap="square" lIns="0" tIns="0" rIns="0" bIns="0" anchor="t">
            <a:noAutofit/>
          </a:bodyPr>
          <a:lstStyle/>
          <a:p>
            <a:pPr algn="l">
              <a:spcAft>
                <a:spcPts val="100"/>
              </a:spcAft>
            </a:pPr>
            <a:r>
              <a:rPr sz="2100" b="1" i="0">
                <a:solidFill>
                  <a:srgbClr val="1F2933"/>
                </a:solidFill>
                <a:latin typeface="Calibri"/>
              </a:rPr>
              <a:t>Peer-to-peer energy sharing</a:t>
            </a:r>
          </a:p>
          <a:p>
            <a:pPr algn="l">
              <a:spcAft>
                <a:spcPts val="600"/>
              </a:spcAft>
            </a:pPr>
            <a:r>
              <a:rPr sz="1700" b="0" i="0">
                <a:solidFill>
                  <a:srgbClr val="4B5563"/>
                </a:solidFill>
                <a:latin typeface="Calibri"/>
              </a:rPr>
              <a:t>Surplus solar from House 1–2 flows to House 3 and the community place first.</a:t>
            </a:r>
          </a:p>
        </p:txBody>
      </p:sp>
      <p:sp>
        <p:nvSpPr>
          <p:cNvPr id="36" name="Oval 35"/>
          <p:cNvSpPr/>
          <p:nvPr/>
        </p:nvSpPr>
        <p:spPr>
          <a:xfrm>
            <a:off x="12435840" y="5010912"/>
            <a:ext cx="594360" cy="59436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100" b="1" i="0">
                <a:solidFill>
                  <a:srgbClr val="FFFFFF"/>
                </a:solidFill>
                <a:latin typeface="Calibri"/>
              </a:rPr>
              <a:t>3</a:t>
            </a:r>
          </a:p>
        </p:txBody>
      </p:sp>
      <p:sp>
        <p:nvSpPr>
          <p:cNvPr id="37" name="TextBox 36"/>
          <p:cNvSpPr txBox="1"/>
          <p:nvPr/>
        </p:nvSpPr>
        <p:spPr>
          <a:xfrm>
            <a:off x="13213080" y="4901184"/>
            <a:ext cx="4526280" cy="1188720"/>
          </a:xfrm>
          <a:prstGeom prst="rect">
            <a:avLst/>
          </a:prstGeom>
          <a:noFill/>
        </p:spPr>
        <p:txBody>
          <a:bodyPr wrap="square" lIns="0" tIns="0" rIns="0" bIns="0" anchor="t">
            <a:noAutofit/>
          </a:bodyPr>
          <a:lstStyle/>
          <a:p>
            <a:pPr algn="l">
              <a:spcAft>
                <a:spcPts val="100"/>
              </a:spcAft>
            </a:pPr>
            <a:r>
              <a:rPr sz="2100" b="1" i="0">
                <a:solidFill>
                  <a:srgbClr val="1F2933"/>
                </a:solidFill>
                <a:latin typeface="Calibri"/>
              </a:rPr>
              <a:t>Prepaid energy ledger</a:t>
            </a:r>
          </a:p>
          <a:p>
            <a:pPr algn="l">
              <a:spcAft>
                <a:spcPts val="600"/>
              </a:spcAft>
            </a:pPr>
            <a:r>
              <a:rPr sz="1700" b="0" i="0">
                <a:solidFill>
                  <a:srgbClr val="4B5563"/>
                </a:solidFill>
                <a:latin typeface="Calibri"/>
              </a:rPr>
              <a:t>Each house's import/export is metered and settled as credit.</a:t>
            </a:r>
          </a:p>
        </p:txBody>
      </p:sp>
      <p:sp>
        <p:nvSpPr>
          <p:cNvPr id="38" name="Oval 37"/>
          <p:cNvSpPr/>
          <p:nvPr/>
        </p:nvSpPr>
        <p:spPr>
          <a:xfrm>
            <a:off x="12435840" y="6227064"/>
            <a:ext cx="594360" cy="59436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100" b="1" i="0">
                <a:solidFill>
                  <a:srgbClr val="FFFFFF"/>
                </a:solidFill>
                <a:latin typeface="Calibri"/>
              </a:rPr>
              <a:t>4</a:t>
            </a:r>
          </a:p>
        </p:txBody>
      </p:sp>
      <p:sp>
        <p:nvSpPr>
          <p:cNvPr id="39" name="TextBox 38"/>
          <p:cNvSpPr txBox="1"/>
          <p:nvPr/>
        </p:nvSpPr>
        <p:spPr>
          <a:xfrm>
            <a:off x="13213080" y="6117336"/>
            <a:ext cx="4526280" cy="1188720"/>
          </a:xfrm>
          <a:prstGeom prst="rect">
            <a:avLst/>
          </a:prstGeom>
          <a:noFill/>
        </p:spPr>
        <p:txBody>
          <a:bodyPr wrap="square" lIns="0" tIns="0" rIns="0" bIns="0" anchor="t">
            <a:noAutofit/>
          </a:bodyPr>
          <a:lstStyle/>
          <a:p>
            <a:pPr algn="l">
              <a:spcAft>
                <a:spcPts val="100"/>
              </a:spcAft>
            </a:pPr>
            <a:r>
              <a:rPr sz="2100" b="1" i="0">
                <a:solidFill>
                  <a:srgbClr val="1F2933"/>
                </a:solidFill>
                <a:latin typeface="Calibri"/>
              </a:rPr>
              <a:t>Grid-failure detection &amp; islanding</a:t>
            </a:r>
          </a:p>
          <a:p>
            <a:pPr algn="l">
              <a:spcAft>
                <a:spcPts val="600"/>
              </a:spcAft>
            </a:pPr>
            <a:r>
              <a:rPr sz="1700" b="0" i="0">
                <a:solidFill>
                  <a:srgbClr val="4B5563"/>
                </a:solidFill>
                <a:latin typeface="Calibri"/>
              </a:rPr>
              <a:t>Controller opens the grid switch and the battery holds the community up.</a:t>
            </a:r>
          </a:p>
        </p:txBody>
      </p:sp>
      <p:sp>
        <p:nvSpPr>
          <p:cNvPr id="40" name="Oval 39"/>
          <p:cNvSpPr/>
          <p:nvPr/>
        </p:nvSpPr>
        <p:spPr>
          <a:xfrm>
            <a:off x="12435840" y="7443215"/>
            <a:ext cx="594360" cy="59436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100" b="1" i="0">
                <a:solidFill>
                  <a:srgbClr val="FFFFFF"/>
                </a:solidFill>
                <a:latin typeface="Calibri"/>
              </a:rPr>
              <a:t>5</a:t>
            </a:r>
          </a:p>
        </p:txBody>
      </p:sp>
      <p:sp>
        <p:nvSpPr>
          <p:cNvPr id="41" name="TextBox 40"/>
          <p:cNvSpPr txBox="1"/>
          <p:nvPr/>
        </p:nvSpPr>
        <p:spPr>
          <a:xfrm>
            <a:off x="13213080" y="7333488"/>
            <a:ext cx="4526280" cy="1188720"/>
          </a:xfrm>
          <a:prstGeom prst="rect">
            <a:avLst/>
          </a:prstGeom>
          <a:noFill/>
        </p:spPr>
        <p:txBody>
          <a:bodyPr wrap="square" lIns="0" tIns="0" rIns="0" bIns="0" anchor="t">
            <a:noAutofit/>
          </a:bodyPr>
          <a:lstStyle/>
          <a:p>
            <a:pPr algn="l">
              <a:spcAft>
                <a:spcPts val="100"/>
              </a:spcAft>
            </a:pPr>
            <a:r>
              <a:rPr sz="2100" b="1" i="0">
                <a:solidFill>
                  <a:srgbClr val="1F2933"/>
                </a:solidFill>
                <a:latin typeface="Calibri"/>
              </a:rPr>
              <a:t>Critical-load lifeline</a:t>
            </a:r>
          </a:p>
          <a:p>
            <a:pPr algn="l">
              <a:spcAft>
                <a:spcPts val="600"/>
              </a:spcAft>
            </a:pPr>
            <a:r>
              <a:rPr sz="1700" b="0" i="0">
                <a:solidFill>
                  <a:srgbClr val="4B5563"/>
                </a:solidFill>
                <a:latin typeface="Calibri"/>
              </a:rPr>
              <a:t>Essentials stay on, even at zero credit.</a:t>
            </a:r>
          </a:p>
        </p:txBody>
      </p:sp>
      <p:sp>
        <p:nvSpPr>
          <p:cNvPr id="42" name="Oval 41"/>
          <p:cNvSpPr/>
          <p:nvPr/>
        </p:nvSpPr>
        <p:spPr>
          <a:xfrm>
            <a:off x="12435840" y="8659368"/>
            <a:ext cx="594360" cy="59436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noAutofit/>
          </a:bodyPr>
          <a:lstStyle/>
          <a:p>
            <a:pPr algn="ctr">
              <a:spcAft>
                <a:spcPts val="400"/>
              </a:spcAft>
            </a:pPr>
            <a:r>
              <a:rPr sz="2100" b="1" i="0">
                <a:solidFill>
                  <a:srgbClr val="FFFFFF"/>
                </a:solidFill>
                <a:latin typeface="Calibri"/>
              </a:rPr>
              <a:t>6</a:t>
            </a:r>
          </a:p>
        </p:txBody>
      </p:sp>
      <p:sp>
        <p:nvSpPr>
          <p:cNvPr id="43" name="TextBox 42"/>
          <p:cNvSpPr txBox="1"/>
          <p:nvPr/>
        </p:nvSpPr>
        <p:spPr>
          <a:xfrm>
            <a:off x="13213080" y="8549640"/>
            <a:ext cx="4526280" cy="1188720"/>
          </a:xfrm>
          <a:prstGeom prst="rect">
            <a:avLst/>
          </a:prstGeom>
          <a:noFill/>
        </p:spPr>
        <p:txBody>
          <a:bodyPr wrap="square" lIns="0" tIns="0" rIns="0" bIns="0" anchor="t">
            <a:noAutofit/>
          </a:bodyPr>
          <a:lstStyle/>
          <a:p>
            <a:pPr algn="l">
              <a:spcAft>
                <a:spcPts val="100"/>
              </a:spcAft>
            </a:pPr>
            <a:r>
              <a:rPr sz="2100" b="1" i="0">
                <a:solidFill>
                  <a:srgbClr val="1F2933"/>
                </a:solidFill>
                <a:latin typeface="Calibri"/>
              </a:rPr>
              <a:t>Active &amp; reactive power</a:t>
            </a:r>
          </a:p>
          <a:p>
            <a:pPr algn="l">
              <a:spcAft>
                <a:spcPts val="600"/>
              </a:spcAft>
            </a:pPr>
            <a:r>
              <a:rPr sz="1700" b="0" i="0">
                <a:solidFill>
                  <a:srgbClr val="4B5563"/>
                </a:solidFill>
                <a:latin typeface="Calibri"/>
              </a:rPr>
              <a:t>AC model tracks both P (real work) and Q (reactive) flows.</a:t>
            </a:r>
          </a:p>
        </p:txBody>
      </p:sp>
      <p:sp>
        <p:nvSpPr>
          <p:cNvPr id="44" name="Rounded Rectangle 43"/>
          <p:cNvSpPr/>
          <p:nvPr/>
        </p:nvSpPr>
        <p:spPr>
          <a:xfrm>
            <a:off x="8229600" y="8458200"/>
            <a:ext cx="3840480" cy="1234440"/>
          </a:xfrm>
          <a:prstGeom prst="roundRect">
            <a:avLst>
              <a:gd name="adj" fmla="val 8000"/>
            </a:avLst>
          </a:prstGeom>
          <a:solidFill>
            <a:srgbClr val="FEF3C7"/>
          </a:solidFill>
          <a:ln w="254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noAutofit/>
          </a:bodyPr>
          <a:lstStyle/>
          <a:p>
            <a:pPr algn="ctr">
              <a:spcAft>
                <a:spcPts val="0"/>
              </a:spcAft>
            </a:pPr>
            <a:r>
              <a:rPr sz="2200" b="1" i="0">
                <a:solidFill>
                  <a:srgbClr val="1F2933"/>
                </a:solidFill>
                <a:latin typeface="Calibri"/>
              </a:rPr>
              <a:t>AI/ML energy advisor</a:t>
            </a:r>
          </a:p>
          <a:p>
            <a:pPr algn="ctr">
              <a:spcAft>
                <a:spcPts val="0"/>
              </a:spcAft>
            </a:pPr>
            <a:r>
              <a:rPr sz="1600" b="0" i="0">
                <a:solidFill>
                  <a:srgbClr val="4B5563"/>
                </a:solidFill>
                <a:latin typeface="Calibri"/>
              </a:rPr>
              <a:t>forecasts · plans battery · flags faults</a:t>
            </a:r>
          </a:p>
        </p:txBody>
      </p:sp>
      <p:cxnSp>
        <p:nvCxnSpPr>
          <p:cNvPr id="45" name="Connector 44"/>
          <p:cNvCxnSpPr/>
          <p:nvPr/>
        </p:nvCxnSpPr>
        <p:spPr>
          <a:xfrm>
            <a:off x="7863840" y="9075420"/>
            <a:ext cx="365760" cy="0"/>
          </a:xfrm>
          <a:prstGeom prst="line">
            <a:avLst/>
          </a:prstGeom>
          <a:ln w="22225">
            <a:solidFill>
              <a:srgbClr val="B45309"/>
            </a:solidFill>
            <a:prstDash val="dash"/>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12435840" y="3794760"/>
            <a:ext cx="594360" cy="59436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54864" bIns="54864" wrap="square">
            <a:noAutofit/>
          </a:bodyPr>
          <a:lstStyle/>
          <a:p>
            <a:pPr algn="ctr">
              <a:spcAft>
                <a:spcPts val="400"/>
              </a:spcAft>
            </a:pPr>
            <a:r>
              <a:rPr sz="2000" b="1" i="0">
                <a:solidFill>
                  <a:srgbClr val="FFFFFF"/>
                </a:solidFill>
                <a:latin typeface="Calibri"/>
              </a:rPr>
              <a:t>2</a:t>
            </a:r>
          </a:p>
        </p:txBody>
      </p:sp>
      <p:sp>
        <p:nvSpPr>
          <p:cNvPr id="47" name="TextBox 46"/>
          <p:cNvSpPr txBox="1"/>
          <p:nvPr/>
        </p:nvSpPr>
        <p:spPr>
          <a:xfrm>
            <a:off x="13213080" y="3685032"/>
            <a:ext cx="4526280" cy="1188720"/>
          </a:xfrm>
          <a:prstGeom prst="rect">
            <a:avLst/>
          </a:prstGeom>
          <a:noFill/>
        </p:spPr>
        <p:txBody>
          <a:bodyPr wrap="square" lIns="0" rIns="0" tIns="0" bIns="0" anchor="t">
            <a:noAutofit/>
          </a:bodyPr>
          <a:lstStyle/>
          <a:p>
            <a:pPr algn="l">
              <a:spcAft>
                <a:spcPts val="100"/>
              </a:spcAft>
            </a:pPr>
            <a:r>
              <a:rPr sz="2100" b="1" i="0">
                <a:solidFill>
                  <a:srgbClr val="7A1F2B"/>
                </a:solidFill>
                <a:latin typeface="Calibri"/>
              </a:rPr>
              <a:t>AI/ML energy advisor</a:t>
            </a:r>
          </a:p>
          <a:p>
            <a:pPr algn="l">
              <a:spcAft>
                <a:spcPts val="600"/>
              </a:spcAft>
            </a:pPr>
            <a:r>
              <a:rPr sz="1800" b="0" i="0">
                <a:solidFill>
                  <a:srgbClr val="4B5563"/>
                </a:solidFill>
                <a:latin typeface="Calibri"/>
              </a:rPr>
              <a:t>Forecasts solar &amp; demand, plans the battery, flags faults; ESP32 keeps the final say.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dirty="0">
                <a:solidFill>
                  <a:srgbClr val="000000"/>
                </a:solidFill>
                <a:latin typeface="Canva Sans Bold"/>
                <a:ea typeface="Canva Sans Bold"/>
                <a:cs typeface="Canva Sans Bold"/>
                <a:sym typeface="Canva Sans Bold"/>
              </a:rPr>
              <a:t>Technical approach: How it works</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TextBox 10"/>
          <p:cNvSpPr txBox="1"/>
          <p:nvPr/>
        </p:nvSpPr>
        <p:spPr>
          <a:xfrm>
            <a:off x="548640" y="2423160"/>
            <a:ext cx="7863840" cy="548640"/>
          </a:xfrm>
          <a:prstGeom prst="rect">
            <a:avLst/>
          </a:prstGeom>
          <a:noFill/>
        </p:spPr>
        <p:txBody>
          <a:bodyPr wrap="square" lIns="0" tIns="0" rIns="0" bIns="0" anchor="t">
            <a:noAutofit/>
          </a:bodyPr>
          <a:lstStyle/>
          <a:p>
            <a:pPr algn="l">
              <a:spcAft>
                <a:spcPts val="600"/>
              </a:spcAft>
            </a:pPr>
            <a:r>
              <a:rPr sz="2800" b="1" i="0">
                <a:solidFill>
                  <a:srgbClr val="7A1F2B"/>
                </a:solidFill>
                <a:latin typeface="Calibri"/>
              </a:rPr>
              <a:t>Controller-in-the-loop</a:t>
            </a:r>
          </a:p>
        </p:txBody>
      </p:sp>
      <p:sp>
        <p:nvSpPr>
          <p:cNvPr id="12" name="Rounded Rectangle 11"/>
          <p:cNvSpPr/>
          <p:nvPr/>
        </p:nvSpPr>
        <p:spPr>
          <a:xfrm>
            <a:off x="548640" y="3108960"/>
            <a:ext cx="7863840" cy="2011680"/>
          </a:xfrm>
          <a:prstGeom prst="roundRect">
            <a:avLst>
              <a:gd name="adj" fmla="val 8000"/>
            </a:avLst>
          </a:prstGeom>
          <a:solidFill>
            <a:srgbClr val="E0F2E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a:solidFill>
                  <a:srgbClr val="1F2933"/>
                </a:solidFill>
                <a:latin typeface="Calibri"/>
              </a:rPr>
              <a:t>MATLAB / Simulink plant</a:t>
            </a:r>
          </a:p>
          <a:p>
            <a:pPr algn="ctr">
              <a:spcAft>
                <a:spcPts val="400"/>
              </a:spcAft>
            </a:pPr>
            <a:r>
              <a:rPr sz="1900" b="0" i="0">
                <a:solidFill>
                  <a:srgbClr val="4B5563"/>
                </a:solidFill>
                <a:latin typeface="Calibri"/>
              </a:rPr>
              <a:t>grid · switch · battery · solar · 3 houses · community place</a:t>
            </a:r>
          </a:p>
        </p:txBody>
      </p:sp>
      <p:sp>
        <p:nvSpPr>
          <p:cNvPr id="13" name="Rounded Rectangle 12"/>
          <p:cNvSpPr/>
          <p:nvPr/>
        </p:nvSpPr>
        <p:spPr>
          <a:xfrm>
            <a:off x="548640" y="6949440"/>
            <a:ext cx="5029200" cy="2011680"/>
          </a:xfrm>
          <a:prstGeom prst="roundRect">
            <a:avLst>
              <a:gd name="adj" fmla="val 8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a:solidFill>
                  <a:srgbClr val="FFFFFF"/>
                </a:solidFill>
                <a:latin typeface="Calibri"/>
              </a:rPr>
              <a:t>ESP32 controller (real board)</a:t>
            </a:r>
          </a:p>
          <a:p>
            <a:pPr algn="ctr">
              <a:spcAft>
                <a:spcPts val="400"/>
              </a:spcAft>
            </a:pPr>
            <a:r>
              <a:rPr sz="1900" b="0" i="0">
                <a:solidFill>
                  <a:srgbClr val="FFFFFF"/>
                </a:solidFill>
                <a:latin typeface="Calibri"/>
              </a:rPr>
              <a:t>state machine · load priority · sharing rules · LEDs</a:t>
            </a:r>
          </a:p>
        </p:txBody>
      </p:sp>
      <p:cxnSp>
        <p:nvCxnSpPr>
          <p:cNvPr id="14" name="Connector 13"/>
          <p:cNvCxnSpPr/>
          <p:nvPr/>
        </p:nvCxnSpPr>
        <p:spPr>
          <a:xfrm>
            <a:off x="2377440" y="5120640"/>
            <a:ext cx="0" cy="1828800"/>
          </a:xfrm>
          <a:prstGeom prst="line">
            <a:avLst/>
          </a:prstGeom>
          <a:ln w="381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4572000" y="5120640"/>
            <a:ext cx="0" cy="1828800"/>
          </a:xfrm>
          <a:prstGeom prst="line">
            <a:avLst/>
          </a:prstGeom>
          <a:ln w="38100">
            <a:solidFill>
              <a:srgbClr val="7A1F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514600" y="5257800"/>
            <a:ext cx="1920240" cy="822960"/>
          </a:xfrm>
          <a:prstGeom prst="rect">
            <a:avLst/>
          </a:prstGeom>
          <a:noFill/>
        </p:spPr>
        <p:txBody>
          <a:bodyPr wrap="square" lIns="0" tIns="0" rIns="0" bIns="0" anchor="t">
            <a:noAutofit/>
          </a:bodyPr>
          <a:lstStyle/>
          <a:p>
            <a:pPr algn="l">
              <a:spcAft>
                <a:spcPts val="600"/>
              </a:spcAft>
            </a:pPr>
            <a:r>
              <a:rPr sz="1900" b="1" i="0">
                <a:solidFill>
                  <a:srgbClr val="0F766E"/>
                </a:solidFill>
                <a:latin typeface="Calibri"/>
              </a:rPr>
              <a:t>measurements</a:t>
            </a:r>
          </a:p>
          <a:p>
            <a:pPr algn="l">
              <a:spcAft>
                <a:spcPts val="600"/>
              </a:spcAft>
            </a:pPr>
            <a:r>
              <a:rPr sz="1900" b="0" i="0">
                <a:solidFill>
                  <a:srgbClr val="0F766E"/>
                </a:solidFill>
                <a:latin typeface="Calibri"/>
              </a:rPr>
              <a:t>V, f, P, Q, battery SOC</a:t>
            </a:r>
          </a:p>
        </p:txBody>
      </p:sp>
      <p:sp>
        <p:nvSpPr>
          <p:cNvPr id="17" name="TextBox 16"/>
          <p:cNvSpPr txBox="1"/>
          <p:nvPr/>
        </p:nvSpPr>
        <p:spPr>
          <a:xfrm>
            <a:off x="4709160" y="5669280"/>
            <a:ext cx="2194560" cy="1097280"/>
          </a:xfrm>
          <a:prstGeom prst="rect">
            <a:avLst/>
          </a:prstGeom>
          <a:noFill/>
        </p:spPr>
        <p:txBody>
          <a:bodyPr wrap="square" lIns="0" tIns="0" rIns="0" bIns="0" anchor="t">
            <a:noAutofit/>
          </a:bodyPr>
          <a:lstStyle/>
          <a:p>
            <a:pPr algn="l">
              <a:spcAft>
                <a:spcPts val="600"/>
              </a:spcAft>
            </a:pPr>
            <a:r>
              <a:rPr sz="1900" b="1" i="0">
                <a:solidFill>
                  <a:srgbClr val="7A1F2B"/>
                </a:solidFill>
                <a:latin typeface="Calibri"/>
              </a:rPr>
              <a:t>commands</a:t>
            </a:r>
          </a:p>
          <a:p>
            <a:pPr algn="l">
              <a:spcAft>
                <a:spcPts val="600"/>
              </a:spcAft>
            </a:pPr>
            <a:r>
              <a:rPr sz="1900" b="0" i="0">
                <a:solidFill>
                  <a:srgbClr val="7A1F2B"/>
                </a:solidFill>
                <a:latin typeface="Calibri"/>
              </a:rPr>
              <a:t>switch, shed, battery</a:t>
            </a:r>
          </a:p>
        </p:txBody>
      </p:sp>
      <p:sp>
        <p:nvSpPr>
          <p:cNvPr id="18" name="TextBox 17"/>
          <p:cNvSpPr txBox="1"/>
          <p:nvPr/>
        </p:nvSpPr>
        <p:spPr>
          <a:xfrm>
            <a:off x="548640" y="9098280"/>
            <a:ext cx="7863840" cy="640080"/>
          </a:xfrm>
          <a:prstGeom prst="rect">
            <a:avLst/>
          </a:prstGeom>
          <a:noFill/>
        </p:spPr>
        <p:txBody>
          <a:bodyPr wrap="square" lIns="0" tIns="0" rIns="0" bIns="0" anchor="t">
            <a:noAutofit/>
          </a:bodyPr>
          <a:lstStyle/>
          <a:p>
            <a:pPr algn="l">
              <a:spcAft>
                <a:spcPts val="600"/>
              </a:spcAft>
            </a:pPr>
            <a:r>
              <a:rPr sz="1800" b="0" i="0">
                <a:solidFill>
                  <a:srgbClr val="4B5563"/>
                </a:solidFill>
                <a:latin typeface="Calibri"/>
              </a:rPr>
              <a:t>ESP32 keeps the final say: every AI suggestion is checked against safety limits; if the AI fails, fixed priority rules take over.</a:t>
            </a:r>
          </a:p>
        </p:txBody>
      </p:sp>
      <p:sp>
        <p:nvSpPr>
          <p:cNvPr id="19" name="TextBox 18"/>
          <p:cNvSpPr txBox="1"/>
          <p:nvPr/>
        </p:nvSpPr>
        <p:spPr>
          <a:xfrm>
            <a:off x="9052560" y="2423160"/>
            <a:ext cx="8686800" cy="548640"/>
          </a:xfrm>
          <a:prstGeom prst="rect">
            <a:avLst/>
          </a:prstGeom>
          <a:noFill/>
        </p:spPr>
        <p:txBody>
          <a:bodyPr wrap="square" lIns="0" tIns="0" rIns="0" bIns="0" anchor="t">
            <a:noAutofit/>
          </a:bodyPr>
          <a:lstStyle/>
          <a:p>
            <a:pPr algn="l">
              <a:spcAft>
                <a:spcPts val="600"/>
              </a:spcAft>
            </a:pPr>
            <a:r>
              <a:rPr sz="2800" b="1" i="0">
                <a:solidFill>
                  <a:srgbClr val="7A1F2B"/>
                </a:solidFill>
                <a:latin typeface="Calibri"/>
              </a:rPr>
              <a:t>Operating modes</a:t>
            </a:r>
          </a:p>
        </p:txBody>
      </p:sp>
      <p:sp>
        <p:nvSpPr>
          <p:cNvPr id="20" name="Rounded Rectangle 19"/>
          <p:cNvSpPr/>
          <p:nvPr/>
        </p:nvSpPr>
        <p:spPr>
          <a:xfrm>
            <a:off x="9052560" y="3108960"/>
            <a:ext cx="2743200" cy="1645920"/>
          </a:xfrm>
          <a:prstGeom prst="roundRect">
            <a:avLst>
              <a:gd name="adj" fmla="val 8000"/>
            </a:avLst>
          </a:prstGeom>
          <a:solidFill>
            <a:srgbClr val="F3F4F6"/>
          </a:solidFill>
          <a:ln w="2540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a:solidFill>
                  <a:srgbClr val="1F2933"/>
                </a:solidFill>
                <a:latin typeface="Calibri"/>
              </a:rPr>
              <a:t>BOOT</a:t>
            </a:r>
          </a:p>
          <a:p>
            <a:pPr algn="ctr">
              <a:spcAft>
                <a:spcPts val="400"/>
              </a:spcAft>
            </a:pPr>
            <a:r>
              <a:rPr sz="1800" b="0" i="0">
                <a:solidFill>
                  <a:srgbClr val="4B5563"/>
                </a:solidFill>
                <a:latin typeface="Calibri"/>
              </a:rPr>
              <a:t>Everything OFF</a:t>
            </a:r>
          </a:p>
        </p:txBody>
      </p:sp>
      <p:sp>
        <p:nvSpPr>
          <p:cNvPr id="21" name="Rounded Rectangle 20"/>
          <p:cNvSpPr/>
          <p:nvPr/>
        </p:nvSpPr>
        <p:spPr>
          <a:xfrm>
            <a:off x="12984480" y="3108960"/>
            <a:ext cx="4754880" cy="1645920"/>
          </a:xfrm>
          <a:prstGeom prst="roundRect">
            <a:avLst>
              <a:gd name="adj" fmla="val 8000"/>
            </a:avLst>
          </a:prstGeom>
          <a:solidFill>
            <a:srgbClr val="E0F2EF"/>
          </a:solidFill>
          <a:ln w="25400">
            <a:solidFill>
              <a:srgbClr val="0F766E"/>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a:solidFill>
                  <a:srgbClr val="1F2933"/>
                </a:solidFill>
                <a:latin typeface="Calibri"/>
              </a:rPr>
              <a:t>GRID</a:t>
            </a:r>
          </a:p>
          <a:p>
            <a:pPr algn="ctr">
              <a:spcAft>
                <a:spcPts val="400"/>
              </a:spcAft>
            </a:pPr>
            <a:r>
              <a:rPr sz="1800" b="0" i="0">
                <a:solidFill>
                  <a:srgbClr val="4B5563"/>
                </a:solidFill>
                <a:latin typeface="Calibri"/>
              </a:rPr>
              <a:t>Grid-connected: share solar, charge battery</a:t>
            </a:r>
          </a:p>
        </p:txBody>
      </p:sp>
      <p:sp>
        <p:nvSpPr>
          <p:cNvPr id="22" name="Rounded Rectangle 21"/>
          <p:cNvSpPr/>
          <p:nvPr/>
        </p:nvSpPr>
        <p:spPr>
          <a:xfrm>
            <a:off x="12984480" y="7223760"/>
            <a:ext cx="4754880" cy="1645920"/>
          </a:xfrm>
          <a:prstGeom prst="roundRect">
            <a:avLst>
              <a:gd name="adj" fmla="val 8000"/>
            </a:avLst>
          </a:prstGeom>
          <a:solidFill>
            <a:srgbClr val="FEF3C7"/>
          </a:solidFill>
          <a:ln w="25400">
            <a:solidFill>
              <a:srgbClr val="B45309"/>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a:solidFill>
                  <a:srgbClr val="1F2933"/>
                </a:solidFill>
                <a:latin typeface="Calibri"/>
              </a:rPr>
              <a:t>ISLAND</a:t>
            </a:r>
          </a:p>
          <a:p>
            <a:pPr algn="ctr">
              <a:spcAft>
                <a:spcPts val="400"/>
              </a:spcAft>
            </a:pPr>
            <a:r>
              <a:rPr sz="1800" b="0" i="0">
                <a:solidFill>
                  <a:srgbClr val="4B5563"/>
                </a:solidFill>
                <a:latin typeface="Calibri"/>
              </a:rPr>
              <a:t>Grid switch open: battery + solar run the community</a:t>
            </a:r>
          </a:p>
        </p:txBody>
      </p:sp>
      <p:sp>
        <p:nvSpPr>
          <p:cNvPr id="23" name="Rounded Rectangle 22"/>
          <p:cNvSpPr/>
          <p:nvPr/>
        </p:nvSpPr>
        <p:spPr>
          <a:xfrm>
            <a:off x="9052560" y="7223760"/>
            <a:ext cx="3291840" cy="1645920"/>
          </a:xfrm>
          <a:prstGeom prst="roundRect">
            <a:avLst>
              <a:gd name="adj" fmla="val 8000"/>
            </a:avLst>
          </a:prstGeom>
          <a:solidFill>
            <a:srgbClr val="F7ECEE"/>
          </a:solidFill>
          <a:ln w="25400">
            <a:solidFill>
              <a:srgbClr val="7A1F2B"/>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noAutofit/>
          </a:bodyPr>
          <a:lstStyle/>
          <a:p>
            <a:pPr algn="ctr">
              <a:spcAft>
                <a:spcPts val="400"/>
              </a:spcAft>
            </a:pPr>
            <a:r>
              <a:rPr sz="2600" b="1" i="0">
                <a:solidFill>
                  <a:srgbClr val="1F2933"/>
                </a:solidFill>
                <a:latin typeface="Calibri"/>
              </a:rPr>
              <a:t>RESYNC</a:t>
            </a:r>
          </a:p>
          <a:p>
            <a:pPr algn="ctr">
              <a:spcAft>
                <a:spcPts val="400"/>
              </a:spcAft>
            </a:pPr>
            <a:r>
              <a:rPr sz="1800" b="0" i="0">
                <a:solidFill>
                  <a:srgbClr val="4B5563"/>
                </a:solidFill>
                <a:latin typeface="Calibri"/>
              </a:rPr>
              <a:t>Grid back: match voltage</a:t>
            </a:r>
          </a:p>
        </p:txBody>
      </p:sp>
      <p:cxnSp>
        <p:nvCxnSpPr>
          <p:cNvPr id="24" name="Connector 23"/>
          <p:cNvCxnSpPr/>
          <p:nvPr/>
        </p:nvCxnSpPr>
        <p:spPr>
          <a:xfrm>
            <a:off x="11795760" y="3931920"/>
            <a:ext cx="1188720" cy="0"/>
          </a:xfrm>
          <a:prstGeom prst="line">
            <a:avLst/>
          </a:prstGeom>
          <a:ln w="381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6093440" y="4754880"/>
            <a:ext cx="0" cy="2468880"/>
          </a:xfrm>
          <a:prstGeom prst="line">
            <a:avLst/>
          </a:prstGeom>
          <a:ln w="3810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12344400" y="8046720"/>
            <a:ext cx="640080" cy="0"/>
          </a:xfrm>
          <a:prstGeom prst="line">
            <a:avLst/>
          </a:prstGeom>
          <a:ln w="381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1155680" y="4754880"/>
            <a:ext cx="2560320" cy="2468880"/>
          </a:xfrm>
          <a:prstGeom prst="line">
            <a:avLst/>
          </a:prstGeom>
          <a:ln w="381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6230600" y="5577840"/>
            <a:ext cx="1554480" cy="1097280"/>
          </a:xfrm>
          <a:prstGeom prst="rect">
            <a:avLst/>
          </a:prstGeom>
          <a:noFill/>
        </p:spPr>
        <p:txBody>
          <a:bodyPr wrap="square" lIns="0" tIns="0" rIns="0" bIns="0" anchor="t">
            <a:noAutofit/>
          </a:bodyPr>
          <a:lstStyle/>
          <a:p>
            <a:pPr algn="l">
              <a:spcAft>
                <a:spcPts val="600"/>
              </a:spcAft>
            </a:pPr>
            <a:r>
              <a:rPr sz="1900" b="1" i="0">
                <a:solidFill>
                  <a:srgbClr val="B45309"/>
                </a:solidFill>
                <a:latin typeface="Calibri"/>
              </a:rPr>
              <a:t>grid lost</a:t>
            </a:r>
          </a:p>
        </p:txBody>
      </p:sp>
      <p:sp>
        <p:nvSpPr>
          <p:cNvPr id="29" name="TextBox 28"/>
          <p:cNvSpPr txBox="1"/>
          <p:nvPr/>
        </p:nvSpPr>
        <p:spPr>
          <a:xfrm>
            <a:off x="9144000" y="5394960"/>
            <a:ext cx="2743200" cy="1280160"/>
          </a:xfrm>
          <a:prstGeom prst="rect">
            <a:avLst/>
          </a:prstGeom>
          <a:noFill/>
        </p:spPr>
        <p:txBody>
          <a:bodyPr wrap="square" lIns="0" tIns="0" rIns="0" bIns="0" anchor="t">
            <a:noAutofit/>
          </a:bodyPr>
          <a:lstStyle/>
          <a:p>
            <a:pPr algn="l">
              <a:spcAft>
                <a:spcPts val="600"/>
              </a:spcAft>
            </a:pPr>
            <a:r>
              <a:rPr sz="1900" b="1" i="0">
                <a:solidFill>
                  <a:srgbClr val="0F766E"/>
                </a:solidFill>
                <a:latin typeface="Calibri"/>
              </a:rPr>
              <a:t>stable grid → close switch</a:t>
            </a:r>
          </a:p>
        </p:txBody>
      </p:sp>
      <p:sp>
        <p:nvSpPr>
          <p:cNvPr id="30" name="TextBox 29"/>
          <p:cNvSpPr txBox="1"/>
          <p:nvPr/>
        </p:nvSpPr>
        <p:spPr>
          <a:xfrm>
            <a:off x="9052560" y="9098280"/>
            <a:ext cx="8686800" cy="594360"/>
          </a:xfrm>
          <a:prstGeom prst="rect">
            <a:avLst/>
          </a:prstGeom>
          <a:noFill/>
        </p:spPr>
        <p:txBody>
          <a:bodyPr wrap="square" lIns="0" tIns="0" rIns="0" bIns="0" anchor="t">
            <a:noAutofit/>
          </a:bodyPr>
          <a:lstStyle/>
          <a:p>
            <a:pPr algn="l">
              <a:spcAft>
                <a:spcPts val="600"/>
              </a:spcAft>
            </a:pPr>
            <a:r>
              <a:rPr sz="1900" b="1" i="0">
                <a:solidFill>
                  <a:srgbClr val="7A1F2B"/>
                </a:solidFill>
                <a:latin typeface="Calibri"/>
              </a:rPr>
              <a:t>Shed order in an outage: flexible loads of House 3 → 2 → 1; critical loads never shed</a:t>
            </a:r>
          </a:p>
        </p:txBody>
      </p:sp>
      <p:sp>
        <p:nvSpPr>
          <p:cNvPr id="31" name="Rounded Rectangle 30"/>
          <p:cNvSpPr/>
          <p:nvPr/>
        </p:nvSpPr>
        <p:spPr>
          <a:xfrm>
            <a:off x="5943600" y="6949440"/>
            <a:ext cx="2468880" cy="2011680"/>
          </a:xfrm>
          <a:prstGeom prst="roundRect">
            <a:avLst>
              <a:gd name="adj" fmla="val 8000"/>
            </a:avLst>
          </a:prstGeom>
          <a:solidFill>
            <a:srgbClr val="FEF3C7"/>
          </a:solidFill>
          <a:ln w="19050">
            <a:solidFill>
              <a:srgbClr val="B4530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noAutofit/>
          </a:bodyPr>
          <a:lstStyle/>
          <a:p>
            <a:pPr algn="ctr">
              <a:spcAft>
                <a:spcPts val="200"/>
              </a:spcAft>
            </a:pPr>
            <a:r>
              <a:rPr sz="2100" b="1" i="0">
                <a:solidFill>
                  <a:srgbClr val="1F2933"/>
                </a:solidFill>
                <a:latin typeface="Calibri"/>
              </a:rPr>
              <a:t>AI/ML advisor</a:t>
            </a:r>
          </a:p>
          <a:p>
            <a:pPr algn="ctr">
              <a:spcAft>
                <a:spcPts val="200"/>
              </a:spcAft>
            </a:pPr>
            <a:r>
              <a:rPr sz="1500" b="0" i="0">
                <a:solidFill>
                  <a:srgbClr val="4B5563"/>
                </a:solidFill>
                <a:latin typeface="Calibri"/>
              </a:rPr>
              <a:t>laptop · Python (planned)</a:t>
            </a:r>
          </a:p>
          <a:p>
            <a:pPr algn="ctr">
              <a:spcAft>
                <a:spcPts val="200"/>
              </a:spcAft>
            </a:pPr>
            <a:r>
              <a:rPr sz="1500" b="0" i="0">
                <a:solidFill>
                  <a:srgbClr val="1F2933"/>
                </a:solidFill>
                <a:latin typeface="Calibri"/>
              </a:rPr>
              <a:t>suggests battery set-point, loads to shed, price</a:t>
            </a:r>
          </a:p>
        </p:txBody>
      </p:sp>
      <p:cxnSp>
        <p:nvCxnSpPr>
          <p:cNvPr id="32" name="Connector 31"/>
          <p:cNvCxnSpPr/>
          <p:nvPr/>
        </p:nvCxnSpPr>
        <p:spPr>
          <a:xfrm>
            <a:off x="5577840" y="7955279"/>
            <a:ext cx="365760" cy="0"/>
          </a:xfrm>
          <a:prstGeom prst="line">
            <a:avLst/>
          </a:prstGeom>
          <a:ln w="22225">
            <a:solidFill>
              <a:srgbClr val="B45309"/>
            </a:solidFill>
            <a:prstDash val="dash"/>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dirty="0">
                <a:solidFill>
                  <a:srgbClr val="000000"/>
                </a:solidFill>
                <a:latin typeface="Canva Sans Bold"/>
                <a:ea typeface="Canva Sans Bold"/>
                <a:cs typeface="Canva Sans Bold"/>
                <a:sym typeface="Canva Sans Bold"/>
              </a:rPr>
              <a:t>Technical approach: Simulation &amp; AI/ML advisor</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Rounded Rectangle 10"/>
          <p:cNvSpPr/>
          <p:nvPr/>
        </p:nvSpPr>
        <p:spPr>
          <a:xfrm>
            <a:off x="548640" y="2423160"/>
            <a:ext cx="7498079" cy="68580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ctr">
            <a:noAutofit/>
          </a:bodyPr>
          <a:lstStyle/>
          <a:p>
            <a:pPr algn="l">
              <a:spcAft>
                <a:spcPts val="400"/>
              </a:spcAft>
            </a:pPr>
            <a:r>
              <a:rPr sz="1900" b="1" i="0">
                <a:solidFill>
                  <a:srgbClr val="B45309"/>
                </a:solidFill>
                <a:latin typeface="Calibri"/>
              </a:rPr>
              <a:t>Control-logic check on our 12 V DC model; AC model in progress</a:t>
            </a:r>
          </a:p>
        </p:txBody>
      </p:sp>
      <p:pic>
        <p:nvPicPr>
          <p:cNvPr id="12" name="Picture 11" descr="S2_grid_outage.png"/>
          <p:cNvPicPr>
            <a:picLocks noChangeAspect="1"/>
          </p:cNvPicPr>
          <p:nvPr/>
        </p:nvPicPr>
        <p:blipFill>
          <a:blip r:embed="rId6"/>
          <a:stretch>
            <a:fillRect/>
          </a:stretch>
        </p:blipFill>
        <p:spPr>
          <a:xfrm>
            <a:off x="548640" y="3246120"/>
            <a:ext cx="7126605" cy="5897880"/>
          </a:xfrm>
          <a:prstGeom prst="rect">
            <a:avLst/>
          </a:prstGeom>
        </p:spPr>
      </p:pic>
      <p:sp>
        <p:nvSpPr>
          <p:cNvPr id="13" name="TextBox 12"/>
          <p:cNvSpPr txBox="1"/>
          <p:nvPr/>
        </p:nvSpPr>
        <p:spPr>
          <a:xfrm>
            <a:off x="548640" y="9189720"/>
            <a:ext cx="7498079" cy="548640"/>
          </a:xfrm>
          <a:prstGeom prst="rect">
            <a:avLst/>
          </a:prstGeom>
          <a:noFill/>
        </p:spPr>
        <p:txBody>
          <a:bodyPr wrap="square" lIns="0" tIns="0" rIns="0" bIns="0" anchor="t">
            <a:noAutofit/>
          </a:bodyPr>
          <a:lstStyle/>
          <a:p>
            <a:pPr algn="l">
              <a:spcAft>
                <a:spcPts val="600"/>
              </a:spcAft>
            </a:pPr>
            <a:r>
              <a:rPr sz="1800" b="0" i="0">
                <a:solidFill>
                  <a:srgbClr val="4B5563"/>
                </a:solidFill>
                <a:latin typeface="Calibri"/>
              </a:rPr>
              <a:t>Grid lost 18:00–21:00: islanded, flexible loads shed H3 → H2 → H1, critical loads never drop.</a:t>
            </a:r>
          </a:p>
        </p:txBody>
      </p:sp>
      <p:sp>
        <p:nvSpPr>
          <p:cNvPr id="14" name="Rounded Rectangle 13"/>
          <p:cNvSpPr/>
          <p:nvPr/>
        </p:nvSpPr>
        <p:spPr>
          <a:xfrm>
            <a:off x="8595360" y="2423160"/>
            <a:ext cx="2926080" cy="265176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54864" rIns="228600" bIns="54864" rtlCol="0" anchor="t">
            <a:noAutofit/>
          </a:bodyPr>
          <a:lstStyle/>
          <a:p>
            <a:pPr algn="l">
              <a:spcAft>
                <a:spcPts val="0"/>
              </a:spcAft>
            </a:pPr>
            <a:r>
              <a:rPr sz="4700" b="1" i="0">
                <a:solidFill>
                  <a:srgbClr val="0F766E"/>
                </a:solidFill>
                <a:latin typeface="Calibri"/>
              </a:rPr>
              <a:t>8 / 8</a:t>
            </a:r>
          </a:p>
          <a:p>
            <a:pPr algn="l">
              <a:spcAft>
                <a:spcPts val="400"/>
              </a:spcAft>
            </a:pPr>
            <a:r>
              <a:rPr sz="1800" b="0" i="0">
                <a:solidFill>
                  <a:srgbClr val="1F2933"/>
                </a:solidFill>
                <a:latin typeface="Calibri"/>
              </a:rPr>
              <a:t>test scenarios passed (outage, low battery, faulty house, zero credit…)</a:t>
            </a:r>
          </a:p>
        </p:txBody>
      </p:sp>
      <p:sp>
        <p:nvSpPr>
          <p:cNvPr id="15" name="Rounded Rectangle 14"/>
          <p:cNvSpPr/>
          <p:nvPr/>
        </p:nvSpPr>
        <p:spPr>
          <a:xfrm>
            <a:off x="11704320" y="2423160"/>
            <a:ext cx="2926080" cy="265176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54864" rIns="228600" bIns="54864" rtlCol="0" anchor="t">
            <a:noAutofit/>
          </a:bodyPr>
          <a:lstStyle/>
          <a:p>
            <a:pPr algn="l">
              <a:spcAft>
                <a:spcPts val="0"/>
              </a:spcAft>
            </a:pPr>
            <a:r>
              <a:rPr sz="4700" b="1" i="0" dirty="0">
                <a:solidFill>
                  <a:srgbClr val="0F766E"/>
                </a:solidFill>
                <a:latin typeface="Calibri"/>
              </a:rPr>
              <a:t>40 / 40</a:t>
            </a:r>
          </a:p>
          <a:p>
            <a:pPr algn="l">
              <a:spcAft>
                <a:spcPts val="400"/>
              </a:spcAft>
            </a:pPr>
            <a:r>
              <a:rPr sz="1800" b="0" i="0" dirty="0">
                <a:solidFill>
                  <a:srgbClr val="1F2933"/>
                </a:solidFill>
                <a:latin typeface="Calibri"/>
              </a:rPr>
              <a:t>random Monte Carlo runs passed</a:t>
            </a:r>
          </a:p>
        </p:txBody>
      </p:sp>
      <p:sp>
        <p:nvSpPr>
          <p:cNvPr id="16" name="Rounded Rectangle 15"/>
          <p:cNvSpPr/>
          <p:nvPr/>
        </p:nvSpPr>
        <p:spPr>
          <a:xfrm>
            <a:off x="14813280" y="2423160"/>
            <a:ext cx="2926080" cy="265176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54864" rIns="228600" bIns="54864" rtlCol="0" anchor="t">
            <a:noAutofit/>
          </a:bodyPr>
          <a:lstStyle/>
          <a:p>
            <a:pPr algn="l">
              <a:spcAft>
                <a:spcPts val="0"/>
              </a:spcAft>
            </a:pPr>
            <a:r>
              <a:rPr sz="4700" b="1" i="0">
                <a:solidFill>
                  <a:srgbClr val="0F766E"/>
                </a:solidFill>
                <a:latin typeface="Calibri"/>
              </a:rPr>
              <a:t>0</a:t>
            </a:r>
          </a:p>
          <a:p>
            <a:pPr algn="l">
              <a:spcAft>
                <a:spcPts val="400"/>
              </a:spcAft>
            </a:pPr>
            <a:r>
              <a:rPr sz="1800" b="0" i="0">
                <a:solidFill>
                  <a:srgbClr val="1F2933"/>
                </a:solidFill>
                <a:latin typeface="Calibri"/>
              </a:rPr>
              <a:t>differences: ESP32 firmware vs MATLAB model, 177,000 steps</a:t>
            </a:r>
          </a:p>
        </p:txBody>
      </p:sp>
      <p:sp>
        <p:nvSpPr>
          <p:cNvPr id="17" name="TextBox 16"/>
          <p:cNvSpPr txBox="1"/>
          <p:nvPr/>
        </p:nvSpPr>
        <p:spPr>
          <a:xfrm>
            <a:off x="8595360" y="5303520"/>
            <a:ext cx="9144000" cy="548640"/>
          </a:xfrm>
          <a:prstGeom prst="rect">
            <a:avLst/>
          </a:prstGeom>
          <a:noFill/>
        </p:spPr>
        <p:txBody>
          <a:bodyPr wrap="square" lIns="0" rIns="0" tIns="0" bIns="0" anchor="t">
            <a:noAutofit/>
          </a:bodyPr>
          <a:lstStyle/>
          <a:p>
            <a:pPr algn="l">
              <a:spcAft>
                <a:spcPts val="600"/>
              </a:spcAft>
            </a:pPr>
            <a:r>
              <a:rPr sz="2600" b="1" i="0">
                <a:solidFill>
                  <a:srgbClr val="7A1F2B"/>
                </a:solidFill>
                <a:latin typeface="Calibri"/>
              </a:rPr>
              <a:t>AI/ML advisor (planned): where it adds value</a:t>
            </a:r>
          </a:p>
        </p:txBody>
      </p:sp>
      <p:sp>
        <p:nvSpPr>
          <p:cNvPr id="18" name="Oval 17"/>
          <p:cNvSpPr/>
          <p:nvPr/>
        </p:nvSpPr>
        <p:spPr>
          <a:xfrm>
            <a:off x="8595360" y="6080760"/>
            <a:ext cx="548640" cy="54864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54864" bIns="54864" wrap="square">
            <a:noAutofit/>
          </a:bodyPr>
          <a:lstStyle/>
          <a:p>
            <a:pPr algn="ctr">
              <a:spcAft>
                <a:spcPts val="400"/>
              </a:spcAft>
            </a:pPr>
            <a:r>
              <a:rPr sz="1900" b="1" i="0">
                <a:solidFill>
                  <a:srgbClr val="FFFFFF"/>
                </a:solidFill>
                <a:latin typeface="Calibri"/>
              </a:rPr>
              <a:t>1</a:t>
            </a:r>
          </a:p>
        </p:txBody>
      </p:sp>
      <p:sp>
        <p:nvSpPr>
          <p:cNvPr id="19" name="TextBox 18"/>
          <p:cNvSpPr txBox="1"/>
          <p:nvPr/>
        </p:nvSpPr>
        <p:spPr>
          <a:xfrm>
            <a:off x="9326880" y="5897880"/>
            <a:ext cx="8412480" cy="1143000"/>
          </a:xfrm>
          <a:prstGeom prst="rect">
            <a:avLst/>
          </a:prstGeom>
          <a:noFill/>
        </p:spPr>
        <p:txBody>
          <a:bodyPr wrap="square" lIns="0" rIns="0" tIns="0" bIns="0" anchor="t">
            <a:noAutofit/>
          </a:bodyPr>
          <a:lstStyle/>
          <a:p>
            <a:pPr algn="l">
              <a:spcAft>
                <a:spcPts val="0"/>
              </a:spcAft>
            </a:pPr>
            <a:r>
              <a:rPr sz="2000" b="1" i="0">
                <a:solidFill>
                  <a:srgbClr val="1F2933"/>
                </a:solidFill>
                <a:latin typeface="Calibri"/>
              </a:rPr>
              <a:t>Solar &amp; load forecasting</a:t>
            </a:r>
          </a:p>
          <a:p>
            <a:pPr algn="l">
              <a:spcAft>
                <a:spcPts val="600"/>
              </a:spcAft>
            </a:pPr>
            <a:r>
              <a:rPr sz="1600" b="0" i="0">
                <a:solidFill>
                  <a:srgbClr val="4B5563"/>
                </a:solidFill>
                <a:latin typeface="Calibri"/>
              </a:rPr>
              <a:t>Next-hour solar and demand per house: LightGBM / XGBoost on NASA POWER or PVGIS irradiance + simulated loads. Proof: forecast error (MAE).</a:t>
            </a:r>
          </a:p>
        </p:txBody>
      </p:sp>
      <p:sp>
        <p:nvSpPr>
          <p:cNvPr id="20" name="Oval 19"/>
          <p:cNvSpPr/>
          <p:nvPr/>
        </p:nvSpPr>
        <p:spPr>
          <a:xfrm>
            <a:off x="8595360" y="7269480"/>
            <a:ext cx="548640" cy="54864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54864" bIns="54864" wrap="square">
            <a:noAutofit/>
          </a:bodyPr>
          <a:lstStyle/>
          <a:p>
            <a:pPr algn="ctr">
              <a:spcAft>
                <a:spcPts val="400"/>
              </a:spcAft>
            </a:pPr>
            <a:r>
              <a:rPr sz="1900" b="1" i="0">
                <a:solidFill>
                  <a:srgbClr val="FFFFFF"/>
                </a:solidFill>
                <a:latin typeface="Calibri"/>
              </a:rPr>
              <a:t>2</a:t>
            </a:r>
          </a:p>
        </p:txBody>
      </p:sp>
      <p:sp>
        <p:nvSpPr>
          <p:cNvPr id="21" name="TextBox 20"/>
          <p:cNvSpPr txBox="1"/>
          <p:nvPr/>
        </p:nvSpPr>
        <p:spPr>
          <a:xfrm>
            <a:off x="9326880" y="7086600"/>
            <a:ext cx="8412480" cy="1143000"/>
          </a:xfrm>
          <a:prstGeom prst="rect">
            <a:avLst/>
          </a:prstGeom>
          <a:noFill/>
        </p:spPr>
        <p:txBody>
          <a:bodyPr wrap="square" lIns="0" rIns="0" tIns="0" bIns="0" anchor="t">
            <a:noAutofit/>
          </a:bodyPr>
          <a:lstStyle/>
          <a:p>
            <a:pPr algn="l">
              <a:spcAft>
                <a:spcPts val="0"/>
              </a:spcAft>
            </a:pPr>
            <a:r>
              <a:rPr sz="2000" b="1" i="0">
                <a:solidFill>
                  <a:srgbClr val="1F2933"/>
                </a:solidFill>
                <a:latin typeface="Calibri"/>
              </a:rPr>
              <a:t>Forecast-aware shedding &amp; battery plan</a:t>
            </a:r>
          </a:p>
          <a:p>
            <a:pPr algn="l">
              <a:spcAft>
                <a:spcPts val="600"/>
              </a:spcAft>
            </a:pPr>
            <a:r>
              <a:rPr sz="1600" b="0" i="0">
                <a:solidFill>
                  <a:srgbClr val="4B5563"/>
                </a:solidFill>
                <a:latin typeface="Calibri"/>
              </a:rPr>
              <a:t>Act before the battery runs low; show "critical loads last X h". Proof: vs fixed-SOC rules, longer survival, fewer needless sheds.</a:t>
            </a:r>
          </a:p>
        </p:txBody>
      </p:sp>
      <p:sp>
        <p:nvSpPr>
          <p:cNvPr id="22" name="Oval 21"/>
          <p:cNvSpPr/>
          <p:nvPr/>
        </p:nvSpPr>
        <p:spPr>
          <a:xfrm>
            <a:off x="8595360" y="8458200"/>
            <a:ext cx="548640" cy="54864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54864" bIns="54864" wrap="square">
            <a:noAutofit/>
          </a:bodyPr>
          <a:lstStyle/>
          <a:p>
            <a:pPr algn="ctr">
              <a:spcAft>
                <a:spcPts val="400"/>
              </a:spcAft>
            </a:pPr>
            <a:r>
              <a:rPr sz="1900" b="1" i="0">
                <a:solidFill>
                  <a:srgbClr val="FFFFFF"/>
                </a:solidFill>
                <a:latin typeface="Calibri"/>
              </a:rPr>
              <a:t>3</a:t>
            </a:r>
          </a:p>
        </p:txBody>
      </p:sp>
      <p:sp>
        <p:nvSpPr>
          <p:cNvPr id="23" name="TextBox 22"/>
          <p:cNvSpPr txBox="1"/>
          <p:nvPr/>
        </p:nvSpPr>
        <p:spPr>
          <a:xfrm>
            <a:off x="9326880" y="8275320"/>
            <a:ext cx="8412480" cy="1143000"/>
          </a:xfrm>
          <a:prstGeom prst="rect">
            <a:avLst/>
          </a:prstGeom>
          <a:noFill/>
        </p:spPr>
        <p:txBody>
          <a:bodyPr wrap="square" lIns="0" rIns="0" tIns="0" bIns="0" anchor="t">
            <a:noAutofit/>
          </a:bodyPr>
          <a:lstStyle/>
          <a:p>
            <a:pPr algn="l">
              <a:spcAft>
                <a:spcPts val="0"/>
              </a:spcAft>
            </a:pPr>
            <a:r>
              <a:rPr sz="2000" b="1" i="0">
                <a:solidFill>
                  <a:srgbClr val="1F2933"/>
                </a:solidFill>
                <a:latin typeface="Calibri"/>
              </a:rPr>
              <a:t>Anomaly detection</a:t>
            </a:r>
          </a:p>
          <a:p>
            <a:pPr algn="l">
              <a:spcAft>
                <a:spcPts val="600"/>
              </a:spcAft>
            </a:pPr>
            <a:r>
              <a:rPr sz="1600" b="0" i="0">
                <a:solidFill>
                  <a:srgbClr val="4B5563"/>
                </a:solidFill>
                <a:latin typeface="Calibri"/>
              </a:rPr>
              <a:t>Isolation Forest on voltage/current flags frozen sensors and abnormal loads. Proof: detection rate on injected faults.</a:t>
            </a:r>
          </a:p>
        </p:txBody>
      </p:sp>
      <p:sp>
        <p:nvSpPr>
          <p:cNvPr id="24" name="TextBox 23"/>
          <p:cNvSpPr txBox="1"/>
          <p:nvPr/>
        </p:nvSpPr>
        <p:spPr>
          <a:xfrm>
            <a:off x="8595360" y="9464040"/>
            <a:ext cx="9144000" cy="365760"/>
          </a:xfrm>
          <a:prstGeom prst="rect">
            <a:avLst/>
          </a:prstGeom>
          <a:noFill/>
        </p:spPr>
        <p:txBody>
          <a:bodyPr wrap="square" lIns="0" rIns="0" tIns="0" bIns="0" anchor="t">
            <a:noAutofit/>
          </a:bodyPr>
          <a:lstStyle/>
          <a:p>
            <a:pPr algn="l">
              <a:spcAft>
                <a:spcPts val="600"/>
              </a:spcAft>
            </a:pPr>
            <a:r>
              <a:rPr sz="1600" b="0" i="0">
                <a:solidFill>
                  <a:srgbClr val="4B5563"/>
                </a:solidFill>
                <a:latin typeface="Calibri"/>
              </a:rPr>
              <a:t>Also next: AC Simulink model (P and Q flows) and a live dashboard.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a:solidFill>
                  <a:srgbClr val="000000"/>
                </a:solidFill>
                <a:latin typeface="Canva Sans Bold"/>
                <a:ea typeface="Canva Sans Bold"/>
                <a:cs typeface="Canva Sans Bold"/>
                <a:sym typeface="Canva Sans Bold"/>
              </a:rPr>
              <a:t>Impact and benefits:</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txBody>
              <a:bodyPr/>
              <a:lstStyle/>
              <a:p>
                <a:endParaRPr lang="en-US"/>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txBody>
              <a:bodyPr/>
              <a:lstStyle/>
              <a:p>
                <a:endParaRPr lang="en-US"/>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txBody>
              <a:bodyPr/>
              <a:lstStyle/>
              <a:p>
                <a:endParaRPr lang="en-US"/>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Rounded Rectangle 10"/>
          <p:cNvSpPr/>
          <p:nvPr/>
        </p:nvSpPr>
        <p:spPr>
          <a:xfrm>
            <a:off x="548640" y="2468880"/>
            <a:ext cx="8412480" cy="484632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54864" rIns="365760" bIns="54864" rtlCol="0" anchor="t">
            <a:noAutofit/>
          </a:bodyPr>
          <a:lstStyle/>
          <a:p>
            <a:pPr algn="l">
              <a:spcAft>
                <a:spcPts val="1000"/>
              </a:spcAft>
            </a:pPr>
            <a:r>
              <a:rPr sz="3500" b="1" i="0">
                <a:solidFill>
                  <a:srgbClr val="B45309"/>
                </a:solidFill>
                <a:latin typeface="Calibri"/>
              </a:rPr>
              <a:t>Energy sharing</a:t>
            </a:r>
          </a:p>
          <a:p>
            <a:pPr marL="274320" indent="-228600" algn="l">
              <a:spcAft>
                <a:spcPts val="800"/>
              </a:spcAft>
              <a:buChar char="•"/>
            </a:pPr>
            <a:r>
              <a:rPr sz="2500" b="0" i="0">
                <a:solidFill>
                  <a:srgbClr val="1F2933"/>
                </a:solidFill>
                <a:latin typeface="Calibri"/>
              </a:rPr>
              <a:t>Solar surplus stays in the neighbourhood instead of being wasted</a:t>
            </a:r>
          </a:p>
          <a:p>
            <a:pPr marL="274320" indent="-228600" algn="l">
              <a:spcAft>
                <a:spcPts val="800"/>
              </a:spcAft>
              <a:buChar char="•"/>
            </a:pPr>
            <a:r>
              <a:rPr sz="2500" b="0" i="0">
                <a:solidFill>
                  <a:srgbClr val="1F2933"/>
                </a:solidFill>
                <a:latin typeface="Calibri"/>
              </a:rPr>
              <a:t>Sellers earn credit; buyers pay less than peak grid power</a:t>
            </a:r>
          </a:p>
          <a:p>
            <a:pPr marL="274320" indent="-228600" algn="l">
              <a:spcAft>
                <a:spcPts val="800"/>
              </a:spcAft>
              <a:buChar char="•"/>
            </a:pPr>
            <a:r>
              <a:rPr sz="2500" b="0" i="0">
                <a:solidFill>
                  <a:srgbClr val="1F2933"/>
                </a:solidFill>
                <a:latin typeface="Calibri"/>
              </a:rPr>
              <a:t>Less grid import at peak hours</a:t>
            </a:r>
          </a:p>
          <a:p>
            <a:pPr marL="274320" indent="-228600" algn="l">
              <a:spcAft>
                <a:spcPts val="400"/>
              </a:spcAft>
              <a:buChar char="•"/>
            </a:pPr>
            <a:r>
              <a:rPr sz="2500" b="0" i="0">
                <a:solidFill>
                  <a:srgbClr val="1F2933"/>
                </a:solidFill>
                <a:latin typeface="Calibri"/>
              </a:rPr>
              <a:t>Homes without panels still benefit from solar</a:t>
            </a:r>
          </a:p>
        </p:txBody>
      </p:sp>
      <p:sp>
        <p:nvSpPr>
          <p:cNvPr id="12" name="Rounded Rectangle 11"/>
          <p:cNvSpPr/>
          <p:nvPr/>
        </p:nvSpPr>
        <p:spPr>
          <a:xfrm>
            <a:off x="9326880" y="2468880"/>
            <a:ext cx="4114800" cy="228600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t">
            <a:noAutofit/>
          </a:bodyPr>
          <a:lstStyle/>
          <a:p>
            <a:pPr algn="l">
              <a:spcAft>
                <a:spcPts val="600"/>
              </a:spcAft>
            </a:pPr>
            <a:r>
              <a:rPr sz="2600" b="1" i="0">
                <a:solidFill>
                  <a:srgbClr val="1F2933"/>
                </a:solidFill>
                <a:latin typeface="Calibri"/>
              </a:rPr>
              <a:t>Fair prepaid ledger</a:t>
            </a:r>
          </a:p>
          <a:p>
            <a:pPr algn="l">
              <a:spcAft>
                <a:spcPts val="400"/>
              </a:spcAft>
            </a:pPr>
            <a:r>
              <a:rPr sz="2100" b="0" i="0">
                <a:solidFill>
                  <a:srgbClr val="4B5563"/>
                </a:solidFill>
                <a:latin typeface="Calibri"/>
              </a:rPr>
              <a:t>Every unit bought and sold is recorded per house.</a:t>
            </a:r>
          </a:p>
        </p:txBody>
      </p:sp>
      <p:sp>
        <p:nvSpPr>
          <p:cNvPr id="13" name="Rounded Rectangle 12"/>
          <p:cNvSpPr/>
          <p:nvPr/>
        </p:nvSpPr>
        <p:spPr>
          <a:xfrm>
            <a:off x="13578840" y="2468880"/>
            <a:ext cx="4114800" cy="22860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t">
            <a:noAutofit/>
          </a:bodyPr>
          <a:lstStyle/>
          <a:p>
            <a:pPr algn="l">
              <a:spcAft>
                <a:spcPts val="600"/>
              </a:spcAft>
            </a:pPr>
            <a:r>
              <a:rPr sz="2600" b="1" i="0">
                <a:solidFill>
                  <a:srgbClr val="1F2933"/>
                </a:solidFill>
                <a:latin typeface="Calibri"/>
              </a:rPr>
              <a:t>Resilience</a:t>
            </a:r>
          </a:p>
          <a:p>
            <a:pPr algn="l">
              <a:spcAft>
                <a:spcPts val="400"/>
              </a:spcAft>
            </a:pPr>
            <a:r>
              <a:rPr sz="2100" b="0" i="0">
                <a:solidFill>
                  <a:srgbClr val="4B5563"/>
                </a:solidFill>
                <a:latin typeface="Calibri"/>
              </a:rPr>
              <a:t>Critical loads stay on in outages and at zero credit.</a:t>
            </a:r>
          </a:p>
        </p:txBody>
      </p:sp>
      <p:sp>
        <p:nvSpPr>
          <p:cNvPr id="14" name="Rounded Rectangle 13"/>
          <p:cNvSpPr/>
          <p:nvPr/>
        </p:nvSpPr>
        <p:spPr>
          <a:xfrm>
            <a:off x="9326880" y="4937760"/>
            <a:ext cx="4114800" cy="2286000"/>
          </a:xfrm>
          <a:prstGeom prst="roundRect">
            <a:avLst>
              <a:gd name="adj" fmla="val 8000"/>
            </a:avLst>
          </a:prstGeom>
          <a:solidFill>
            <a:srgbClr val="F7ECEE"/>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t">
            <a:noAutofit/>
          </a:bodyPr>
          <a:lstStyle/>
          <a:p>
            <a:pPr algn="l">
              <a:spcAft>
                <a:spcPts val="600"/>
              </a:spcAft>
            </a:pPr>
            <a:r>
              <a:rPr sz="2600" b="1" i="0">
                <a:solidFill>
                  <a:srgbClr val="1F2933"/>
                </a:solidFill>
                <a:latin typeface="Calibri"/>
              </a:rPr>
              <a:t>Safe islanding</a:t>
            </a:r>
          </a:p>
          <a:p>
            <a:pPr algn="l">
              <a:spcAft>
                <a:spcPts val="400"/>
              </a:spcAft>
            </a:pPr>
            <a:r>
              <a:rPr sz="2100" b="0" i="0">
                <a:solidFill>
                  <a:srgbClr val="4B5563"/>
                </a:solidFill>
                <a:latin typeface="Calibri"/>
              </a:rPr>
              <a:t>No back-feed to a dead grid line.</a:t>
            </a:r>
          </a:p>
        </p:txBody>
      </p:sp>
      <p:sp>
        <p:nvSpPr>
          <p:cNvPr id="15" name="Rounded Rectangle 14"/>
          <p:cNvSpPr/>
          <p:nvPr/>
        </p:nvSpPr>
        <p:spPr>
          <a:xfrm>
            <a:off x="13578840" y="4937760"/>
            <a:ext cx="4114800" cy="228600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t">
            <a:noAutofit/>
          </a:bodyPr>
          <a:lstStyle/>
          <a:p>
            <a:pPr algn="l">
              <a:spcAft>
                <a:spcPts val="600"/>
              </a:spcAft>
            </a:pPr>
            <a:r>
              <a:rPr sz="2600" b="1" i="0">
                <a:solidFill>
                  <a:srgbClr val="1F2933"/>
                </a:solidFill>
                <a:latin typeface="Calibri"/>
              </a:rPr>
              <a:t>AI-optimised</a:t>
            </a:r>
          </a:p>
          <a:p>
            <a:pPr algn="l">
              <a:spcAft>
                <a:spcPts val="400"/>
              </a:spcAft>
            </a:pPr>
            <a:r>
              <a:rPr sz="2100" b="0" i="0">
                <a:solidFill>
                  <a:srgbClr val="4B5563"/>
                </a:solidFill>
                <a:latin typeface="Calibri"/>
              </a:rPr>
              <a:t>Forecasts plan battery and sharing ahead; fewer needless load sheds.</a:t>
            </a:r>
          </a:p>
        </p:txBody>
      </p:sp>
      <p:sp>
        <p:nvSpPr>
          <p:cNvPr id="16" name="Rounded Rectangle 15"/>
          <p:cNvSpPr/>
          <p:nvPr/>
        </p:nvSpPr>
        <p:spPr>
          <a:xfrm>
            <a:off x="548640" y="7635240"/>
            <a:ext cx="17190720" cy="2057400"/>
          </a:xfrm>
          <a:prstGeom prst="roundRect">
            <a:avLst>
              <a:gd name="adj" fmla="val 8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54864" rIns="365760" bIns="54864" rtlCol="0" anchor="ctr">
            <a:noAutofit/>
          </a:bodyPr>
          <a:lstStyle/>
          <a:p>
            <a:pPr algn="l">
              <a:spcAft>
                <a:spcPts val="600"/>
              </a:spcAft>
            </a:pPr>
            <a:r>
              <a:rPr sz="2600" b="1" i="0">
                <a:solidFill>
                  <a:srgbClr val="FEF3C7"/>
                </a:solidFill>
                <a:latin typeface="Calibri"/>
              </a:rPr>
              <a:t>Expected outcome</a:t>
            </a:r>
          </a:p>
          <a:p>
            <a:pPr algn="l">
              <a:spcAft>
                <a:spcPts val="400"/>
              </a:spcAft>
            </a:pPr>
            <a:r>
              <a:rPr sz="2300" b="0" i="0">
                <a:solidFill>
                  <a:srgbClr val="FFFFFF"/>
                </a:solidFill>
                <a:latin typeface="Calibri"/>
              </a:rPr>
              <a:t>A simulated community microgrid run by a real ESP32 controller with an AI/ML advisor: it shares solar between neighbours through a prepaid ledger, plans the battery from forecasts, islands safely when the grid fails, and keeps critical loads 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wrap="square" lIns="0" tIns="0" rIns="0" bIns="0" rtlCol="0" anchor="t">
            <a:spAutoFit/>
          </a:bodyPr>
          <a:lstStyle/>
          <a:p>
            <a:pPr algn="l">
              <a:lnSpc>
                <a:spcPts val="7279"/>
              </a:lnSpc>
            </a:pPr>
            <a:r>
              <a:rPr lang="en-US" sz="4400" b="1">
                <a:solidFill>
                  <a:srgbClr val="000000"/>
                </a:solidFill>
                <a:latin typeface="Canva Sans Bold"/>
                <a:ea typeface="Canva Sans Bold"/>
                <a:cs typeface="Canva Sans Bold"/>
                <a:sym typeface="Canva Sans Bold"/>
              </a:rPr>
              <a:t>Link of sources and Reference:</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2"/>
                <a:stretch>
                  <a:fillRect l="-43229" r="-67848" b="-8030"/>
                </a:stretch>
              </a:blipFill>
            </p:spPr>
            <p:txBody>
              <a:bodyPr/>
              <a:lstStyle/>
              <a:p>
                <a:endParaRPr lang="en-US"/>
              </a:p>
            </p:txBody>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3"/>
                <a:stretch>
                  <a:fillRect l="-63953" r="-63953" b="-1"/>
                </a:stretch>
              </a:blipFill>
            </p:spPr>
            <p:txBody>
              <a:bodyPr/>
              <a:lstStyle/>
              <a:p>
                <a:endParaRPr lang="en-US"/>
              </a:p>
            </p:txBody>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4"/>
                <a:stretch>
                  <a:fillRect l="-1264" r="-1261" b="3"/>
                </a:stretch>
              </a:blipFill>
            </p:spPr>
            <p:txBody>
              <a:bodyPr/>
              <a:lstStyle/>
              <a:p>
                <a:endParaRPr lang="en-US"/>
              </a:p>
            </p:txBody>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TextBox 10"/>
          <p:cNvSpPr txBox="1"/>
          <p:nvPr/>
        </p:nvSpPr>
        <p:spPr>
          <a:xfrm>
            <a:off x="548640" y="2514600"/>
            <a:ext cx="17190720" cy="7223760"/>
          </a:xfrm>
          <a:prstGeom prst="rect">
            <a:avLst/>
          </a:prstGeom>
          <a:noFill/>
        </p:spPr>
        <p:txBody>
          <a:bodyPr wrap="square" lIns="0" tIns="0" rIns="0" bIns="0" anchor="t">
            <a:noAutofit/>
          </a:bodyPr>
          <a:lstStyle/>
          <a:p>
            <a:pPr>
              <a:spcAft>
                <a:spcPts val="1400"/>
              </a:spcAft>
            </a:pPr>
            <a:r>
              <a:rPr sz="2300" b="1" i="0" dirty="0">
                <a:solidFill>
                  <a:srgbClr val="7A1F2B"/>
                </a:solidFill>
                <a:latin typeface="+mj-lt"/>
              </a:rPr>
              <a:t>[1] </a:t>
            </a:r>
            <a:r>
              <a:rPr lang="en-US" sz="2300" dirty="0">
                <a:latin typeface="+mj-lt"/>
              </a:rPr>
              <a:t>A. S. Aralkar et al., "</a:t>
            </a:r>
            <a:r>
              <a:rPr lang="en-US" sz="2300" dirty="0" err="1">
                <a:latin typeface="+mj-lt"/>
              </a:rPr>
              <a:t>Goodwatts</a:t>
            </a:r>
            <a:r>
              <a:rPr lang="en-US" sz="2300" dirty="0">
                <a:latin typeface="+mj-lt"/>
              </a:rPr>
              <a:t>-Intelligent Power Monitoring &amp; Fault Protection System for Residential Buildings," in </a:t>
            </a:r>
            <a:r>
              <a:rPr lang="en-US" sz="2300" i="1" dirty="0">
                <a:latin typeface="+mj-lt"/>
              </a:rPr>
              <a:t>Advances in Power       Systems and Applications</a:t>
            </a:r>
            <a:r>
              <a:rPr lang="en-US" sz="2300" dirty="0">
                <a:latin typeface="+mj-lt"/>
              </a:rPr>
              <a:t>, vol. 6, IIP, 2026, pp. 39-54. DOI: 10.58532/nbennurAPSAV6B1P1C3</a:t>
            </a:r>
            <a:r>
              <a:rPr lang="en-US" sz="2300" b="1" dirty="0">
                <a:solidFill>
                  <a:srgbClr val="7A1F2B"/>
                </a:solidFill>
                <a:latin typeface="+mj-lt"/>
              </a:rPr>
              <a:t> </a:t>
            </a:r>
            <a:endParaRPr lang="en-US" sz="2300" dirty="0">
              <a:solidFill>
                <a:srgbClr val="1F2933"/>
              </a:solidFill>
              <a:latin typeface="+mj-lt"/>
            </a:endParaRPr>
          </a:p>
          <a:p>
            <a:pPr algn="l">
              <a:spcAft>
                <a:spcPts val="1400"/>
              </a:spcAft>
            </a:pPr>
            <a:r>
              <a:rPr sz="2300" b="1" i="0" dirty="0">
                <a:solidFill>
                  <a:srgbClr val="7A1F2B"/>
                </a:solidFill>
                <a:latin typeface="+mj-lt"/>
              </a:rPr>
              <a:t>[2]  </a:t>
            </a:r>
            <a:r>
              <a:rPr sz="2300" b="0" i="0" dirty="0">
                <a:solidFill>
                  <a:srgbClr val="1F2933"/>
                </a:solidFill>
                <a:latin typeface="+mj-lt"/>
              </a:rPr>
              <a:t>PIB, Ministry of Power (2023): Electricity (Rights of Consumers) Amendment Rules, Time-of-Day tariff. pib.gov.in/</a:t>
            </a:r>
            <a:r>
              <a:rPr sz="2300" b="0" i="0" dirty="0" err="1">
                <a:solidFill>
                  <a:srgbClr val="1F2933"/>
                </a:solidFill>
                <a:latin typeface="+mj-lt"/>
              </a:rPr>
              <a:t>PressReleasePage.aspx?PRID</a:t>
            </a:r>
            <a:r>
              <a:rPr sz="2300" b="0" i="0" dirty="0">
                <a:solidFill>
                  <a:srgbClr val="1F2933"/>
                </a:solidFill>
                <a:latin typeface="+mj-lt"/>
              </a:rPr>
              <a:t>=1934673</a:t>
            </a:r>
          </a:p>
          <a:p>
            <a:pPr algn="l">
              <a:spcAft>
                <a:spcPts val="1400"/>
              </a:spcAft>
            </a:pPr>
            <a:r>
              <a:rPr sz="2300" b="1" i="0" dirty="0">
                <a:solidFill>
                  <a:srgbClr val="7A1F2B"/>
                </a:solidFill>
                <a:latin typeface="+mj-lt"/>
              </a:rPr>
              <a:t>[3]  </a:t>
            </a:r>
            <a:r>
              <a:rPr sz="2300" b="0" i="0" dirty="0">
                <a:solidFill>
                  <a:srgbClr val="1F2933"/>
                </a:solidFill>
                <a:latin typeface="+mj-lt"/>
              </a:rPr>
              <a:t>PIB: Nationwide push for smart prepaid meters. pib.gov.in/</a:t>
            </a:r>
            <a:r>
              <a:rPr sz="2300" b="0" i="0" dirty="0" err="1">
                <a:solidFill>
                  <a:srgbClr val="1F2933"/>
                </a:solidFill>
                <a:latin typeface="+mj-lt"/>
              </a:rPr>
              <a:t>PressReleaseIframePage.aspx?PRID</a:t>
            </a:r>
            <a:r>
              <a:rPr sz="2300" b="0" i="0" dirty="0">
                <a:solidFill>
                  <a:srgbClr val="1F2933"/>
                </a:solidFill>
                <a:latin typeface="+mj-lt"/>
              </a:rPr>
              <a:t>=2202459</a:t>
            </a:r>
          </a:p>
          <a:p>
            <a:pPr algn="l">
              <a:spcAft>
                <a:spcPts val="1400"/>
              </a:spcAft>
            </a:pPr>
            <a:r>
              <a:rPr sz="2300" b="1" i="0" dirty="0">
                <a:solidFill>
                  <a:srgbClr val="7A1F2B"/>
                </a:solidFill>
                <a:latin typeface="+mj-lt"/>
              </a:rPr>
              <a:t>[4]  </a:t>
            </a:r>
            <a:r>
              <a:rPr sz="2300" b="0" i="0" dirty="0">
                <a:solidFill>
                  <a:srgbClr val="1F2933"/>
                </a:solidFill>
                <a:latin typeface="+mj-lt"/>
              </a:rPr>
              <a:t>IEEE 1547-2018: Interconnection of distributed energy resources with electric power systems (islanding)</a:t>
            </a:r>
          </a:p>
          <a:p>
            <a:pPr algn="l">
              <a:spcAft>
                <a:spcPts val="1400"/>
              </a:spcAft>
            </a:pPr>
            <a:r>
              <a:rPr sz="2300" b="1" i="0" dirty="0">
                <a:solidFill>
                  <a:srgbClr val="7A1F2B"/>
                </a:solidFill>
                <a:latin typeface="+mj-lt"/>
              </a:rPr>
              <a:t>[5]  </a:t>
            </a:r>
            <a:r>
              <a:rPr sz="2300" b="0" i="0" dirty="0" err="1">
                <a:solidFill>
                  <a:srgbClr val="1F2933"/>
                </a:solidFill>
                <a:latin typeface="+mj-lt"/>
              </a:rPr>
              <a:t>Espressif</a:t>
            </a:r>
            <a:r>
              <a:rPr sz="2300" b="0" i="0" dirty="0">
                <a:solidFill>
                  <a:srgbClr val="1F2933"/>
                </a:solidFill>
                <a:latin typeface="+mj-lt"/>
              </a:rPr>
              <a:t> ESP32 datasheet. espressif.com</a:t>
            </a:r>
          </a:p>
          <a:p>
            <a:pPr algn="l">
              <a:spcAft>
                <a:spcPts val="1400"/>
              </a:spcAft>
            </a:pPr>
            <a:r>
              <a:rPr sz="2300" b="1" i="0" dirty="0">
                <a:solidFill>
                  <a:srgbClr val="7A1F2B"/>
                </a:solidFill>
                <a:latin typeface="+mj-lt"/>
              </a:rPr>
              <a:t>[6]  </a:t>
            </a:r>
            <a:r>
              <a:rPr sz="2300" b="0" i="0" dirty="0">
                <a:solidFill>
                  <a:srgbClr val="1F2933"/>
                </a:solidFill>
                <a:latin typeface="+mj-lt"/>
              </a:rPr>
              <a:t>MathWorks </a:t>
            </a:r>
            <a:r>
              <a:rPr sz="2300" b="0" i="0" dirty="0" err="1">
                <a:solidFill>
                  <a:srgbClr val="1F2933"/>
                </a:solidFill>
                <a:latin typeface="+mj-lt"/>
              </a:rPr>
              <a:t>Simscape</a:t>
            </a:r>
            <a:r>
              <a:rPr sz="2300" b="0" i="0" dirty="0">
                <a:solidFill>
                  <a:srgbClr val="1F2933"/>
                </a:solidFill>
                <a:latin typeface="+mj-lt"/>
              </a:rPr>
              <a:t> Electrical. mathworks.com/products/simscape-electrical.html</a:t>
            </a:r>
            <a:r>
              <a:rPr lang="en-IN" sz="2300" b="0" i="0" dirty="0">
                <a:solidFill>
                  <a:srgbClr val="1F2933"/>
                </a:solidFill>
                <a:latin typeface="+mj-lt"/>
              </a:rPr>
              <a:t>]</a:t>
            </a:r>
          </a:p>
          <a:p>
            <a:pPr algn="l">
              <a:spcAft>
                <a:spcPts val="1400"/>
              </a:spcAft>
            </a:pPr>
            <a:endParaRPr sz="2300" b="0" i="0" dirty="0">
              <a:solidFill>
                <a:srgbClr val="1F2933"/>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1516</Words>
  <Application>Microsoft Office PowerPoint</Application>
  <PresentationFormat>Custom</PresentationFormat>
  <Paragraphs>152</Paragraphs>
  <Slides>8</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Canva Sans Bold</vt:lpstr>
      <vt:lpstr>Arial</vt:lpstr>
      <vt:lpstr>The Seasons Bold</vt:lpstr>
      <vt:lpstr>Times New Roman</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Statement ID - 26179 • Problem Statement Title On-device Al for re_20261002_093029_0000.pptx</dc:title>
  <cp:lastModifiedBy>Amogh Aralkar</cp:lastModifiedBy>
  <cp:revision>8</cp:revision>
  <dcterms:created xsi:type="dcterms:W3CDTF">2006-08-16T00:00:00Z</dcterms:created>
  <dcterms:modified xsi:type="dcterms:W3CDTF">2026-10-07T08:18:56Z</dcterms:modified>
  <dc:identifier>DAHW05TWix4</dc:identifier>
</cp:coreProperties>
</file>